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56" r:id="rId3"/>
    <p:sldId id="261" r:id="rId4"/>
    <p:sldId id="263" r:id="rId5"/>
    <p:sldId id="264" r:id="rId6"/>
    <p:sldId id="266" r:id="rId7"/>
    <p:sldId id="265" r:id="rId8"/>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98"/>
    <p:restoredTop sz="94669"/>
  </p:normalViewPr>
  <p:slideViewPr>
    <p:cSldViewPr snapToGrid="0">
      <p:cViewPr varScale="1">
        <p:scale>
          <a:sx n="95" d="100"/>
          <a:sy n="95" d="100"/>
        </p:scale>
        <p:origin x="184" y="10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7649-6C65-F043-24C7-8ECB2551E5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BC9CD2AC-D80B-DD29-A429-6EB6E61A05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677F19C1-190C-CBC0-8C70-7091E5151960}"/>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952E7115-F0B3-27EC-D756-5837753FFCE6}"/>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573D0198-C318-8009-2F75-214ABA5A1C77}"/>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63342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B6ED-CF3F-3453-D750-153B0C610F83}"/>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ADD8E198-4257-A977-3F86-4F4D3F3BE3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1274B62B-C7AA-5B1A-24BF-7DD29D7215B7}"/>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73594E5C-AC8E-95FC-7ADC-4E5F1E7DD6D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9CB69C5-151F-1DDF-58E7-2A02F36EE5EB}"/>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546063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237A-313B-BBAD-3C24-8E6466567D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5130FAB9-7E58-390A-B1B3-7B8C9ECB3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0A030-692C-B1C8-39D0-4CF3725B01BC}"/>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EF92BFAE-EC8B-70DC-63DE-168D284A04AF}"/>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702A5068-FC4A-94BA-C744-9FA03EDE090C}"/>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273981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958FF-B5AE-7E22-3345-60E656605578}"/>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2C25BCD8-72E6-AD9B-E45F-A856BA24F7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EBD8D063-89CE-2A0D-1358-BEF2944BBE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43E7165E-F380-6B41-3B5A-7D24271611C4}"/>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6" name="Footer Placeholder 5">
            <a:extLst>
              <a:ext uri="{FF2B5EF4-FFF2-40B4-BE49-F238E27FC236}">
                <a16:creationId xmlns:a16="http://schemas.microsoft.com/office/drawing/2014/main" id="{9DC5A681-8131-87C4-4589-098DB4B6E34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AA096CDB-3D5B-AF89-64AF-B6BD4EADDC10}"/>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4165937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7B58E-697D-5A2E-FC88-69A9D75E97D8}"/>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67E65033-D64E-C6C9-E76F-A7A69B322E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F24538-9B82-52A9-AA4A-3B8C30BF0A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78BB224F-3DFA-DBD6-40A4-615149550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53116D-8414-7D87-C125-F56421F418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EAFAD511-3109-EC12-AB70-2C78F227C2DA}"/>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8" name="Footer Placeholder 7">
            <a:extLst>
              <a:ext uri="{FF2B5EF4-FFF2-40B4-BE49-F238E27FC236}">
                <a16:creationId xmlns:a16="http://schemas.microsoft.com/office/drawing/2014/main" id="{CBDE92D2-E64C-C1B2-5966-60FCE247B931}"/>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D0E8D9BB-9964-CB55-FC30-A3FFE79CA6A5}"/>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7656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E4AB-F2FA-588C-EE32-202D19CB29AF}"/>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9E5B0D89-C666-C282-F6B2-6C5B8061F633}"/>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4" name="Footer Placeholder 3">
            <a:extLst>
              <a:ext uri="{FF2B5EF4-FFF2-40B4-BE49-F238E27FC236}">
                <a16:creationId xmlns:a16="http://schemas.microsoft.com/office/drawing/2014/main" id="{7D77FDD6-A5BE-7E6A-71D1-56AE0512D31D}"/>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4540A516-E162-2211-D6E2-942F04A970A8}"/>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287747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4BA0D8-6FCF-5AFA-7EB6-CAF0D19B2E60}"/>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3" name="Footer Placeholder 2">
            <a:extLst>
              <a:ext uri="{FF2B5EF4-FFF2-40B4-BE49-F238E27FC236}">
                <a16:creationId xmlns:a16="http://schemas.microsoft.com/office/drawing/2014/main" id="{4EDD2B7D-6003-4138-2401-5CB7341B9FA7}"/>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E4937430-4790-BF69-58E4-A77892664C9F}"/>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97901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42405-446D-65FE-44A4-F5997ECA74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62BE2C5A-ECC3-04DA-ACB2-34B0E911E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E537815B-C9FC-ECAC-5353-19529DA60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AB792C-CD81-B03F-4D6C-E5BDC36A4698}"/>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6" name="Footer Placeholder 5">
            <a:extLst>
              <a:ext uri="{FF2B5EF4-FFF2-40B4-BE49-F238E27FC236}">
                <a16:creationId xmlns:a16="http://schemas.microsoft.com/office/drawing/2014/main" id="{F9760747-6FCF-4896-BA4B-02298FF33FEE}"/>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15974392-8A17-4766-3531-15B7CD1542E9}"/>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1333712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9325-EF45-DDF2-E465-8EF820725E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7CB70746-10D0-B676-2D68-53AD158AA2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5088CCFE-4DED-9B88-1A18-1BF736C1F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895FD-3254-0D49-2C97-795C17FE333C}"/>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6" name="Footer Placeholder 5">
            <a:extLst>
              <a:ext uri="{FF2B5EF4-FFF2-40B4-BE49-F238E27FC236}">
                <a16:creationId xmlns:a16="http://schemas.microsoft.com/office/drawing/2014/main" id="{C9CAB58E-7F1F-96D9-4335-4268CEE3C5E0}"/>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30EFEA80-7557-F4F8-3AAB-A3F95E894418}"/>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1911366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FE56-7B57-C564-3087-F7D193087431}"/>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96546BA0-2363-17AE-61AE-6360ADBFE9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4CF6EC73-21B8-2865-BDAF-F18A375F5C6B}"/>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D355D594-FAA5-ECF8-A23C-11D091B30804}"/>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51B6C9F7-049E-0BBE-CCB4-2D9B16BA41FB}"/>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154080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64DC22-3E0C-A4C2-69B3-814587836C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B670482B-8AF3-ACED-D36C-4FDC94545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DB9DC12E-DF67-0D99-927D-3AA3FC7E9EBD}"/>
              </a:ext>
            </a:extLst>
          </p:cNvPr>
          <p:cNvSpPr>
            <a:spLocks noGrp="1"/>
          </p:cNvSpPr>
          <p:nvPr>
            <p:ph type="dt" sz="half" idx="10"/>
          </p:nvPr>
        </p:nvSpPr>
        <p:spPr/>
        <p:txBody>
          <a:body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92ED610A-A7FF-32DD-194A-C68F4FFD416E}"/>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2919193E-AC4E-0D1A-94C3-A18DFBF46D2A}"/>
              </a:ext>
            </a:extLst>
          </p:cNvPr>
          <p:cNvSpPr>
            <a:spLocks noGrp="1"/>
          </p:cNvSpPr>
          <p:nvPr>
            <p:ph type="sldNum" sz="quarter" idx="12"/>
          </p:nvPr>
        </p:nvSpPr>
        <p:spPr/>
        <p:txBody>
          <a:bodyPr/>
          <a:lstStyle/>
          <a:p>
            <a:fld id="{24E4B6A2-ACAD-0949-BEF2-4191E1BADECD}" type="slidenum">
              <a:rPr lang="en-MX" smtClean="0"/>
              <a:t>‹#›</a:t>
            </a:fld>
            <a:endParaRPr lang="en-MX"/>
          </a:p>
        </p:txBody>
      </p:sp>
    </p:spTree>
    <p:extLst>
      <p:ext uri="{BB962C8B-B14F-4D97-AF65-F5344CB8AC3E}">
        <p14:creationId xmlns:p14="http://schemas.microsoft.com/office/powerpoint/2010/main" val="94090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EDE33D-85D6-A730-10CD-B6B4A5F568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81F21CD4-10C8-92C2-1120-7148A22D94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5C708B47-C8F4-6549-01D3-DFDDD1F767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6370C8-A722-0D49-8E68-43BFD709241E}" type="datetimeFigureOut">
              <a:rPr lang="en-MX" smtClean="0"/>
              <a:t>25/03/26</a:t>
            </a:fld>
            <a:endParaRPr lang="en-MX"/>
          </a:p>
        </p:txBody>
      </p:sp>
      <p:sp>
        <p:nvSpPr>
          <p:cNvPr id="5" name="Footer Placeholder 4">
            <a:extLst>
              <a:ext uri="{FF2B5EF4-FFF2-40B4-BE49-F238E27FC236}">
                <a16:creationId xmlns:a16="http://schemas.microsoft.com/office/drawing/2014/main" id="{A9517EBE-C0A8-BB7E-830D-EB49D4FB25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77D769C0-7E9F-88BE-8927-320691B4F8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E4B6A2-ACAD-0949-BEF2-4191E1BADECD}" type="slidenum">
              <a:rPr lang="en-MX" smtClean="0"/>
              <a:t>‹#›</a:t>
            </a:fld>
            <a:endParaRPr lang="en-MX"/>
          </a:p>
        </p:txBody>
      </p:sp>
    </p:spTree>
    <p:extLst>
      <p:ext uri="{BB962C8B-B14F-4D97-AF65-F5344CB8AC3E}">
        <p14:creationId xmlns:p14="http://schemas.microsoft.com/office/powerpoint/2010/main" val="2112451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EDCD3-91D8-5025-78A4-BE0750C9E93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3C8FDD03-5C5E-C9EA-2769-C859080C8AB7}"/>
              </a:ext>
            </a:extLst>
          </p:cNvPr>
          <p:cNvSpPr/>
          <p:nvPr/>
        </p:nvSpPr>
        <p:spPr>
          <a:xfrm>
            <a:off x="0" y="0"/>
            <a:ext cx="12192000" cy="1068946"/>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FFDE23A0-5A43-4EAE-A84B-28262AB12F6E}"/>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B82F2682-9CA7-4A9B-C16D-77D88E695D7B}"/>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Listado de documentos solicitados</a:t>
            </a:r>
            <a:endParaRPr lang="en-US" sz="3200" b="1" dirty="0">
              <a:solidFill>
                <a:schemeClr val="bg1"/>
              </a:solidFill>
            </a:endParaRPr>
          </a:p>
        </p:txBody>
      </p:sp>
      <p:sp>
        <p:nvSpPr>
          <p:cNvPr id="2" name="TextBox 1">
            <a:extLst>
              <a:ext uri="{FF2B5EF4-FFF2-40B4-BE49-F238E27FC236}">
                <a16:creationId xmlns:a16="http://schemas.microsoft.com/office/drawing/2014/main" id="{8AB324A6-4CE9-6256-DECA-3DC64A818317}"/>
              </a:ext>
            </a:extLst>
          </p:cNvPr>
          <p:cNvSpPr txBox="1"/>
          <p:nvPr/>
        </p:nvSpPr>
        <p:spPr>
          <a:xfrm>
            <a:off x="289559" y="1220775"/>
            <a:ext cx="11411904" cy="5262979"/>
          </a:xfrm>
          <a:prstGeom prst="rect">
            <a:avLst/>
          </a:prstGeom>
          <a:noFill/>
        </p:spPr>
        <p:txBody>
          <a:bodyPr wrap="square">
            <a:spAutoFit/>
          </a:bodyPr>
          <a:lstStyle/>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Contratos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vigentes</a:t>
            </a:r>
            <a:r>
              <a:rPr lang="en-US" sz="1400" dirty="0">
                <a:latin typeface="Calibri" panose="020F0502020204030204" pitchFamily="34" charset="0"/>
                <a:cs typeface="Calibri" panose="020F0502020204030204" pitchFamily="34" charset="0"/>
              </a:rPr>
              <a:t> de:</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342900" indent="-342900">
              <a:buFont typeface="+mj-lt"/>
              <a:buAutoNum type="arabicPeriod"/>
            </a:pPr>
            <a:r>
              <a:rPr lang="en-US" sz="1400" dirty="0">
                <a:latin typeface="Calibri" panose="020F0502020204030204" pitchFamily="34" charset="0"/>
                <a:cs typeface="Calibri" panose="020F0502020204030204" pitchFamily="34" charset="0"/>
              </a:rPr>
              <a:t>Primer </a:t>
            </a:r>
            <a:r>
              <a:rPr lang="en-US" sz="1400" dirty="0" err="1">
                <a:latin typeface="Calibri" panose="020F0502020204030204" pitchFamily="34" charset="0"/>
                <a:cs typeface="Calibri" panose="020F0502020204030204" pitchFamily="34" charset="0"/>
              </a:rPr>
              <a:t>equipo</a:t>
            </a:r>
            <a:r>
              <a:rPr lang="en-US" sz="1400" dirty="0">
                <a:latin typeface="Calibri" panose="020F0502020204030204" pitchFamily="34" charset="0"/>
                <a:cs typeface="Calibri" panose="020F0502020204030204" pitchFamily="34" charset="0"/>
              </a:rPr>
              <a:t> y CT **</a:t>
            </a:r>
          </a:p>
          <a:p>
            <a:pPr marL="342900" indent="-342900">
              <a:buFont typeface="+mj-lt"/>
              <a:buAutoNum type="arabicPeriod"/>
            </a:pPr>
            <a:r>
              <a:rPr lang="en-US" sz="1400" dirty="0">
                <a:latin typeface="Calibri" panose="020F0502020204030204" pitchFamily="34" charset="0"/>
                <a:cs typeface="Calibri" panose="020F0502020204030204" pitchFamily="34" charset="0"/>
              </a:rPr>
              <a:t>Femenil y CT</a:t>
            </a:r>
          </a:p>
          <a:p>
            <a:pPr marL="342900" indent="-342900">
              <a:buFont typeface="+mj-lt"/>
              <a:buAutoNum type="arabicPeriod"/>
            </a:pPr>
            <a:r>
              <a:rPr lang="en-US" sz="1400" dirty="0" err="1">
                <a:latin typeface="Calibri" panose="020F0502020204030204" pitchFamily="34" charset="0"/>
                <a:cs typeface="Calibri" panose="020F0502020204030204" pitchFamily="34" charset="0"/>
              </a:rPr>
              <a:t>Fuerzas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Básicas</a:t>
            </a:r>
            <a:r>
              <a:rPr lang="en-US" sz="1400" dirty="0">
                <a:latin typeface="Calibri" panose="020F0502020204030204" pitchFamily="34" charset="0"/>
                <a:cs typeface="Calibri" panose="020F0502020204030204" pitchFamily="34" charset="0"/>
              </a:rPr>
              <a:t> y CT</a:t>
            </a:r>
          </a:p>
          <a:p>
            <a:endParaRPr lang="en-US" sz="1400" i="1" dirty="0">
              <a:latin typeface="Calibri" panose="020F0502020204030204" pitchFamily="34" charset="0"/>
              <a:cs typeface="Calibri" panose="020F0502020204030204" pitchFamily="34" charset="0"/>
            </a:endParaRPr>
          </a:p>
          <a:p>
            <a:r>
              <a:rPr lang="en-US" sz="1400" i="1" dirty="0">
                <a:latin typeface="Calibri" panose="020F0502020204030204" pitchFamily="34" charset="0"/>
                <a:cs typeface="Calibri" panose="020F0502020204030204" pitchFamily="34" charset="0"/>
              </a:rPr>
              <a:t>**</a:t>
            </a:r>
            <a:r>
              <a:rPr lang="en-US" sz="1400" i="1" dirty="0" err="1">
                <a:latin typeface="Calibri" panose="020F0502020204030204" pitchFamily="34" charset="0"/>
                <a:cs typeface="Calibri" panose="020F0502020204030204" pitchFamily="34" charset="0"/>
              </a:rPr>
              <a:t>Incluir</a:t>
            </a:r>
            <a:r>
              <a:rPr lang="en-US" sz="1400" i="1" dirty="0">
                <a:latin typeface="Calibri" panose="020F0502020204030204" pitchFamily="34" charset="0"/>
                <a:cs typeface="Calibri" panose="020F0502020204030204" pitchFamily="34" charset="0"/>
              </a:rPr>
              <a:t> </a:t>
            </a:r>
            <a:r>
              <a:rPr lang="en-US" sz="1400" i="1" dirty="0" err="1">
                <a:latin typeface="Calibri" panose="020F0502020204030204" pitchFamily="34" charset="0"/>
                <a:cs typeface="Calibri" panose="020F0502020204030204" pitchFamily="34" charset="0"/>
              </a:rPr>
              <a:t>Semaforo</a:t>
            </a:r>
            <a:r>
              <a:rPr lang="en-US" sz="1400" i="1" dirty="0">
                <a:latin typeface="Calibri" panose="020F0502020204030204" pitchFamily="34" charset="0"/>
                <a:cs typeface="Calibri" panose="020F0502020204030204" pitchFamily="34" charset="0"/>
              </a:rPr>
              <a:t> de </a:t>
            </a:r>
            <a:r>
              <a:rPr lang="en-US" sz="1400" i="1" dirty="0" err="1">
                <a:latin typeface="Calibri" panose="020F0502020204030204" pitchFamily="34" charset="0"/>
                <a:cs typeface="Calibri" panose="020F0502020204030204" pitchFamily="34" charset="0"/>
              </a:rPr>
              <a:t>Jugadores</a:t>
            </a:r>
            <a:r>
              <a:rPr lang="en-US" sz="1400" i="1" dirty="0">
                <a:latin typeface="Calibri" panose="020F0502020204030204" pitchFamily="34" charset="0"/>
                <a:cs typeface="Calibri" panose="020F0502020204030204" pitchFamily="34" charset="0"/>
              </a:rPr>
              <a:t> </a:t>
            </a:r>
            <a:r>
              <a:rPr lang="en-US" sz="1400" i="1" dirty="0" err="1">
                <a:latin typeface="Calibri" panose="020F0502020204030204" pitchFamily="34" charset="0"/>
                <a:cs typeface="Calibri" panose="020F0502020204030204" pitchFamily="34" charset="0"/>
              </a:rPr>
              <a:t>actuales</a:t>
            </a:r>
            <a:r>
              <a:rPr lang="en-US" sz="1400" i="1" dirty="0">
                <a:latin typeface="Calibri" panose="020F0502020204030204" pitchFamily="34" charset="0"/>
                <a:cs typeface="Calibri" panose="020F0502020204030204" pitchFamily="34" charset="0"/>
              </a:rPr>
              <a:t> con </a:t>
            </a:r>
            <a:r>
              <a:rPr lang="en-US" sz="1400" i="1" dirty="0" err="1">
                <a:latin typeface="Calibri" panose="020F0502020204030204" pitchFamily="34" charset="0"/>
                <a:cs typeface="Calibri" panose="020F0502020204030204" pitchFamily="34" charset="0"/>
              </a:rPr>
              <a:t>vencimientos</a:t>
            </a:r>
            <a:r>
              <a:rPr lang="en-US" sz="1400" i="1" dirty="0">
                <a:latin typeface="Calibri" panose="020F0502020204030204" pitchFamily="34" charset="0"/>
                <a:cs typeface="Calibri" panose="020F0502020204030204" pitchFamily="34" charset="0"/>
              </a:rPr>
              <a:t> de </a:t>
            </a:r>
            <a:r>
              <a:rPr lang="en-US" sz="1400" i="1" dirty="0" err="1">
                <a:latin typeface="Calibri" panose="020F0502020204030204" pitchFamily="34" charset="0"/>
                <a:cs typeface="Calibri" panose="020F0502020204030204" pitchFamily="34" charset="0"/>
              </a:rPr>
              <a:t>contrato</a:t>
            </a:r>
            <a:r>
              <a:rPr lang="en-US" sz="1400" i="1"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Organigrama</a:t>
            </a:r>
            <a:r>
              <a:rPr lang="en-US" sz="1400" dirty="0">
                <a:latin typeface="Calibri" panose="020F0502020204030204" pitchFamily="34" charset="0"/>
                <a:cs typeface="Calibri" panose="020F0502020204030204" pitchFamily="34" charset="0"/>
              </a:rPr>
              <a:t> Deportivo con </a:t>
            </a:r>
            <a:r>
              <a:rPr lang="en-US" sz="1400" dirty="0" err="1">
                <a:latin typeface="Calibri" panose="020F0502020204030204" pitchFamily="34" charset="0"/>
                <a:cs typeface="Calibri" panose="020F0502020204030204" pitchFamily="34" charset="0"/>
              </a:rPr>
              <a:t>Funciograma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Agregar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Vencimiento</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Contratos</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existen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premios</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Contratos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Compra</a:t>
            </a:r>
            <a:r>
              <a:rPr lang="en-US" sz="1400" dirty="0">
                <a:latin typeface="Calibri" panose="020F0502020204030204" pitchFamily="34" charset="0"/>
                <a:cs typeface="Calibri" panose="020F0502020204030204" pitchFamily="34" charset="0"/>
              </a:rPr>
              <a:t>/Venta de </a:t>
            </a:r>
            <a:r>
              <a:rPr lang="en-US" sz="1400" dirty="0" err="1">
                <a:latin typeface="Calibri" panose="020F0502020204030204" pitchFamily="34" charset="0"/>
                <a:cs typeface="Calibri" panose="020F0502020204030204" pitchFamily="34" charset="0"/>
              </a:rPr>
              <a:t>los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ultimos</a:t>
            </a:r>
            <a:r>
              <a:rPr lang="en-US" sz="1400" dirty="0">
                <a:latin typeface="Calibri" panose="020F0502020204030204" pitchFamily="34" charset="0"/>
                <a:cs typeface="Calibri" panose="020F0502020204030204" pitchFamily="34" charset="0"/>
              </a:rPr>
              <a:t> 3 </a:t>
            </a:r>
            <a:r>
              <a:rPr lang="en-US" sz="1400" dirty="0" err="1">
                <a:latin typeface="Calibri" panose="020F0502020204030204" pitchFamily="34" charset="0"/>
                <a:cs typeface="Calibri" panose="020F0502020204030204" pitchFamily="34" charset="0"/>
              </a:rPr>
              <a:t>años</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detalles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clausulas</a:t>
            </a:r>
            <a:r>
              <a:rPr lang="en-US" sz="1400"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comisiones</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pagadas</a:t>
            </a:r>
            <a:r>
              <a:rPr lang="en-US" sz="1400" b="1"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y  </a:t>
            </a:r>
            <a:r>
              <a:rPr lang="en-US" sz="1400" dirty="0" err="1">
                <a:latin typeface="Calibri" panose="020F0502020204030204" pitchFamily="34" charset="0"/>
                <a:cs typeface="Calibri" panose="020F0502020204030204" pitchFamily="34" charset="0"/>
              </a:rPr>
              <a:t>finiquitos</a:t>
            </a:r>
            <a:r>
              <a:rPr lang="en-US" sz="1400"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Ejemplo</a:t>
            </a:r>
            <a:r>
              <a:rPr lang="en-US" sz="1400" b="1"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Cuanto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han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recibido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Jeremy Marquez? ¿Esta </a:t>
            </a:r>
            <a:r>
              <a:rPr lang="en-US" sz="1400" dirty="0" err="1">
                <a:latin typeface="Calibri" panose="020F0502020204030204" pitchFamily="34" charset="0"/>
                <a:cs typeface="Calibri" panose="020F0502020204030204" pitchFamily="34" charset="0"/>
              </a:rPr>
              <a:t>todo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cobrado</a:t>
            </a:r>
            <a:r>
              <a:rPr lang="en-US" sz="1400" dirty="0">
                <a:latin typeface="Calibri" panose="020F0502020204030204" pitchFamily="34" charset="0"/>
                <a:cs typeface="Calibri" panose="020F0502020204030204" pitchFamily="34" charset="0"/>
              </a:rPr>
              <a:t>? ¿Se </a:t>
            </a:r>
            <a:r>
              <a:rPr lang="en-US" sz="1400" dirty="0" err="1">
                <a:latin typeface="Calibri" panose="020F0502020204030204" pitchFamily="34" charset="0"/>
                <a:cs typeface="Calibri" panose="020F0502020204030204" pitchFamily="34" charset="0"/>
              </a:rPr>
              <a:t>pagaron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total de las </a:t>
            </a:r>
            <a:r>
              <a:rPr lang="en-US" sz="1400" dirty="0" err="1">
                <a:latin typeface="Calibri" panose="020F0502020204030204" pitchFamily="34" charset="0"/>
                <a:cs typeface="Calibri" panose="020F0502020204030204" pitchFamily="34" charset="0"/>
              </a:rPr>
              <a:t>comisiones</a:t>
            </a:r>
            <a:r>
              <a:rPr lang="en-US" sz="1400" dirty="0">
                <a:latin typeface="Calibri" panose="020F0502020204030204" pitchFamily="34" charset="0"/>
                <a:cs typeface="Calibri" panose="020F0502020204030204" pitchFamily="34" charset="0"/>
              </a:rPr>
              <a:t>? Lo </a:t>
            </a:r>
            <a:r>
              <a:rPr lang="en-US" sz="1400" dirty="0" err="1">
                <a:latin typeface="Calibri" panose="020F0502020204030204" pitchFamily="34" charset="0"/>
                <a:cs typeface="Calibri" panose="020F0502020204030204" pitchFamily="34" charset="0"/>
              </a:rPr>
              <a:t>mismo</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Durdevic</a:t>
            </a:r>
            <a:r>
              <a:rPr lang="en-US" sz="1400" dirty="0">
                <a:latin typeface="Calibri" panose="020F0502020204030204" pitchFamily="34" charset="0"/>
                <a:cs typeface="Calibri" panose="020F0502020204030204" pitchFamily="34" charset="0"/>
              </a:rPr>
              <a:t>.</a:t>
            </a:r>
            <a:br>
              <a:rPr lang="en-US" sz="1400" dirty="0"/>
            </a:b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Cuentas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pagar</a:t>
            </a:r>
            <a:r>
              <a:rPr lang="en-US" sz="1400" dirty="0">
                <a:latin typeface="Calibri" panose="020F0502020204030204" pitchFamily="34" charset="0"/>
                <a:cs typeface="Calibri" panose="020F0502020204030204" pitchFamily="34" charset="0"/>
              </a:rPr>
              <a:t> a </a:t>
            </a:r>
            <a:r>
              <a:rPr lang="en-US" sz="1400" dirty="0" err="1">
                <a:latin typeface="Calibri" panose="020F0502020204030204" pitchFamily="34" charset="0"/>
                <a:cs typeface="Calibri" panose="020F0502020204030204" pitchFamily="34" charset="0"/>
              </a:rPr>
              <a:t>representantes</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clubes</a:t>
            </a:r>
            <a:r>
              <a:rPr lang="en-US" sz="14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Acceso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Siid</a:t>
            </a:r>
            <a:r>
              <a:rPr lang="en-US" sz="1400" dirty="0">
                <a:latin typeface="Calibri" panose="020F0502020204030204" pitchFamily="34" charset="0"/>
                <a:cs typeface="Calibri" panose="020F0502020204030204" pitchFamily="34" charset="0"/>
              </a:rPr>
              <a:t>. Es </a:t>
            </a:r>
            <a:r>
              <a:rPr lang="en-US" sz="1400" dirty="0" err="1">
                <a:latin typeface="Calibri" panose="020F0502020204030204" pitchFamily="34" charset="0"/>
                <a:cs typeface="Calibri" panose="020F0502020204030204" pitchFamily="34" charset="0"/>
              </a:rPr>
              <a:t>importante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ver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contratos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estan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la Liga MX y al </a:t>
            </a:r>
            <a:r>
              <a:rPr lang="en-US" sz="1400" dirty="0" err="1">
                <a:latin typeface="Calibri" panose="020F0502020204030204" pitchFamily="34" charset="0"/>
                <a:cs typeface="Calibri" panose="020F0502020204030204" pitchFamily="34" charset="0"/>
              </a:rPr>
              <a:t>tener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acceso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podemos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puede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ver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años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anteriores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igual</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manera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cotej</a:t>
            </a: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Semaforo</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Jugadores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actuales</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vencimientos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contrato</a:t>
            </a:r>
            <a:r>
              <a:rPr lang="en-US" sz="14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Mapa de </a:t>
            </a:r>
            <a:r>
              <a:rPr lang="en-US" sz="1400" dirty="0" err="1">
                <a:latin typeface="Calibri" panose="020F0502020204030204" pitchFamily="34" charset="0"/>
                <a:cs typeface="Calibri" panose="020F0502020204030204" pitchFamily="34" charset="0"/>
              </a:rPr>
              <a:t>sucesión</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jugadores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las </a:t>
            </a:r>
            <a:r>
              <a:rPr lang="en-US" sz="1400" dirty="0" err="1">
                <a:latin typeface="Calibri" panose="020F0502020204030204" pitchFamily="34" charset="0"/>
                <a:cs typeface="Calibri" panose="020F0502020204030204" pitchFamily="34" charset="0"/>
              </a:rPr>
              <a:t>categorías</a:t>
            </a:r>
            <a:r>
              <a:rPr lang="en-US" sz="1400" dirty="0">
                <a:latin typeface="Calibri" panose="020F0502020204030204" pitchFamily="34" charset="0"/>
                <a:cs typeface="Calibri" panose="020F0502020204030204" pitchFamily="34" charset="0"/>
              </a:rPr>
              <a:t> de FB </a:t>
            </a:r>
            <a:r>
              <a:rPr lang="en-US" sz="1400" dirty="0" err="1">
                <a:latin typeface="Calibri" panose="020F0502020204030204" pitchFamily="34" charset="0"/>
                <a:cs typeface="Calibri" panose="020F0502020204030204" pitchFamily="34" charset="0"/>
              </a:rPr>
              <a:t>varonil</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femenil</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Accesso a </a:t>
            </a:r>
            <a:r>
              <a:rPr lang="en-US" sz="1400" dirty="0" err="1">
                <a:latin typeface="Calibri" panose="020F0502020204030204" pitchFamily="34" charset="0"/>
                <a:cs typeface="Calibri" panose="020F0502020204030204" pitchFamily="34" charset="0"/>
              </a:rPr>
              <a:t>TransferRoom</a:t>
            </a:r>
            <a:r>
              <a:rPr lang="en-US" sz="1400" dirty="0">
                <a:latin typeface="Calibri" panose="020F0502020204030204" pitchFamily="34" charset="0"/>
                <a:cs typeface="Calibri" panose="020F0502020204030204" pitchFamily="34" charset="0"/>
              </a:rPr>
              <a:t>: Plataforma de Trade.</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Contratos</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proveedores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Tecnología</a:t>
            </a:r>
            <a:r>
              <a:rPr lang="en-US" sz="1400" dirty="0">
                <a:latin typeface="Calibri" panose="020F0502020204030204" pitchFamily="34" charset="0"/>
                <a:cs typeface="Calibri" panose="020F0502020204030204" pitchFamily="34" charset="0"/>
              </a:rPr>
              <a:t> (Datos, </a:t>
            </a:r>
            <a:r>
              <a:rPr lang="en-US" sz="1400" dirty="0" err="1">
                <a:latin typeface="Calibri" panose="020F0502020204030204" pitchFamily="34" charset="0"/>
                <a:cs typeface="Calibri" panose="020F0502020204030204" pitchFamily="34" charset="0"/>
              </a:rPr>
              <a:t>Plataformas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etc</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Ejemplo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Driblab</a:t>
            </a:r>
            <a:r>
              <a:rPr lang="en-US" sz="1400" dirty="0">
                <a:latin typeface="Calibri" panose="020F0502020204030204" pitchFamily="34" charset="0"/>
                <a:cs typeface="Calibri" panose="020F0502020204030204" pitchFamily="34" charset="0"/>
              </a:rPr>
              <a:t>, Stats Bomb, </a:t>
            </a:r>
            <a:r>
              <a:rPr lang="en-US" sz="1400" dirty="0" err="1">
                <a:latin typeface="Calibri" panose="020F0502020204030204" pitchFamily="34" charset="0"/>
                <a:cs typeface="Calibri" panose="020F0502020204030204" pitchFamily="34" charset="0"/>
              </a:rPr>
              <a:t>etc</a:t>
            </a:r>
            <a:r>
              <a:rPr lang="en-US" sz="1400" dirty="0">
                <a:latin typeface="Calibri" panose="020F0502020204030204" pitchFamily="34" charset="0"/>
                <a:cs typeface="Calibri" panose="020F0502020204030204" pitchFamily="34" charset="0"/>
              </a:rPr>
              <a:t>).**</a:t>
            </a:r>
          </a:p>
        </p:txBody>
      </p:sp>
      <p:sp>
        <p:nvSpPr>
          <p:cNvPr id="3" name="TextBox 2">
            <a:extLst>
              <a:ext uri="{FF2B5EF4-FFF2-40B4-BE49-F238E27FC236}">
                <a16:creationId xmlns:a16="http://schemas.microsoft.com/office/drawing/2014/main" id="{BBC416E5-2FAD-969D-2AC0-6101F67EBB5B}"/>
              </a:ext>
            </a:extLst>
          </p:cNvPr>
          <p:cNvSpPr txBox="1"/>
          <p:nvPr/>
        </p:nvSpPr>
        <p:spPr>
          <a:xfrm>
            <a:off x="5989320" y="1220775"/>
            <a:ext cx="5913120" cy="307777"/>
          </a:xfrm>
          <a:prstGeom prst="rect">
            <a:avLst/>
          </a:prstGeom>
          <a:noFill/>
        </p:spPr>
        <p:txBody>
          <a:bodyPr wrap="square">
            <a:spAutoFit/>
          </a:bodyPr>
          <a:lstStyle/>
          <a:p>
            <a:pPr>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235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B20C0FD-3868-401A-8929-F3C0320CB5D5}"/>
              </a:ext>
            </a:extLst>
          </p:cNvPr>
          <p:cNvPicPr>
            <a:picLocks noChangeAspect="1"/>
          </p:cNvPicPr>
          <p:nvPr/>
        </p:nvPicPr>
        <p:blipFill>
          <a:blip r:embed="rId2">
            <a:alphaModFix amt="20000"/>
          </a:blip>
          <a:stretch>
            <a:fillRect/>
          </a:stretch>
        </p:blipFill>
        <p:spPr>
          <a:xfrm>
            <a:off x="1212958" y="-131139"/>
            <a:ext cx="10887750" cy="6909465"/>
          </a:xfrm>
          <a:prstGeom prst="rect">
            <a:avLst/>
          </a:prstGeom>
        </p:spPr>
      </p:pic>
      <p:sp>
        <p:nvSpPr>
          <p:cNvPr id="6" name="Redondear rectángulo de esquina del mismo lado 1">
            <a:extLst>
              <a:ext uri="{FF2B5EF4-FFF2-40B4-BE49-F238E27FC236}">
                <a16:creationId xmlns:a16="http://schemas.microsoft.com/office/drawing/2014/main" id="{1C6D51EA-33FF-4842-91E8-93372BD296B7}"/>
              </a:ext>
            </a:extLst>
          </p:cNvPr>
          <p:cNvSpPr/>
          <p:nvPr/>
        </p:nvSpPr>
        <p:spPr>
          <a:xfrm flipV="1">
            <a:off x="11214847" y="-732864"/>
            <a:ext cx="886268" cy="1465728"/>
          </a:xfrm>
          <a:prstGeom prst="round2SameRect">
            <a:avLst>
              <a:gd name="adj1" fmla="val 50000"/>
              <a:gd name="adj2" fmla="val 0"/>
            </a:avLst>
          </a:prstGeom>
          <a:solidFill>
            <a:srgbClr val="B4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0000" dirty="0"/>
          </a:p>
        </p:txBody>
      </p:sp>
      <p:pic>
        <p:nvPicPr>
          <p:cNvPr id="1028" name="Picture 4" descr="Club">
            <a:extLst>
              <a:ext uri="{FF2B5EF4-FFF2-40B4-BE49-F238E27FC236}">
                <a16:creationId xmlns:a16="http://schemas.microsoft.com/office/drawing/2014/main" id="{D1674541-8C39-4E20-A8FE-8675C58E5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303" y="-162941"/>
            <a:ext cx="767356" cy="76735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Uniforme">
            <a:extLst>
              <a:ext uri="{FF2B5EF4-FFF2-40B4-BE49-F238E27FC236}">
                <a16:creationId xmlns:a16="http://schemas.microsoft.com/office/drawing/2014/main" id="{FA470D53-9090-459E-99F8-D62C42F3A5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3604791" y="1741879"/>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49ABC31-50D2-4D69-B88D-2657C56695D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070" r="23708" b="41413"/>
          <a:stretch/>
        </p:blipFill>
        <p:spPr bwMode="auto">
          <a:xfrm>
            <a:off x="4520807" y="5816154"/>
            <a:ext cx="395272" cy="438306"/>
          </a:xfrm>
          <a:prstGeom prst="rect">
            <a:avLst/>
          </a:prstGeom>
          <a:noFill/>
          <a:extLst>
            <a:ext uri="{909E8E84-426E-40DD-AFC4-6F175D3DCCD1}">
              <a14:hiddenFill xmlns:a14="http://schemas.microsoft.com/office/drawing/2010/main">
                <a:solidFill>
                  <a:srgbClr val="FFFFFF"/>
                </a:solidFill>
              </a14:hiddenFill>
            </a:ext>
          </a:extLst>
        </p:spPr>
      </p:pic>
      <p:sp>
        <p:nvSpPr>
          <p:cNvPr id="35" name="CuadroTexto 34">
            <a:extLst>
              <a:ext uri="{FF2B5EF4-FFF2-40B4-BE49-F238E27FC236}">
                <a16:creationId xmlns:a16="http://schemas.microsoft.com/office/drawing/2014/main" id="{5FC11AE1-EC73-45F9-A8CB-E468A19DEDA1}"/>
              </a:ext>
            </a:extLst>
          </p:cNvPr>
          <p:cNvSpPr txBox="1"/>
          <p:nvPr/>
        </p:nvSpPr>
        <p:spPr>
          <a:xfrm>
            <a:off x="0" y="118815"/>
            <a:ext cx="2850228" cy="338554"/>
          </a:xfrm>
          <a:prstGeom prst="rect">
            <a:avLst/>
          </a:prstGeom>
          <a:noFill/>
        </p:spPr>
        <p:txBody>
          <a:bodyPr wrap="square" rtlCol="0">
            <a:spAutoFit/>
          </a:bodyPr>
          <a:lstStyle/>
          <a:p>
            <a:r>
              <a:rPr lang="es-MX" sz="1600" dirty="0">
                <a:latin typeface="Franklin Gothic Book" panose="020B0503020102020204" pitchFamily="34" charset="0"/>
              </a:rPr>
              <a:t>PLANTEL CLAUSURA 2026</a:t>
            </a:r>
          </a:p>
        </p:txBody>
      </p:sp>
      <p:sp>
        <p:nvSpPr>
          <p:cNvPr id="36" name="Paralelogramo 35">
            <a:extLst>
              <a:ext uri="{FF2B5EF4-FFF2-40B4-BE49-F238E27FC236}">
                <a16:creationId xmlns:a16="http://schemas.microsoft.com/office/drawing/2014/main" id="{3B0019E3-A8A3-44CB-B5BC-D37523FDEDB2}"/>
              </a:ext>
            </a:extLst>
          </p:cNvPr>
          <p:cNvSpPr/>
          <p:nvPr/>
        </p:nvSpPr>
        <p:spPr>
          <a:xfrm>
            <a:off x="0" y="488147"/>
            <a:ext cx="2222467" cy="72551"/>
          </a:xfrm>
          <a:prstGeom prst="parallelogram">
            <a:avLst/>
          </a:prstGeom>
          <a:solidFill>
            <a:srgbClr val="BC0000"/>
          </a:solidFill>
          <a:ln>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0000" dirty="0"/>
          </a:p>
        </p:txBody>
      </p:sp>
      <p:sp>
        <p:nvSpPr>
          <p:cNvPr id="37" name="Rectángulo 36">
            <a:extLst>
              <a:ext uri="{FF2B5EF4-FFF2-40B4-BE49-F238E27FC236}">
                <a16:creationId xmlns:a16="http://schemas.microsoft.com/office/drawing/2014/main" id="{A5F20A87-75DB-4D3D-9F5E-C0A176B395E6}"/>
              </a:ext>
            </a:extLst>
          </p:cNvPr>
          <p:cNvSpPr/>
          <p:nvPr/>
        </p:nvSpPr>
        <p:spPr>
          <a:xfrm>
            <a:off x="3962882" y="5987518"/>
            <a:ext cx="737702" cy="276999"/>
          </a:xfrm>
          <a:prstGeom prst="rect">
            <a:avLst/>
          </a:prstGeom>
        </p:spPr>
        <p:txBody>
          <a:bodyPr wrap="none">
            <a:spAutoFit/>
          </a:bodyPr>
          <a:lstStyle/>
          <a:p>
            <a:r>
              <a:rPr lang="es-ES" sz="1200" dirty="0">
                <a:latin typeface="Avenir Next" panose="020B0503020202020204" pitchFamily="34" charset="0"/>
              </a:rPr>
              <a:t>26 años</a:t>
            </a:r>
          </a:p>
        </p:txBody>
      </p:sp>
      <p:sp>
        <p:nvSpPr>
          <p:cNvPr id="38" name="Rectángulo 37">
            <a:extLst>
              <a:ext uri="{FF2B5EF4-FFF2-40B4-BE49-F238E27FC236}">
                <a16:creationId xmlns:a16="http://schemas.microsoft.com/office/drawing/2014/main" id="{381FBBDD-E22D-4326-911D-AE5007DFF9E6}"/>
              </a:ext>
            </a:extLst>
          </p:cNvPr>
          <p:cNvSpPr/>
          <p:nvPr/>
        </p:nvSpPr>
        <p:spPr>
          <a:xfrm>
            <a:off x="3971980" y="6173791"/>
            <a:ext cx="946285" cy="276999"/>
          </a:xfrm>
          <a:prstGeom prst="rect">
            <a:avLst/>
          </a:prstGeom>
        </p:spPr>
        <p:txBody>
          <a:bodyPr wrap="none">
            <a:spAutoFit/>
          </a:bodyPr>
          <a:lstStyle/>
          <a:p>
            <a:r>
              <a:rPr lang="es-ES" sz="1200" dirty="0">
                <a:latin typeface="Avenir Next" panose="020B0503020202020204" pitchFamily="34" charset="0"/>
              </a:rPr>
              <a:t>A. Sánchez</a:t>
            </a:r>
          </a:p>
        </p:txBody>
      </p:sp>
      <p:sp>
        <p:nvSpPr>
          <p:cNvPr id="39" name="Rectángulo 38">
            <a:extLst>
              <a:ext uri="{FF2B5EF4-FFF2-40B4-BE49-F238E27FC236}">
                <a16:creationId xmlns:a16="http://schemas.microsoft.com/office/drawing/2014/main" id="{C766A419-A723-4824-9559-E6D9C6D1553B}"/>
              </a:ext>
            </a:extLst>
          </p:cNvPr>
          <p:cNvSpPr/>
          <p:nvPr/>
        </p:nvSpPr>
        <p:spPr>
          <a:xfrm>
            <a:off x="6075021" y="6003491"/>
            <a:ext cx="737702" cy="276999"/>
          </a:xfrm>
          <a:prstGeom prst="rect">
            <a:avLst/>
          </a:prstGeom>
        </p:spPr>
        <p:txBody>
          <a:bodyPr wrap="none">
            <a:spAutoFit/>
          </a:bodyPr>
          <a:lstStyle/>
          <a:p>
            <a:r>
              <a:rPr lang="es-ES" sz="1200" dirty="0">
                <a:latin typeface="Avenir Next" panose="020B0503020202020204" pitchFamily="34" charset="0"/>
              </a:rPr>
              <a:t>37 años</a:t>
            </a:r>
          </a:p>
        </p:txBody>
      </p:sp>
      <p:sp>
        <p:nvSpPr>
          <p:cNvPr id="40" name="Rectángulo 39">
            <a:extLst>
              <a:ext uri="{FF2B5EF4-FFF2-40B4-BE49-F238E27FC236}">
                <a16:creationId xmlns:a16="http://schemas.microsoft.com/office/drawing/2014/main" id="{A83B1DA7-475C-40CC-90D8-1BE8DE65A128}"/>
              </a:ext>
            </a:extLst>
          </p:cNvPr>
          <p:cNvSpPr/>
          <p:nvPr/>
        </p:nvSpPr>
        <p:spPr>
          <a:xfrm>
            <a:off x="6082084" y="6163466"/>
            <a:ext cx="839717" cy="276999"/>
          </a:xfrm>
          <a:prstGeom prst="rect">
            <a:avLst/>
          </a:prstGeom>
        </p:spPr>
        <p:txBody>
          <a:bodyPr wrap="none">
            <a:spAutoFit/>
          </a:bodyPr>
          <a:lstStyle/>
          <a:p>
            <a:r>
              <a:rPr lang="es-ES" sz="1200" dirty="0">
                <a:latin typeface="Avenir Next" panose="020B0503020202020204" pitchFamily="34" charset="0"/>
              </a:rPr>
              <a:t>C. Vargas</a:t>
            </a:r>
          </a:p>
        </p:txBody>
      </p:sp>
      <p:pic>
        <p:nvPicPr>
          <p:cNvPr id="1034" name="Picture 10">
            <a:extLst>
              <a:ext uri="{FF2B5EF4-FFF2-40B4-BE49-F238E27FC236}">
                <a16:creationId xmlns:a16="http://schemas.microsoft.com/office/drawing/2014/main" id="{359C7ABE-5E81-4656-8AC8-BDBED7A96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9852" y="5817828"/>
            <a:ext cx="279001" cy="185662"/>
          </a:xfrm>
          <a:prstGeom prst="rect">
            <a:avLst/>
          </a:prstGeom>
          <a:noFill/>
          <a:extLst>
            <a:ext uri="{909E8E84-426E-40DD-AFC4-6F175D3DCCD1}">
              <a14:hiddenFill xmlns:a14="http://schemas.microsoft.com/office/drawing/2010/main">
                <a:solidFill>
                  <a:srgbClr val="FFFFFF"/>
                </a:solidFill>
              </a14:hiddenFill>
            </a:ext>
          </a:extLst>
        </p:spPr>
      </p:pic>
      <p:sp>
        <p:nvSpPr>
          <p:cNvPr id="42" name="Rectángulo 41">
            <a:extLst>
              <a:ext uri="{FF2B5EF4-FFF2-40B4-BE49-F238E27FC236}">
                <a16:creationId xmlns:a16="http://schemas.microsoft.com/office/drawing/2014/main" id="{E15196F7-34D6-4B4D-88B2-06FD5F082EC5}"/>
              </a:ext>
            </a:extLst>
          </p:cNvPr>
          <p:cNvSpPr/>
          <p:nvPr/>
        </p:nvSpPr>
        <p:spPr>
          <a:xfrm>
            <a:off x="7718608" y="6003490"/>
            <a:ext cx="737702" cy="276999"/>
          </a:xfrm>
          <a:prstGeom prst="rect">
            <a:avLst/>
          </a:prstGeom>
        </p:spPr>
        <p:txBody>
          <a:bodyPr wrap="none">
            <a:spAutoFit/>
          </a:bodyPr>
          <a:lstStyle/>
          <a:p>
            <a:r>
              <a:rPr lang="es-ES" sz="1200" dirty="0">
                <a:latin typeface="Avenir Next" panose="020B0503020202020204" pitchFamily="34" charset="0"/>
              </a:rPr>
              <a:t>25 años</a:t>
            </a:r>
          </a:p>
        </p:txBody>
      </p:sp>
      <p:sp>
        <p:nvSpPr>
          <p:cNvPr id="43" name="Rectángulo 42">
            <a:extLst>
              <a:ext uri="{FF2B5EF4-FFF2-40B4-BE49-F238E27FC236}">
                <a16:creationId xmlns:a16="http://schemas.microsoft.com/office/drawing/2014/main" id="{FB59008B-FE09-442E-89BE-35B6FA4A1A2B}"/>
              </a:ext>
            </a:extLst>
          </p:cNvPr>
          <p:cNvSpPr/>
          <p:nvPr/>
        </p:nvSpPr>
        <p:spPr>
          <a:xfrm>
            <a:off x="7718608" y="6173791"/>
            <a:ext cx="841834" cy="276999"/>
          </a:xfrm>
          <a:prstGeom prst="rect">
            <a:avLst/>
          </a:prstGeom>
        </p:spPr>
        <p:txBody>
          <a:bodyPr wrap="none">
            <a:spAutoFit/>
          </a:bodyPr>
          <a:lstStyle/>
          <a:p>
            <a:r>
              <a:rPr lang="es-ES" sz="1200" dirty="0">
                <a:highlight>
                  <a:srgbClr val="808080"/>
                </a:highlight>
                <a:latin typeface="Avenir Next" panose="020B0503020202020204" pitchFamily="34" charset="0"/>
              </a:rPr>
              <a:t>C. Ramos</a:t>
            </a:r>
          </a:p>
        </p:txBody>
      </p:sp>
      <p:sp>
        <p:nvSpPr>
          <p:cNvPr id="44" name="Rectángulo 43">
            <a:extLst>
              <a:ext uri="{FF2B5EF4-FFF2-40B4-BE49-F238E27FC236}">
                <a16:creationId xmlns:a16="http://schemas.microsoft.com/office/drawing/2014/main" id="{A529DFC4-368B-4AF0-861C-F9AF9862A038}"/>
              </a:ext>
            </a:extLst>
          </p:cNvPr>
          <p:cNvSpPr/>
          <p:nvPr/>
        </p:nvSpPr>
        <p:spPr>
          <a:xfrm>
            <a:off x="4605924" y="4474345"/>
            <a:ext cx="955903" cy="276999"/>
          </a:xfrm>
          <a:prstGeom prst="rect">
            <a:avLst/>
          </a:prstGeom>
        </p:spPr>
        <p:txBody>
          <a:bodyPr wrap="none">
            <a:spAutoFit/>
          </a:bodyPr>
          <a:lstStyle/>
          <a:p>
            <a:r>
              <a:rPr lang="es-ES" sz="1200" dirty="0">
                <a:highlight>
                  <a:srgbClr val="28CAE0"/>
                </a:highlight>
                <a:latin typeface="Avenir Next" panose="020B0503020202020204" pitchFamily="34" charset="0"/>
              </a:rPr>
              <a:t>R. Schlegel</a:t>
            </a:r>
          </a:p>
        </p:txBody>
      </p:sp>
      <p:sp>
        <p:nvSpPr>
          <p:cNvPr id="45" name="Rectángulo 44">
            <a:extLst>
              <a:ext uri="{FF2B5EF4-FFF2-40B4-BE49-F238E27FC236}">
                <a16:creationId xmlns:a16="http://schemas.microsoft.com/office/drawing/2014/main" id="{8802239F-D645-4C05-AA40-A72A1CF25830}"/>
              </a:ext>
            </a:extLst>
          </p:cNvPr>
          <p:cNvSpPr/>
          <p:nvPr/>
        </p:nvSpPr>
        <p:spPr>
          <a:xfrm>
            <a:off x="4595802" y="4310578"/>
            <a:ext cx="737702" cy="276999"/>
          </a:xfrm>
          <a:prstGeom prst="rect">
            <a:avLst/>
          </a:prstGeom>
        </p:spPr>
        <p:txBody>
          <a:bodyPr wrap="none">
            <a:spAutoFit/>
          </a:bodyPr>
          <a:lstStyle/>
          <a:p>
            <a:r>
              <a:rPr lang="es-ES" sz="1200" dirty="0">
                <a:latin typeface="Avenir Next" panose="020B0503020202020204" pitchFamily="34" charset="0"/>
              </a:rPr>
              <a:t>28 años</a:t>
            </a:r>
          </a:p>
        </p:txBody>
      </p:sp>
      <p:sp>
        <p:nvSpPr>
          <p:cNvPr id="50" name="Rectángulo 49">
            <a:extLst>
              <a:ext uri="{FF2B5EF4-FFF2-40B4-BE49-F238E27FC236}">
                <a16:creationId xmlns:a16="http://schemas.microsoft.com/office/drawing/2014/main" id="{2B09F8C7-211F-4B37-BEB1-001E568A6D1E}"/>
              </a:ext>
            </a:extLst>
          </p:cNvPr>
          <p:cNvSpPr/>
          <p:nvPr/>
        </p:nvSpPr>
        <p:spPr>
          <a:xfrm>
            <a:off x="4638775" y="4802409"/>
            <a:ext cx="737702" cy="276999"/>
          </a:xfrm>
          <a:prstGeom prst="rect">
            <a:avLst/>
          </a:prstGeom>
        </p:spPr>
        <p:txBody>
          <a:bodyPr wrap="none">
            <a:spAutoFit/>
          </a:bodyPr>
          <a:lstStyle/>
          <a:p>
            <a:r>
              <a:rPr lang="es-ES" sz="1200" dirty="0">
                <a:latin typeface="Avenir Next" panose="020B0503020202020204" pitchFamily="34" charset="0"/>
              </a:rPr>
              <a:t>31 años</a:t>
            </a:r>
          </a:p>
        </p:txBody>
      </p:sp>
      <p:sp>
        <p:nvSpPr>
          <p:cNvPr id="51" name="Rectángulo 50">
            <a:extLst>
              <a:ext uri="{FF2B5EF4-FFF2-40B4-BE49-F238E27FC236}">
                <a16:creationId xmlns:a16="http://schemas.microsoft.com/office/drawing/2014/main" id="{76985633-DF25-4B00-8941-EB6367F6F5FF}"/>
              </a:ext>
            </a:extLst>
          </p:cNvPr>
          <p:cNvSpPr/>
          <p:nvPr/>
        </p:nvSpPr>
        <p:spPr>
          <a:xfrm>
            <a:off x="4641039" y="4959990"/>
            <a:ext cx="620363" cy="276999"/>
          </a:xfrm>
          <a:prstGeom prst="rect">
            <a:avLst/>
          </a:prstGeom>
        </p:spPr>
        <p:txBody>
          <a:bodyPr wrap="none">
            <a:spAutoFit/>
          </a:bodyPr>
          <a:lstStyle/>
          <a:p>
            <a:r>
              <a:rPr lang="es-ES" sz="1200" dirty="0">
                <a:latin typeface="Avenir Next" panose="020B0503020202020204" pitchFamily="34" charset="0"/>
              </a:rPr>
              <a:t>R. Pier</a:t>
            </a:r>
          </a:p>
        </p:txBody>
      </p:sp>
      <p:sp>
        <p:nvSpPr>
          <p:cNvPr id="57" name="Rectángulo 56">
            <a:extLst>
              <a:ext uri="{FF2B5EF4-FFF2-40B4-BE49-F238E27FC236}">
                <a16:creationId xmlns:a16="http://schemas.microsoft.com/office/drawing/2014/main" id="{B8C4E35A-5D01-42E2-963B-A6E4EC3593D4}"/>
              </a:ext>
            </a:extLst>
          </p:cNvPr>
          <p:cNvSpPr/>
          <p:nvPr/>
        </p:nvSpPr>
        <p:spPr>
          <a:xfrm>
            <a:off x="6668741" y="4790181"/>
            <a:ext cx="737702" cy="276999"/>
          </a:xfrm>
          <a:prstGeom prst="rect">
            <a:avLst/>
          </a:prstGeom>
        </p:spPr>
        <p:txBody>
          <a:bodyPr wrap="none">
            <a:spAutoFit/>
          </a:bodyPr>
          <a:lstStyle/>
          <a:p>
            <a:r>
              <a:rPr lang="es-ES" sz="1200" dirty="0">
                <a:latin typeface="Avenir Next" panose="020B0503020202020204" pitchFamily="34" charset="0"/>
              </a:rPr>
              <a:t>29 años</a:t>
            </a:r>
          </a:p>
        </p:txBody>
      </p:sp>
      <p:sp>
        <p:nvSpPr>
          <p:cNvPr id="58" name="Rectángulo 57">
            <a:extLst>
              <a:ext uri="{FF2B5EF4-FFF2-40B4-BE49-F238E27FC236}">
                <a16:creationId xmlns:a16="http://schemas.microsoft.com/office/drawing/2014/main" id="{47EBEA16-E103-4C53-8924-3E83B02FC17D}"/>
              </a:ext>
            </a:extLst>
          </p:cNvPr>
          <p:cNvSpPr/>
          <p:nvPr/>
        </p:nvSpPr>
        <p:spPr>
          <a:xfrm>
            <a:off x="6668741" y="4954922"/>
            <a:ext cx="996427" cy="276999"/>
          </a:xfrm>
          <a:prstGeom prst="rect">
            <a:avLst/>
          </a:prstGeom>
        </p:spPr>
        <p:txBody>
          <a:bodyPr wrap="none">
            <a:spAutoFit/>
          </a:bodyPr>
          <a:lstStyle/>
          <a:p>
            <a:r>
              <a:rPr lang="es-ES" sz="1200" dirty="0">
                <a:highlight>
                  <a:srgbClr val="28CAE0"/>
                </a:highlight>
                <a:latin typeface="Avenir Next" panose="020B0503020202020204" pitchFamily="34" charset="0"/>
              </a:rPr>
              <a:t>M. Capasso</a:t>
            </a:r>
          </a:p>
        </p:txBody>
      </p:sp>
      <p:sp>
        <p:nvSpPr>
          <p:cNvPr id="59" name="Rectángulo 58">
            <a:extLst>
              <a:ext uri="{FF2B5EF4-FFF2-40B4-BE49-F238E27FC236}">
                <a16:creationId xmlns:a16="http://schemas.microsoft.com/office/drawing/2014/main" id="{982910E8-30D4-4274-883D-D4C7A259E0F8}"/>
              </a:ext>
            </a:extLst>
          </p:cNvPr>
          <p:cNvSpPr/>
          <p:nvPr/>
        </p:nvSpPr>
        <p:spPr>
          <a:xfrm>
            <a:off x="8502528" y="4361005"/>
            <a:ext cx="737702" cy="276999"/>
          </a:xfrm>
          <a:prstGeom prst="rect">
            <a:avLst/>
          </a:prstGeom>
        </p:spPr>
        <p:txBody>
          <a:bodyPr wrap="none">
            <a:spAutoFit/>
          </a:bodyPr>
          <a:lstStyle/>
          <a:p>
            <a:r>
              <a:rPr lang="es-ES" sz="1200" dirty="0">
                <a:latin typeface="Avenir Next" panose="020B0503020202020204" pitchFamily="34" charset="0"/>
              </a:rPr>
              <a:t>26 años</a:t>
            </a:r>
          </a:p>
        </p:txBody>
      </p:sp>
      <p:sp>
        <p:nvSpPr>
          <p:cNvPr id="60" name="Rectángulo 59">
            <a:extLst>
              <a:ext uri="{FF2B5EF4-FFF2-40B4-BE49-F238E27FC236}">
                <a16:creationId xmlns:a16="http://schemas.microsoft.com/office/drawing/2014/main" id="{E1A08BB0-B131-43D4-BF8D-7E9CBF4103E3}"/>
              </a:ext>
            </a:extLst>
          </p:cNvPr>
          <p:cNvSpPr/>
          <p:nvPr/>
        </p:nvSpPr>
        <p:spPr>
          <a:xfrm>
            <a:off x="8510273" y="4496175"/>
            <a:ext cx="907108" cy="276999"/>
          </a:xfrm>
          <a:prstGeom prst="rect">
            <a:avLst/>
          </a:prstGeom>
        </p:spPr>
        <p:txBody>
          <a:bodyPr wrap="none">
            <a:spAutoFit/>
          </a:bodyPr>
          <a:lstStyle/>
          <a:p>
            <a:r>
              <a:rPr lang="es-ES" sz="1200" dirty="0">
                <a:latin typeface="Avenir Next" panose="020B0503020202020204" pitchFamily="34" charset="0"/>
              </a:rPr>
              <a:t>G. Aguirre</a:t>
            </a:r>
          </a:p>
        </p:txBody>
      </p:sp>
      <p:sp>
        <p:nvSpPr>
          <p:cNvPr id="67" name="Rectángulo 66">
            <a:extLst>
              <a:ext uri="{FF2B5EF4-FFF2-40B4-BE49-F238E27FC236}">
                <a16:creationId xmlns:a16="http://schemas.microsoft.com/office/drawing/2014/main" id="{77E0F340-520B-46BF-A50F-4F6D1355E9FC}"/>
              </a:ext>
            </a:extLst>
          </p:cNvPr>
          <p:cNvSpPr/>
          <p:nvPr/>
        </p:nvSpPr>
        <p:spPr>
          <a:xfrm>
            <a:off x="2774282" y="1658638"/>
            <a:ext cx="737702" cy="276999"/>
          </a:xfrm>
          <a:prstGeom prst="rect">
            <a:avLst/>
          </a:prstGeom>
        </p:spPr>
        <p:txBody>
          <a:bodyPr wrap="none">
            <a:spAutoFit/>
          </a:bodyPr>
          <a:lstStyle/>
          <a:p>
            <a:r>
              <a:rPr lang="es-ES" sz="1200" dirty="0">
                <a:latin typeface="Avenir Next" panose="020B0503020202020204" pitchFamily="34" charset="0"/>
              </a:rPr>
              <a:t>24 años</a:t>
            </a:r>
          </a:p>
        </p:txBody>
      </p:sp>
      <p:sp>
        <p:nvSpPr>
          <p:cNvPr id="68" name="Rectángulo 67">
            <a:extLst>
              <a:ext uri="{FF2B5EF4-FFF2-40B4-BE49-F238E27FC236}">
                <a16:creationId xmlns:a16="http://schemas.microsoft.com/office/drawing/2014/main" id="{EBD276B8-5538-42D7-A644-290E79768372}"/>
              </a:ext>
            </a:extLst>
          </p:cNvPr>
          <p:cNvSpPr/>
          <p:nvPr/>
        </p:nvSpPr>
        <p:spPr>
          <a:xfrm>
            <a:off x="2744688" y="1852395"/>
            <a:ext cx="1079911" cy="307777"/>
          </a:xfrm>
          <a:prstGeom prst="rect">
            <a:avLst/>
          </a:prstGeom>
        </p:spPr>
        <p:txBody>
          <a:bodyPr wrap="none">
            <a:spAutoFit/>
          </a:bodyPr>
          <a:lstStyle/>
          <a:p>
            <a:r>
              <a:rPr lang="es-ES" sz="1400" dirty="0">
                <a:highlight>
                  <a:srgbClr val="FF0000"/>
                </a:highlight>
                <a:latin typeface="Avenir Next" panose="020B0503020202020204" pitchFamily="34" charset="0"/>
              </a:rPr>
              <a:t>J. </a:t>
            </a:r>
            <a:r>
              <a:rPr lang="es-ES" sz="1200" dirty="0">
                <a:highlight>
                  <a:srgbClr val="FF0000"/>
                </a:highlight>
                <a:latin typeface="Avenir Next" panose="020B0503020202020204" pitchFamily="34" charset="0"/>
              </a:rPr>
              <a:t>Rodríguez</a:t>
            </a:r>
          </a:p>
        </p:txBody>
      </p:sp>
      <p:sp>
        <p:nvSpPr>
          <p:cNvPr id="69" name="Rectángulo 68">
            <a:extLst>
              <a:ext uri="{FF2B5EF4-FFF2-40B4-BE49-F238E27FC236}">
                <a16:creationId xmlns:a16="http://schemas.microsoft.com/office/drawing/2014/main" id="{A27FCA53-60E4-46A2-A1A8-B5B9EDD2C803}"/>
              </a:ext>
            </a:extLst>
          </p:cNvPr>
          <p:cNvSpPr/>
          <p:nvPr/>
        </p:nvSpPr>
        <p:spPr>
          <a:xfrm>
            <a:off x="2780407" y="2289862"/>
            <a:ext cx="737702" cy="276999"/>
          </a:xfrm>
          <a:prstGeom prst="rect">
            <a:avLst/>
          </a:prstGeom>
        </p:spPr>
        <p:txBody>
          <a:bodyPr wrap="none">
            <a:spAutoFit/>
          </a:bodyPr>
          <a:lstStyle/>
          <a:p>
            <a:r>
              <a:rPr lang="es-ES" sz="1200" dirty="0">
                <a:latin typeface="Avenir Next" panose="020B0503020202020204" pitchFamily="34" charset="0"/>
              </a:rPr>
              <a:t>25 años</a:t>
            </a:r>
          </a:p>
        </p:txBody>
      </p:sp>
      <p:sp>
        <p:nvSpPr>
          <p:cNvPr id="70" name="Rectángulo 69">
            <a:extLst>
              <a:ext uri="{FF2B5EF4-FFF2-40B4-BE49-F238E27FC236}">
                <a16:creationId xmlns:a16="http://schemas.microsoft.com/office/drawing/2014/main" id="{7D372B2D-BC9D-41D9-B125-BFEC5C4BD5F7}"/>
              </a:ext>
            </a:extLst>
          </p:cNvPr>
          <p:cNvSpPr/>
          <p:nvPr/>
        </p:nvSpPr>
        <p:spPr>
          <a:xfrm>
            <a:off x="2793656" y="2440961"/>
            <a:ext cx="855362" cy="276999"/>
          </a:xfrm>
          <a:prstGeom prst="rect">
            <a:avLst/>
          </a:prstGeom>
        </p:spPr>
        <p:txBody>
          <a:bodyPr wrap="none">
            <a:spAutoFit/>
          </a:bodyPr>
          <a:lstStyle/>
          <a:p>
            <a:r>
              <a:rPr lang="es-ES" sz="1200" dirty="0">
                <a:latin typeface="Avenir Next" panose="020B0503020202020204" pitchFamily="34" charset="0"/>
              </a:rPr>
              <a:t>R. Lozano</a:t>
            </a:r>
          </a:p>
        </p:txBody>
      </p:sp>
      <p:sp>
        <p:nvSpPr>
          <p:cNvPr id="82" name="Rectángulo 81">
            <a:extLst>
              <a:ext uri="{FF2B5EF4-FFF2-40B4-BE49-F238E27FC236}">
                <a16:creationId xmlns:a16="http://schemas.microsoft.com/office/drawing/2014/main" id="{FEC532CC-6486-4F32-84E2-023B8101F20F}"/>
              </a:ext>
            </a:extLst>
          </p:cNvPr>
          <p:cNvSpPr/>
          <p:nvPr/>
        </p:nvSpPr>
        <p:spPr>
          <a:xfrm>
            <a:off x="9610115" y="2771887"/>
            <a:ext cx="737702" cy="276999"/>
          </a:xfrm>
          <a:prstGeom prst="rect">
            <a:avLst/>
          </a:prstGeom>
        </p:spPr>
        <p:txBody>
          <a:bodyPr wrap="none">
            <a:spAutoFit/>
          </a:bodyPr>
          <a:lstStyle/>
          <a:p>
            <a:r>
              <a:rPr lang="es-ES" sz="1200" dirty="0">
                <a:latin typeface="Avenir Next" panose="020B0503020202020204" pitchFamily="34" charset="0"/>
              </a:rPr>
              <a:t>30 años</a:t>
            </a:r>
          </a:p>
        </p:txBody>
      </p:sp>
      <p:sp>
        <p:nvSpPr>
          <p:cNvPr id="83" name="Rectángulo 82">
            <a:extLst>
              <a:ext uri="{FF2B5EF4-FFF2-40B4-BE49-F238E27FC236}">
                <a16:creationId xmlns:a16="http://schemas.microsoft.com/office/drawing/2014/main" id="{6A17F470-6DDB-4D56-BE3F-E72151F810F0}"/>
              </a:ext>
            </a:extLst>
          </p:cNvPr>
          <p:cNvSpPr/>
          <p:nvPr/>
        </p:nvSpPr>
        <p:spPr>
          <a:xfrm>
            <a:off x="9595655" y="2940096"/>
            <a:ext cx="987193" cy="276999"/>
          </a:xfrm>
          <a:prstGeom prst="rect">
            <a:avLst/>
          </a:prstGeom>
        </p:spPr>
        <p:txBody>
          <a:bodyPr wrap="none">
            <a:spAutoFit/>
          </a:bodyPr>
          <a:lstStyle/>
          <a:p>
            <a:r>
              <a:rPr lang="es-ES" sz="1200" dirty="0">
                <a:latin typeface="Avenir Next" panose="020B0503020202020204" pitchFamily="34" charset="0"/>
              </a:rPr>
              <a:t>G. Ferrareis</a:t>
            </a:r>
          </a:p>
        </p:txBody>
      </p:sp>
      <p:pic>
        <p:nvPicPr>
          <p:cNvPr id="1036" name="Picture 12">
            <a:extLst>
              <a:ext uri="{FF2B5EF4-FFF2-40B4-BE49-F238E27FC236}">
                <a16:creationId xmlns:a16="http://schemas.microsoft.com/office/drawing/2014/main" id="{8C8C8BAF-DE22-49DB-BC44-EBC45795EF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6383" y="4515256"/>
            <a:ext cx="271928" cy="169476"/>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12">
            <a:extLst>
              <a:ext uri="{FF2B5EF4-FFF2-40B4-BE49-F238E27FC236}">
                <a16:creationId xmlns:a16="http://schemas.microsoft.com/office/drawing/2014/main" id="{5E7AF7DD-163C-4044-9592-D0F64590DD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1163" y="4986099"/>
            <a:ext cx="271928" cy="169476"/>
          </a:xfrm>
          <a:prstGeom prst="rect">
            <a:avLst/>
          </a:prstGeom>
          <a:noFill/>
          <a:extLst>
            <a:ext uri="{909E8E84-426E-40DD-AFC4-6F175D3DCCD1}">
              <a14:hiddenFill xmlns:a14="http://schemas.microsoft.com/office/drawing/2010/main">
                <a:solidFill>
                  <a:srgbClr val="FFFFFF"/>
                </a:solidFill>
              </a14:hiddenFill>
            </a:ext>
          </a:extLst>
        </p:spPr>
      </p:pic>
      <p:sp>
        <p:nvSpPr>
          <p:cNvPr id="88" name="Rectángulo 87">
            <a:extLst>
              <a:ext uri="{FF2B5EF4-FFF2-40B4-BE49-F238E27FC236}">
                <a16:creationId xmlns:a16="http://schemas.microsoft.com/office/drawing/2014/main" id="{989081C7-D0F7-427E-AE4F-B0FEB89D173E}"/>
              </a:ext>
            </a:extLst>
          </p:cNvPr>
          <p:cNvSpPr/>
          <p:nvPr/>
        </p:nvSpPr>
        <p:spPr>
          <a:xfrm>
            <a:off x="5190671" y="3172822"/>
            <a:ext cx="822854" cy="276999"/>
          </a:xfrm>
          <a:prstGeom prst="rect">
            <a:avLst/>
          </a:prstGeom>
        </p:spPr>
        <p:txBody>
          <a:bodyPr wrap="none">
            <a:spAutoFit/>
          </a:bodyPr>
          <a:lstStyle/>
          <a:p>
            <a:r>
              <a:rPr lang="es-ES" sz="1200" dirty="0">
                <a:highlight>
                  <a:srgbClr val="FF0000"/>
                </a:highlight>
                <a:latin typeface="Avenir Next" panose="020B0503020202020204" pitchFamily="34" charset="0"/>
              </a:rPr>
              <a:t>E. Zaldívar</a:t>
            </a:r>
          </a:p>
        </p:txBody>
      </p:sp>
      <p:sp>
        <p:nvSpPr>
          <p:cNvPr id="89" name="Rectángulo 88">
            <a:extLst>
              <a:ext uri="{FF2B5EF4-FFF2-40B4-BE49-F238E27FC236}">
                <a16:creationId xmlns:a16="http://schemas.microsoft.com/office/drawing/2014/main" id="{C584D2B5-D3A1-43F1-8295-44A43579F6F2}"/>
              </a:ext>
            </a:extLst>
          </p:cNvPr>
          <p:cNvSpPr/>
          <p:nvPr/>
        </p:nvSpPr>
        <p:spPr>
          <a:xfrm>
            <a:off x="5178622" y="2996790"/>
            <a:ext cx="737702" cy="276999"/>
          </a:xfrm>
          <a:prstGeom prst="rect">
            <a:avLst/>
          </a:prstGeom>
        </p:spPr>
        <p:txBody>
          <a:bodyPr wrap="none">
            <a:spAutoFit/>
          </a:bodyPr>
          <a:lstStyle/>
          <a:p>
            <a:r>
              <a:rPr lang="es-ES" sz="1200" dirty="0">
                <a:latin typeface="Avenir Next" panose="020B0503020202020204" pitchFamily="34" charset="0"/>
              </a:rPr>
              <a:t>29 años</a:t>
            </a:r>
          </a:p>
        </p:txBody>
      </p:sp>
      <p:sp>
        <p:nvSpPr>
          <p:cNvPr id="90" name="Rectángulo 89">
            <a:extLst>
              <a:ext uri="{FF2B5EF4-FFF2-40B4-BE49-F238E27FC236}">
                <a16:creationId xmlns:a16="http://schemas.microsoft.com/office/drawing/2014/main" id="{2D20DCFD-DE9D-49A4-881C-D82E74A26921}"/>
              </a:ext>
            </a:extLst>
          </p:cNvPr>
          <p:cNvSpPr/>
          <p:nvPr/>
        </p:nvSpPr>
        <p:spPr>
          <a:xfrm>
            <a:off x="6616538" y="2634259"/>
            <a:ext cx="800155" cy="276999"/>
          </a:xfrm>
          <a:prstGeom prst="rect">
            <a:avLst/>
          </a:prstGeom>
        </p:spPr>
        <p:txBody>
          <a:bodyPr wrap="none">
            <a:spAutoFit/>
          </a:bodyPr>
          <a:lstStyle/>
          <a:p>
            <a:r>
              <a:rPr lang="es-ES" sz="1200" dirty="0">
                <a:latin typeface="Avenir Next" panose="020B0503020202020204" pitchFamily="34" charset="0"/>
              </a:rPr>
              <a:t>A. Rocha</a:t>
            </a:r>
          </a:p>
        </p:txBody>
      </p:sp>
      <p:sp>
        <p:nvSpPr>
          <p:cNvPr id="91" name="Rectángulo 90">
            <a:extLst>
              <a:ext uri="{FF2B5EF4-FFF2-40B4-BE49-F238E27FC236}">
                <a16:creationId xmlns:a16="http://schemas.microsoft.com/office/drawing/2014/main" id="{72E3F32F-E4C4-4C1D-8494-5B6B065403F6}"/>
              </a:ext>
            </a:extLst>
          </p:cNvPr>
          <p:cNvSpPr/>
          <p:nvPr/>
        </p:nvSpPr>
        <p:spPr>
          <a:xfrm>
            <a:off x="6611883" y="2452471"/>
            <a:ext cx="737702" cy="276999"/>
          </a:xfrm>
          <a:prstGeom prst="rect">
            <a:avLst/>
          </a:prstGeom>
        </p:spPr>
        <p:txBody>
          <a:bodyPr wrap="none">
            <a:spAutoFit/>
          </a:bodyPr>
          <a:lstStyle/>
          <a:p>
            <a:r>
              <a:rPr lang="es-ES" sz="1200" dirty="0">
                <a:latin typeface="Avenir Next" panose="020B0503020202020204" pitchFamily="34" charset="0"/>
              </a:rPr>
              <a:t>33 años</a:t>
            </a:r>
          </a:p>
        </p:txBody>
      </p:sp>
      <p:sp>
        <p:nvSpPr>
          <p:cNvPr id="92" name="Rectángulo 91">
            <a:extLst>
              <a:ext uri="{FF2B5EF4-FFF2-40B4-BE49-F238E27FC236}">
                <a16:creationId xmlns:a16="http://schemas.microsoft.com/office/drawing/2014/main" id="{B07B22EC-8284-406D-9C7F-8726F8F8F825}"/>
              </a:ext>
            </a:extLst>
          </p:cNvPr>
          <p:cNvSpPr/>
          <p:nvPr/>
        </p:nvSpPr>
        <p:spPr>
          <a:xfrm>
            <a:off x="7850260" y="2634598"/>
            <a:ext cx="636777" cy="276999"/>
          </a:xfrm>
          <a:prstGeom prst="rect">
            <a:avLst/>
          </a:prstGeom>
        </p:spPr>
        <p:txBody>
          <a:bodyPr wrap="none">
            <a:spAutoFit/>
          </a:bodyPr>
          <a:lstStyle/>
          <a:p>
            <a:r>
              <a:rPr lang="es-ES" sz="1200" dirty="0">
                <a:latin typeface="Avenir Next" panose="020B0503020202020204" pitchFamily="34" charset="0"/>
              </a:rPr>
              <a:t>V. Ríos</a:t>
            </a:r>
          </a:p>
        </p:txBody>
      </p:sp>
      <p:sp>
        <p:nvSpPr>
          <p:cNvPr id="93" name="Rectángulo 92">
            <a:extLst>
              <a:ext uri="{FF2B5EF4-FFF2-40B4-BE49-F238E27FC236}">
                <a16:creationId xmlns:a16="http://schemas.microsoft.com/office/drawing/2014/main" id="{A8CCF13A-2442-4D0E-9B94-215514957B3A}"/>
              </a:ext>
            </a:extLst>
          </p:cNvPr>
          <p:cNvSpPr/>
          <p:nvPr/>
        </p:nvSpPr>
        <p:spPr>
          <a:xfrm>
            <a:off x="7843555" y="2483854"/>
            <a:ext cx="737702" cy="276999"/>
          </a:xfrm>
          <a:prstGeom prst="rect">
            <a:avLst/>
          </a:prstGeom>
        </p:spPr>
        <p:txBody>
          <a:bodyPr wrap="none">
            <a:spAutoFit/>
          </a:bodyPr>
          <a:lstStyle/>
          <a:p>
            <a:r>
              <a:rPr lang="es-ES" sz="1200" dirty="0">
                <a:latin typeface="Avenir Next" panose="020B0503020202020204" pitchFamily="34" charset="0"/>
              </a:rPr>
              <a:t>22 años</a:t>
            </a:r>
          </a:p>
        </p:txBody>
      </p:sp>
      <p:sp>
        <p:nvSpPr>
          <p:cNvPr id="94" name="Rectángulo 93">
            <a:extLst>
              <a:ext uri="{FF2B5EF4-FFF2-40B4-BE49-F238E27FC236}">
                <a16:creationId xmlns:a16="http://schemas.microsoft.com/office/drawing/2014/main" id="{6E542DCA-566A-428D-852B-6DEBE7A0055E}"/>
              </a:ext>
            </a:extLst>
          </p:cNvPr>
          <p:cNvSpPr/>
          <p:nvPr/>
        </p:nvSpPr>
        <p:spPr>
          <a:xfrm>
            <a:off x="5175297" y="2595773"/>
            <a:ext cx="882614" cy="276999"/>
          </a:xfrm>
          <a:prstGeom prst="rect">
            <a:avLst/>
          </a:prstGeom>
        </p:spPr>
        <p:txBody>
          <a:bodyPr wrap="none">
            <a:spAutoFit/>
          </a:bodyPr>
          <a:lstStyle/>
          <a:p>
            <a:r>
              <a:rPr lang="es-ES" sz="1200" dirty="0">
                <a:latin typeface="Avenir Next" panose="020B0503020202020204" pitchFamily="34" charset="0"/>
              </a:rPr>
              <a:t>P. Ramírez</a:t>
            </a:r>
          </a:p>
        </p:txBody>
      </p:sp>
      <p:sp>
        <p:nvSpPr>
          <p:cNvPr id="95" name="Rectángulo 94">
            <a:extLst>
              <a:ext uri="{FF2B5EF4-FFF2-40B4-BE49-F238E27FC236}">
                <a16:creationId xmlns:a16="http://schemas.microsoft.com/office/drawing/2014/main" id="{BCD1DB5F-A7F9-44E0-B3AE-A23CCC48D943}"/>
              </a:ext>
            </a:extLst>
          </p:cNvPr>
          <p:cNvSpPr/>
          <p:nvPr/>
        </p:nvSpPr>
        <p:spPr>
          <a:xfrm>
            <a:off x="5168592" y="2445029"/>
            <a:ext cx="737702" cy="276999"/>
          </a:xfrm>
          <a:prstGeom prst="rect">
            <a:avLst/>
          </a:prstGeom>
        </p:spPr>
        <p:txBody>
          <a:bodyPr wrap="none">
            <a:spAutoFit/>
          </a:bodyPr>
          <a:lstStyle/>
          <a:p>
            <a:r>
              <a:rPr lang="es-ES" sz="1200" dirty="0">
                <a:latin typeface="Avenir Next" panose="020B0503020202020204" pitchFamily="34" charset="0"/>
              </a:rPr>
              <a:t>23 años</a:t>
            </a:r>
          </a:p>
        </p:txBody>
      </p:sp>
      <p:sp>
        <p:nvSpPr>
          <p:cNvPr id="96" name="Rectángulo 95">
            <a:extLst>
              <a:ext uri="{FF2B5EF4-FFF2-40B4-BE49-F238E27FC236}">
                <a16:creationId xmlns:a16="http://schemas.microsoft.com/office/drawing/2014/main" id="{600C1AB4-0B82-4005-9F86-6A422F580AD4}"/>
              </a:ext>
            </a:extLst>
          </p:cNvPr>
          <p:cNvSpPr/>
          <p:nvPr/>
        </p:nvSpPr>
        <p:spPr>
          <a:xfrm>
            <a:off x="9560474" y="1668165"/>
            <a:ext cx="737702" cy="276999"/>
          </a:xfrm>
          <a:prstGeom prst="rect">
            <a:avLst/>
          </a:prstGeom>
        </p:spPr>
        <p:txBody>
          <a:bodyPr wrap="none">
            <a:spAutoFit/>
          </a:bodyPr>
          <a:lstStyle/>
          <a:p>
            <a:r>
              <a:rPr lang="es-ES" sz="1200" dirty="0">
                <a:latin typeface="Avenir Next" panose="020B0503020202020204" pitchFamily="34" charset="0"/>
              </a:rPr>
              <a:t>23 años</a:t>
            </a:r>
          </a:p>
        </p:txBody>
      </p:sp>
      <p:sp>
        <p:nvSpPr>
          <p:cNvPr id="97" name="Rectángulo 96">
            <a:extLst>
              <a:ext uri="{FF2B5EF4-FFF2-40B4-BE49-F238E27FC236}">
                <a16:creationId xmlns:a16="http://schemas.microsoft.com/office/drawing/2014/main" id="{6EF74668-D104-4985-9632-A6DCAB8E815B}"/>
              </a:ext>
            </a:extLst>
          </p:cNvPr>
          <p:cNvSpPr/>
          <p:nvPr/>
        </p:nvSpPr>
        <p:spPr>
          <a:xfrm>
            <a:off x="9534054" y="1883173"/>
            <a:ext cx="1015856" cy="276999"/>
          </a:xfrm>
          <a:prstGeom prst="rect">
            <a:avLst/>
          </a:prstGeom>
        </p:spPr>
        <p:txBody>
          <a:bodyPr wrap="none">
            <a:spAutoFit/>
          </a:bodyPr>
          <a:lstStyle/>
          <a:p>
            <a:r>
              <a:rPr lang="es-ES" sz="1200" dirty="0">
                <a:highlight>
                  <a:srgbClr val="28CAE0"/>
                </a:highlight>
                <a:latin typeface="Avenir Next" panose="020B0503020202020204" pitchFamily="34" charset="0"/>
              </a:rPr>
              <a:t>D. González</a:t>
            </a:r>
          </a:p>
        </p:txBody>
      </p:sp>
      <p:sp>
        <p:nvSpPr>
          <p:cNvPr id="98" name="Rectángulo 97">
            <a:extLst>
              <a:ext uri="{FF2B5EF4-FFF2-40B4-BE49-F238E27FC236}">
                <a16:creationId xmlns:a16="http://schemas.microsoft.com/office/drawing/2014/main" id="{2C6F39DA-B2E7-432B-BE69-C4608FD75333}"/>
              </a:ext>
            </a:extLst>
          </p:cNvPr>
          <p:cNvSpPr/>
          <p:nvPr/>
        </p:nvSpPr>
        <p:spPr>
          <a:xfrm>
            <a:off x="9590875" y="2204063"/>
            <a:ext cx="737702" cy="276999"/>
          </a:xfrm>
          <a:prstGeom prst="rect">
            <a:avLst/>
          </a:prstGeom>
        </p:spPr>
        <p:txBody>
          <a:bodyPr wrap="none">
            <a:spAutoFit/>
          </a:bodyPr>
          <a:lstStyle/>
          <a:p>
            <a:r>
              <a:rPr lang="es-ES" sz="1200" dirty="0">
                <a:latin typeface="Avenir Next" panose="020B0503020202020204" pitchFamily="34" charset="0"/>
              </a:rPr>
              <a:t>29 años</a:t>
            </a:r>
          </a:p>
        </p:txBody>
      </p:sp>
      <p:sp>
        <p:nvSpPr>
          <p:cNvPr id="99" name="Rectángulo 98">
            <a:extLst>
              <a:ext uri="{FF2B5EF4-FFF2-40B4-BE49-F238E27FC236}">
                <a16:creationId xmlns:a16="http://schemas.microsoft.com/office/drawing/2014/main" id="{9210AFF7-E3BF-4BF5-86BB-D2DF49BCEA10}"/>
              </a:ext>
            </a:extLst>
          </p:cNvPr>
          <p:cNvSpPr/>
          <p:nvPr/>
        </p:nvSpPr>
        <p:spPr>
          <a:xfrm>
            <a:off x="9520022" y="2383497"/>
            <a:ext cx="847348" cy="276999"/>
          </a:xfrm>
          <a:prstGeom prst="rect">
            <a:avLst/>
          </a:prstGeom>
        </p:spPr>
        <p:txBody>
          <a:bodyPr wrap="none">
            <a:spAutoFit/>
          </a:bodyPr>
          <a:lstStyle/>
          <a:p>
            <a:r>
              <a:rPr lang="es-ES" sz="1200" dirty="0">
                <a:latin typeface="Avenir Next" panose="020B0503020202020204" pitchFamily="34" charset="0"/>
              </a:rPr>
              <a:t>M. García</a:t>
            </a:r>
          </a:p>
        </p:txBody>
      </p:sp>
      <p:pic>
        <p:nvPicPr>
          <p:cNvPr id="100" name="Picture 12">
            <a:extLst>
              <a:ext uri="{FF2B5EF4-FFF2-40B4-BE49-F238E27FC236}">
                <a16:creationId xmlns:a16="http://schemas.microsoft.com/office/drawing/2014/main" id="{B9F334B9-8B9E-4412-9E45-5EF96A9129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41351" y="2420005"/>
            <a:ext cx="271928" cy="16947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022F42BB-AE19-496B-83E2-301966EFE4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48266" y="1943949"/>
            <a:ext cx="269432" cy="148188"/>
          </a:xfrm>
          <a:prstGeom prst="rect">
            <a:avLst/>
          </a:prstGeom>
          <a:noFill/>
          <a:extLst>
            <a:ext uri="{909E8E84-426E-40DD-AFC4-6F175D3DCCD1}">
              <a14:hiddenFill xmlns:a14="http://schemas.microsoft.com/office/drawing/2010/main">
                <a:solidFill>
                  <a:srgbClr val="FFFFFF"/>
                </a:solidFill>
              </a14:hiddenFill>
            </a:ext>
          </a:extLst>
        </p:spPr>
      </p:pic>
      <p:sp>
        <p:nvSpPr>
          <p:cNvPr id="103" name="Rectángulo 102">
            <a:extLst>
              <a:ext uri="{FF2B5EF4-FFF2-40B4-BE49-F238E27FC236}">
                <a16:creationId xmlns:a16="http://schemas.microsoft.com/office/drawing/2014/main" id="{5154C5B6-1A99-45E9-A3B6-0C9EAE7D4DBA}"/>
              </a:ext>
            </a:extLst>
          </p:cNvPr>
          <p:cNvSpPr/>
          <p:nvPr/>
        </p:nvSpPr>
        <p:spPr>
          <a:xfrm>
            <a:off x="6654974" y="3202210"/>
            <a:ext cx="683392" cy="276999"/>
          </a:xfrm>
          <a:prstGeom prst="rect">
            <a:avLst/>
          </a:prstGeom>
        </p:spPr>
        <p:txBody>
          <a:bodyPr wrap="none">
            <a:spAutoFit/>
          </a:bodyPr>
          <a:lstStyle/>
          <a:p>
            <a:r>
              <a:rPr lang="es-ES" sz="1200" dirty="0">
                <a:highlight>
                  <a:srgbClr val="28CAE0"/>
                </a:highlight>
                <a:latin typeface="Avenir Next" panose="020B0503020202020204" pitchFamily="34" charset="0"/>
              </a:rPr>
              <a:t>A. Bass</a:t>
            </a:r>
          </a:p>
        </p:txBody>
      </p:sp>
      <p:sp>
        <p:nvSpPr>
          <p:cNvPr id="104" name="Rectángulo 103">
            <a:extLst>
              <a:ext uri="{FF2B5EF4-FFF2-40B4-BE49-F238E27FC236}">
                <a16:creationId xmlns:a16="http://schemas.microsoft.com/office/drawing/2014/main" id="{0607FD6C-72CB-4DEC-B21B-699E3FC27629}"/>
              </a:ext>
            </a:extLst>
          </p:cNvPr>
          <p:cNvSpPr/>
          <p:nvPr/>
        </p:nvSpPr>
        <p:spPr>
          <a:xfrm>
            <a:off x="6619428" y="3019628"/>
            <a:ext cx="737702" cy="276999"/>
          </a:xfrm>
          <a:prstGeom prst="rect">
            <a:avLst/>
          </a:prstGeom>
        </p:spPr>
        <p:txBody>
          <a:bodyPr wrap="none">
            <a:spAutoFit/>
          </a:bodyPr>
          <a:lstStyle/>
          <a:p>
            <a:r>
              <a:rPr lang="es-ES" sz="1200" dirty="0">
                <a:latin typeface="Avenir Next" panose="020B0503020202020204" pitchFamily="34" charset="0"/>
              </a:rPr>
              <a:t>24 años</a:t>
            </a:r>
          </a:p>
        </p:txBody>
      </p:sp>
      <p:sp>
        <p:nvSpPr>
          <p:cNvPr id="105" name="Rectángulo 104">
            <a:extLst>
              <a:ext uri="{FF2B5EF4-FFF2-40B4-BE49-F238E27FC236}">
                <a16:creationId xmlns:a16="http://schemas.microsoft.com/office/drawing/2014/main" id="{4AA129F1-1DE5-49FB-AD9F-B1C01AA31D0A}"/>
              </a:ext>
            </a:extLst>
          </p:cNvPr>
          <p:cNvSpPr/>
          <p:nvPr/>
        </p:nvSpPr>
        <p:spPr>
          <a:xfrm>
            <a:off x="6626640" y="1025217"/>
            <a:ext cx="737702" cy="276999"/>
          </a:xfrm>
          <a:prstGeom prst="rect">
            <a:avLst/>
          </a:prstGeom>
        </p:spPr>
        <p:txBody>
          <a:bodyPr wrap="none">
            <a:spAutoFit/>
          </a:bodyPr>
          <a:lstStyle/>
          <a:p>
            <a:r>
              <a:rPr lang="es-ES" sz="1200" dirty="0">
                <a:latin typeface="Avenir Next" panose="020B0503020202020204" pitchFamily="34" charset="0"/>
              </a:rPr>
              <a:t>31 años</a:t>
            </a:r>
          </a:p>
        </p:txBody>
      </p:sp>
      <p:sp>
        <p:nvSpPr>
          <p:cNvPr id="106" name="Rectángulo 105">
            <a:extLst>
              <a:ext uri="{FF2B5EF4-FFF2-40B4-BE49-F238E27FC236}">
                <a16:creationId xmlns:a16="http://schemas.microsoft.com/office/drawing/2014/main" id="{18D59A34-DA9E-4CF8-9978-7A0DB00026E5}"/>
              </a:ext>
            </a:extLst>
          </p:cNvPr>
          <p:cNvSpPr/>
          <p:nvPr/>
        </p:nvSpPr>
        <p:spPr>
          <a:xfrm>
            <a:off x="6626640" y="1168784"/>
            <a:ext cx="1013611" cy="276999"/>
          </a:xfrm>
          <a:prstGeom prst="rect">
            <a:avLst/>
          </a:prstGeom>
        </p:spPr>
        <p:txBody>
          <a:bodyPr wrap="none">
            <a:spAutoFit/>
          </a:bodyPr>
          <a:lstStyle/>
          <a:p>
            <a:r>
              <a:rPr lang="es-ES" sz="1200" dirty="0">
                <a:latin typeface="Avenir Next" panose="020B0503020202020204" pitchFamily="34" charset="0"/>
              </a:rPr>
              <a:t>A. González</a:t>
            </a:r>
          </a:p>
        </p:txBody>
      </p:sp>
      <p:sp>
        <p:nvSpPr>
          <p:cNvPr id="108" name="Rectángulo 107">
            <a:extLst>
              <a:ext uri="{FF2B5EF4-FFF2-40B4-BE49-F238E27FC236}">
                <a16:creationId xmlns:a16="http://schemas.microsoft.com/office/drawing/2014/main" id="{65F9A940-302F-41C7-B8B0-A01A6196EAD7}"/>
              </a:ext>
            </a:extLst>
          </p:cNvPr>
          <p:cNvSpPr/>
          <p:nvPr/>
        </p:nvSpPr>
        <p:spPr>
          <a:xfrm>
            <a:off x="6656833" y="1521342"/>
            <a:ext cx="737702" cy="276999"/>
          </a:xfrm>
          <a:prstGeom prst="rect">
            <a:avLst/>
          </a:prstGeom>
        </p:spPr>
        <p:txBody>
          <a:bodyPr wrap="none">
            <a:spAutoFit/>
          </a:bodyPr>
          <a:lstStyle/>
          <a:p>
            <a:r>
              <a:rPr lang="es-ES" sz="1200" dirty="0">
                <a:latin typeface="Avenir Next" panose="020B0503020202020204" pitchFamily="34" charset="0"/>
              </a:rPr>
              <a:t>29 años</a:t>
            </a:r>
          </a:p>
        </p:txBody>
      </p:sp>
      <p:sp>
        <p:nvSpPr>
          <p:cNvPr id="109" name="Rectángulo 108">
            <a:extLst>
              <a:ext uri="{FF2B5EF4-FFF2-40B4-BE49-F238E27FC236}">
                <a16:creationId xmlns:a16="http://schemas.microsoft.com/office/drawing/2014/main" id="{80CC7B29-EA0A-4D9B-BDDB-249E2E93C711}"/>
              </a:ext>
            </a:extLst>
          </p:cNvPr>
          <p:cNvSpPr/>
          <p:nvPr/>
        </p:nvSpPr>
        <p:spPr>
          <a:xfrm>
            <a:off x="6656833" y="1694328"/>
            <a:ext cx="738985" cy="276999"/>
          </a:xfrm>
          <a:prstGeom prst="rect">
            <a:avLst/>
          </a:prstGeom>
        </p:spPr>
        <p:txBody>
          <a:bodyPr wrap="none">
            <a:spAutoFit/>
          </a:bodyPr>
          <a:lstStyle/>
          <a:p>
            <a:r>
              <a:rPr lang="es-ES" sz="1200" dirty="0">
                <a:latin typeface="Avenir Next" panose="020B0503020202020204" pitchFamily="34" charset="0"/>
              </a:rPr>
              <a:t>G. Prete</a:t>
            </a:r>
          </a:p>
        </p:txBody>
      </p:sp>
      <p:sp>
        <p:nvSpPr>
          <p:cNvPr id="112" name="Rectángulo 111">
            <a:extLst>
              <a:ext uri="{FF2B5EF4-FFF2-40B4-BE49-F238E27FC236}">
                <a16:creationId xmlns:a16="http://schemas.microsoft.com/office/drawing/2014/main" id="{BED3B6C5-4634-43C5-8DE1-E1856061E0B4}"/>
              </a:ext>
            </a:extLst>
          </p:cNvPr>
          <p:cNvSpPr/>
          <p:nvPr/>
        </p:nvSpPr>
        <p:spPr>
          <a:xfrm>
            <a:off x="7203291" y="240055"/>
            <a:ext cx="737702" cy="276999"/>
          </a:xfrm>
          <a:prstGeom prst="rect">
            <a:avLst/>
          </a:prstGeom>
        </p:spPr>
        <p:txBody>
          <a:bodyPr wrap="none">
            <a:spAutoFit/>
          </a:bodyPr>
          <a:lstStyle/>
          <a:p>
            <a:r>
              <a:rPr lang="es-ES" sz="1200" dirty="0">
                <a:latin typeface="Avenir Next" panose="020B0503020202020204" pitchFamily="34" charset="0"/>
              </a:rPr>
              <a:t>28 años</a:t>
            </a:r>
          </a:p>
        </p:txBody>
      </p:sp>
      <p:sp>
        <p:nvSpPr>
          <p:cNvPr id="113" name="Rectángulo 112">
            <a:extLst>
              <a:ext uri="{FF2B5EF4-FFF2-40B4-BE49-F238E27FC236}">
                <a16:creationId xmlns:a16="http://schemas.microsoft.com/office/drawing/2014/main" id="{E5865303-4148-4B65-8F2B-621C84EC0B4B}"/>
              </a:ext>
            </a:extLst>
          </p:cNvPr>
          <p:cNvSpPr/>
          <p:nvPr/>
        </p:nvSpPr>
        <p:spPr>
          <a:xfrm>
            <a:off x="7203291" y="432058"/>
            <a:ext cx="1087092" cy="276999"/>
          </a:xfrm>
          <a:prstGeom prst="rect">
            <a:avLst/>
          </a:prstGeom>
        </p:spPr>
        <p:txBody>
          <a:bodyPr wrap="none">
            <a:spAutoFit/>
          </a:bodyPr>
          <a:lstStyle/>
          <a:p>
            <a:r>
              <a:rPr lang="es-ES" sz="1200" dirty="0">
                <a:highlight>
                  <a:srgbClr val="808080"/>
                </a:highlight>
                <a:latin typeface="Avenir Next" panose="020B0503020202020204" pitchFamily="34" charset="0"/>
              </a:rPr>
              <a:t>A. Rodríguez</a:t>
            </a:r>
          </a:p>
        </p:txBody>
      </p:sp>
      <p:pic>
        <p:nvPicPr>
          <p:cNvPr id="1040" name="Picture 16" descr="Bandera de Brasil - Wikipedia, la enciclopedia libre">
            <a:extLst>
              <a:ext uri="{FF2B5EF4-FFF2-40B4-BE49-F238E27FC236}">
                <a16:creationId xmlns:a16="http://schemas.microsoft.com/office/drawing/2014/main" id="{4ED93359-09B1-4949-ABB5-1C7199832B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2992" y="2990121"/>
            <a:ext cx="271928" cy="19034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Bandera de Uruguay - Wikipedia, la enciclopedia libre">
            <a:extLst>
              <a:ext uri="{FF2B5EF4-FFF2-40B4-BE49-F238E27FC236}">
                <a16:creationId xmlns:a16="http://schemas.microsoft.com/office/drawing/2014/main" id="{2961E9B0-A05A-494E-96A4-E0E5A0BD6C8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20030" y="495242"/>
            <a:ext cx="256297" cy="170997"/>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2">
            <a:extLst>
              <a:ext uri="{FF2B5EF4-FFF2-40B4-BE49-F238E27FC236}">
                <a16:creationId xmlns:a16="http://schemas.microsoft.com/office/drawing/2014/main" id="{FD52E8EF-894E-49F1-8BFF-9D667C6DEA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30490" y="1733444"/>
            <a:ext cx="271928" cy="169476"/>
          </a:xfrm>
          <a:prstGeom prst="rect">
            <a:avLst/>
          </a:prstGeom>
          <a:noFill/>
          <a:extLst>
            <a:ext uri="{909E8E84-426E-40DD-AFC4-6F175D3DCCD1}">
              <a14:hiddenFill xmlns:a14="http://schemas.microsoft.com/office/drawing/2010/main">
                <a:solidFill>
                  <a:srgbClr val="FFFFFF"/>
                </a:solidFill>
              </a14:hiddenFill>
            </a:ext>
          </a:extLst>
        </p:spPr>
      </p:pic>
      <p:sp>
        <p:nvSpPr>
          <p:cNvPr id="120" name="Rectángulo 119">
            <a:extLst>
              <a:ext uri="{FF2B5EF4-FFF2-40B4-BE49-F238E27FC236}">
                <a16:creationId xmlns:a16="http://schemas.microsoft.com/office/drawing/2014/main" id="{27DDA75A-983D-40C3-ADFA-FE28524F247D}"/>
              </a:ext>
            </a:extLst>
          </p:cNvPr>
          <p:cNvSpPr/>
          <p:nvPr/>
        </p:nvSpPr>
        <p:spPr>
          <a:xfrm>
            <a:off x="1517737" y="6319294"/>
            <a:ext cx="392415" cy="276999"/>
          </a:xfrm>
          <a:prstGeom prst="rect">
            <a:avLst/>
          </a:prstGeom>
        </p:spPr>
        <p:txBody>
          <a:bodyPr wrap="none">
            <a:spAutoFit/>
          </a:bodyPr>
          <a:lstStyle/>
          <a:p>
            <a:r>
              <a:rPr lang="es-ES" sz="1200" b="1" dirty="0">
                <a:latin typeface="Avenir Next" panose="020B0503020202020204" pitchFamily="34" charset="0"/>
              </a:rPr>
              <a:t>DT:</a:t>
            </a:r>
          </a:p>
        </p:txBody>
      </p:sp>
      <p:sp>
        <p:nvSpPr>
          <p:cNvPr id="121" name="Rectángulo 120">
            <a:extLst>
              <a:ext uri="{FF2B5EF4-FFF2-40B4-BE49-F238E27FC236}">
                <a16:creationId xmlns:a16="http://schemas.microsoft.com/office/drawing/2014/main" id="{0ADC1F02-50E1-44D4-82BE-0607B1B15080}"/>
              </a:ext>
            </a:extLst>
          </p:cNvPr>
          <p:cNvSpPr/>
          <p:nvPr/>
        </p:nvSpPr>
        <p:spPr>
          <a:xfrm>
            <a:off x="1529189" y="6473182"/>
            <a:ext cx="1438151" cy="276999"/>
          </a:xfrm>
          <a:prstGeom prst="rect">
            <a:avLst/>
          </a:prstGeom>
        </p:spPr>
        <p:txBody>
          <a:bodyPr wrap="square">
            <a:spAutoFit/>
          </a:bodyPr>
          <a:lstStyle/>
          <a:p>
            <a:r>
              <a:rPr lang="es-ES" sz="1200" dirty="0">
                <a:latin typeface="Avenir Next" panose="020B0503020202020204" pitchFamily="34" charset="0"/>
              </a:rPr>
              <a:t>Diego Cocca</a:t>
            </a:r>
          </a:p>
        </p:txBody>
      </p:sp>
      <p:pic>
        <p:nvPicPr>
          <p:cNvPr id="122" name="Picture 12">
            <a:extLst>
              <a:ext uri="{FF2B5EF4-FFF2-40B4-BE49-F238E27FC236}">
                <a16:creationId xmlns:a16="http://schemas.microsoft.com/office/drawing/2014/main" id="{94B6D250-514B-4176-A6EC-6C50F11BDD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2958" y="6369853"/>
            <a:ext cx="271928" cy="169476"/>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C6FD85F5-B8E2-4945-993C-0641021140ED}"/>
              </a:ext>
            </a:extLst>
          </p:cNvPr>
          <p:cNvSpPr/>
          <p:nvPr/>
        </p:nvSpPr>
        <p:spPr>
          <a:xfrm>
            <a:off x="96439" y="1066581"/>
            <a:ext cx="648130" cy="17177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24" name="Rectángulo 123">
            <a:extLst>
              <a:ext uri="{FF2B5EF4-FFF2-40B4-BE49-F238E27FC236}">
                <a16:creationId xmlns:a16="http://schemas.microsoft.com/office/drawing/2014/main" id="{9DA75511-9655-4026-B264-E75E8C350C89}"/>
              </a:ext>
            </a:extLst>
          </p:cNvPr>
          <p:cNvSpPr/>
          <p:nvPr/>
        </p:nvSpPr>
        <p:spPr>
          <a:xfrm>
            <a:off x="730550" y="980048"/>
            <a:ext cx="1913985" cy="461665"/>
          </a:xfrm>
          <a:prstGeom prst="rect">
            <a:avLst/>
          </a:prstGeom>
        </p:spPr>
        <p:txBody>
          <a:bodyPr wrap="none">
            <a:spAutoFit/>
          </a:bodyPr>
          <a:lstStyle/>
          <a:p>
            <a:r>
              <a:rPr lang="es-ES" sz="1200" dirty="0">
                <a:latin typeface="Avenir Next" panose="020B0503020202020204" pitchFamily="34" charset="0"/>
              </a:rPr>
              <a:t>Vencimiento de contrato</a:t>
            </a:r>
          </a:p>
          <a:p>
            <a:r>
              <a:rPr lang="es-ES" sz="1200" dirty="0">
                <a:latin typeface="Avenir Next" panose="020B0503020202020204" pitchFamily="34" charset="0"/>
              </a:rPr>
              <a:t>Clausura 2026</a:t>
            </a:r>
          </a:p>
        </p:txBody>
      </p:sp>
      <p:sp>
        <p:nvSpPr>
          <p:cNvPr id="125" name="Rectángulo 124">
            <a:extLst>
              <a:ext uri="{FF2B5EF4-FFF2-40B4-BE49-F238E27FC236}">
                <a16:creationId xmlns:a16="http://schemas.microsoft.com/office/drawing/2014/main" id="{7E46F011-C199-4B68-98D6-F455D07F1884}"/>
              </a:ext>
            </a:extLst>
          </p:cNvPr>
          <p:cNvSpPr/>
          <p:nvPr/>
        </p:nvSpPr>
        <p:spPr>
          <a:xfrm>
            <a:off x="93262" y="1505979"/>
            <a:ext cx="648130" cy="171773"/>
          </a:xfrm>
          <a:prstGeom prst="rect">
            <a:avLst/>
          </a:prstGeom>
          <a:solidFill>
            <a:srgbClr val="28CA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26" name="Rectángulo 125">
            <a:extLst>
              <a:ext uri="{FF2B5EF4-FFF2-40B4-BE49-F238E27FC236}">
                <a16:creationId xmlns:a16="http://schemas.microsoft.com/office/drawing/2014/main" id="{365ED4B6-C421-4E22-B545-84E8C15D7412}"/>
              </a:ext>
            </a:extLst>
          </p:cNvPr>
          <p:cNvSpPr/>
          <p:nvPr/>
        </p:nvSpPr>
        <p:spPr>
          <a:xfrm>
            <a:off x="766276" y="1464250"/>
            <a:ext cx="1580626" cy="276999"/>
          </a:xfrm>
          <a:prstGeom prst="rect">
            <a:avLst/>
          </a:prstGeom>
        </p:spPr>
        <p:txBody>
          <a:bodyPr wrap="none">
            <a:spAutoFit/>
          </a:bodyPr>
          <a:lstStyle/>
          <a:p>
            <a:r>
              <a:rPr lang="es-ES" sz="1200" dirty="0">
                <a:latin typeface="Avenir Next" panose="020B0503020202020204" pitchFamily="34" charset="0"/>
              </a:rPr>
              <a:t>Altas Clausura 2026</a:t>
            </a:r>
          </a:p>
        </p:txBody>
      </p:sp>
      <p:sp>
        <p:nvSpPr>
          <p:cNvPr id="127" name="Rectángulo 126">
            <a:extLst>
              <a:ext uri="{FF2B5EF4-FFF2-40B4-BE49-F238E27FC236}">
                <a16:creationId xmlns:a16="http://schemas.microsoft.com/office/drawing/2014/main" id="{3714B3FA-2422-40FE-B555-1B5FD7849378}"/>
              </a:ext>
            </a:extLst>
          </p:cNvPr>
          <p:cNvSpPr/>
          <p:nvPr/>
        </p:nvSpPr>
        <p:spPr>
          <a:xfrm>
            <a:off x="113279" y="1832314"/>
            <a:ext cx="648130" cy="171773"/>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28" name="Rectángulo 127">
            <a:extLst>
              <a:ext uri="{FF2B5EF4-FFF2-40B4-BE49-F238E27FC236}">
                <a16:creationId xmlns:a16="http://schemas.microsoft.com/office/drawing/2014/main" id="{B417329D-7252-461D-A313-74A5310D3747}"/>
              </a:ext>
            </a:extLst>
          </p:cNvPr>
          <p:cNvSpPr/>
          <p:nvPr/>
        </p:nvSpPr>
        <p:spPr>
          <a:xfrm>
            <a:off x="775700" y="1766575"/>
            <a:ext cx="907108" cy="276999"/>
          </a:xfrm>
          <a:prstGeom prst="rect">
            <a:avLst/>
          </a:prstGeom>
        </p:spPr>
        <p:txBody>
          <a:bodyPr wrap="none">
            <a:spAutoFit/>
          </a:bodyPr>
          <a:lstStyle/>
          <a:p>
            <a:r>
              <a:rPr lang="es-ES" sz="1200" dirty="0">
                <a:latin typeface="Avenir Next" panose="020B0503020202020204" pitchFamily="34" charset="0"/>
              </a:rPr>
              <a:t>Prestamos</a:t>
            </a:r>
          </a:p>
        </p:txBody>
      </p:sp>
      <p:sp>
        <p:nvSpPr>
          <p:cNvPr id="129" name="Rectángulo 128">
            <a:extLst>
              <a:ext uri="{FF2B5EF4-FFF2-40B4-BE49-F238E27FC236}">
                <a16:creationId xmlns:a16="http://schemas.microsoft.com/office/drawing/2014/main" id="{798B8D48-AD0A-4E5F-AAF4-5E1F98849C0B}"/>
              </a:ext>
            </a:extLst>
          </p:cNvPr>
          <p:cNvSpPr/>
          <p:nvPr/>
        </p:nvSpPr>
        <p:spPr>
          <a:xfrm>
            <a:off x="110179" y="2257829"/>
            <a:ext cx="648130" cy="171773"/>
          </a:xfrm>
          <a:prstGeom prst="rect">
            <a:avLst/>
          </a:prstGeom>
          <a:solidFill>
            <a:srgbClr val="53F11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30" name="Rectángulo 129">
            <a:extLst>
              <a:ext uri="{FF2B5EF4-FFF2-40B4-BE49-F238E27FC236}">
                <a16:creationId xmlns:a16="http://schemas.microsoft.com/office/drawing/2014/main" id="{C8B571A1-F733-49FA-940D-6E68AE589F79}"/>
              </a:ext>
            </a:extLst>
          </p:cNvPr>
          <p:cNvSpPr/>
          <p:nvPr/>
        </p:nvSpPr>
        <p:spPr>
          <a:xfrm>
            <a:off x="789142" y="2194660"/>
            <a:ext cx="1212191" cy="276999"/>
          </a:xfrm>
          <a:prstGeom prst="rect">
            <a:avLst/>
          </a:prstGeom>
        </p:spPr>
        <p:txBody>
          <a:bodyPr wrap="none">
            <a:spAutoFit/>
          </a:bodyPr>
          <a:lstStyle/>
          <a:p>
            <a:r>
              <a:rPr lang="es-ES" sz="1200" dirty="0">
                <a:latin typeface="Avenir Next" panose="020B0503020202020204" pitchFamily="34" charset="0"/>
              </a:rPr>
              <a:t>Santos Laguna</a:t>
            </a:r>
          </a:p>
        </p:txBody>
      </p:sp>
      <p:sp>
        <p:nvSpPr>
          <p:cNvPr id="132" name="Rectángulo 131">
            <a:extLst>
              <a:ext uri="{FF2B5EF4-FFF2-40B4-BE49-F238E27FC236}">
                <a16:creationId xmlns:a16="http://schemas.microsoft.com/office/drawing/2014/main" id="{18DFEA81-0A16-4D74-860B-15CA77949346}"/>
              </a:ext>
            </a:extLst>
          </p:cNvPr>
          <p:cNvSpPr/>
          <p:nvPr/>
        </p:nvSpPr>
        <p:spPr>
          <a:xfrm>
            <a:off x="8798608" y="6021845"/>
            <a:ext cx="2113079" cy="577081"/>
          </a:xfrm>
          <a:prstGeom prst="rect">
            <a:avLst/>
          </a:prstGeom>
        </p:spPr>
        <p:txBody>
          <a:bodyPr wrap="none">
            <a:spAutoFit/>
          </a:bodyPr>
          <a:lstStyle/>
          <a:p>
            <a:r>
              <a:rPr lang="es-MX" sz="1050" dirty="0">
                <a:latin typeface="Avenir Next" panose="020B0503020202020204" pitchFamily="34" charset="0"/>
              </a:rPr>
              <a:t>Pertenece a Rayados de Monterrey</a:t>
            </a:r>
          </a:p>
          <a:p>
            <a:r>
              <a:rPr lang="es-MX" sz="1050" dirty="0">
                <a:latin typeface="Avenir Next" panose="020B0503020202020204" pitchFamily="34" charset="0"/>
              </a:rPr>
              <a:t>Su préstamo con Atlas termina </a:t>
            </a:r>
          </a:p>
          <a:p>
            <a:r>
              <a:rPr lang="es-MX" sz="1050" dirty="0">
                <a:latin typeface="Avenir Next" panose="020B0503020202020204" pitchFamily="34" charset="0"/>
              </a:rPr>
              <a:t>el 01/07/2026</a:t>
            </a:r>
            <a:endParaRPr lang="es-ES" sz="1050" dirty="0">
              <a:latin typeface="Avenir Next" panose="020B0503020202020204" pitchFamily="34" charset="0"/>
            </a:endParaRPr>
          </a:p>
        </p:txBody>
      </p:sp>
      <p:sp>
        <p:nvSpPr>
          <p:cNvPr id="133" name="Rectángulo 132">
            <a:extLst>
              <a:ext uri="{FF2B5EF4-FFF2-40B4-BE49-F238E27FC236}">
                <a16:creationId xmlns:a16="http://schemas.microsoft.com/office/drawing/2014/main" id="{6A3DD757-B6C6-4845-ACED-EB2EB3B9E96D}"/>
              </a:ext>
            </a:extLst>
          </p:cNvPr>
          <p:cNvSpPr/>
          <p:nvPr/>
        </p:nvSpPr>
        <p:spPr>
          <a:xfrm>
            <a:off x="8838853" y="6058942"/>
            <a:ext cx="2406258" cy="5220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36" name="Rectángulo 135">
            <a:extLst>
              <a:ext uri="{FF2B5EF4-FFF2-40B4-BE49-F238E27FC236}">
                <a16:creationId xmlns:a16="http://schemas.microsoft.com/office/drawing/2014/main" id="{5DFAA146-DC29-4158-834D-5F6549E2D954}"/>
              </a:ext>
            </a:extLst>
          </p:cNvPr>
          <p:cNvSpPr/>
          <p:nvPr/>
        </p:nvSpPr>
        <p:spPr>
          <a:xfrm>
            <a:off x="8158375" y="218218"/>
            <a:ext cx="1864613" cy="577081"/>
          </a:xfrm>
          <a:prstGeom prst="rect">
            <a:avLst/>
          </a:prstGeom>
        </p:spPr>
        <p:txBody>
          <a:bodyPr wrap="none">
            <a:spAutoFit/>
          </a:bodyPr>
          <a:lstStyle/>
          <a:p>
            <a:r>
              <a:rPr lang="es-MX" sz="1050" dirty="0">
                <a:latin typeface="Avenir Next" panose="020B0503020202020204" pitchFamily="34" charset="0"/>
              </a:rPr>
              <a:t>Pertenece a CA Juventud</a:t>
            </a:r>
          </a:p>
          <a:p>
            <a:r>
              <a:rPr lang="es-MX" sz="1050" dirty="0">
                <a:latin typeface="Avenir Next" panose="020B0503020202020204" pitchFamily="34" charset="0"/>
              </a:rPr>
              <a:t>Su préstamo con Atlas termina</a:t>
            </a:r>
          </a:p>
          <a:p>
            <a:r>
              <a:rPr lang="es-MX" sz="1050" dirty="0">
                <a:latin typeface="Avenir Next" panose="020B0503020202020204" pitchFamily="34" charset="0"/>
              </a:rPr>
              <a:t>el  31/12/2026</a:t>
            </a:r>
            <a:endParaRPr lang="es-ES" sz="1050" dirty="0">
              <a:latin typeface="Avenir Next" panose="020B0503020202020204" pitchFamily="34" charset="0"/>
            </a:endParaRPr>
          </a:p>
        </p:txBody>
      </p:sp>
      <p:sp>
        <p:nvSpPr>
          <p:cNvPr id="137" name="Rectángulo 136">
            <a:extLst>
              <a:ext uri="{FF2B5EF4-FFF2-40B4-BE49-F238E27FC236}">
                <a16:creationId xmlns:a16="http://schemas.microsoft.com/office/drawing/2014/main" id="{71528DE9-B291-4DFC-9FA8-8941AC0AB8CB}"/>
              </a:ext>
            </a:extLst>
          </p:cNvPr>
          <p:cNvSpPr/>
          <p:nvPr/>
        </p:nvSpPr>
        <p:spPr>
          <a:xfrm>
            <a:off x="8196799" y="254357"/>
            <a:ext cx="2101818" cy="5220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highlight>
                <a:srgbClr val="FF0000"/>
              </a:highlight>
            </a:endParaRPr>
          </a:p>
        </p:txBody>
      </p:sp>
      <p:sp>
        <p:nvSpPr>
          <p:cNvPr id="139" name="Rectángulo 138">
            <a:extLst>
              <a:ext uri="{FF2B5EF4-FFF2-40B4-BE49-F238E27FC236}">
                <a16:creationId xmlns:a16="http://schemas.microsoft.com/office/drawing/2014/main" id="{7914BEFE-02B1-4538-ADB9-A9F57DDC773E}"/>
              </a:ext>
            </a:extLst>
          </p:cNvPr>
          <p:cNvSpPr/>
          <p:nvPr/>
        </p:nvSpPr>
        <p:spPr>
          <a:xfrm>
            <a:off x="5282127" y="251498"/>
            <a:ext cx="737702" cy="276999"/>
          </a:xfrm>
          <a:prstGeom prst="rect">
            <a:avLst/>
          </a:prstGeom>
        </p:spPr>
        <p:txBody>
          <a:bodyPr wrap="none">
            <a:spAutoFit/>
          </a:bodyPr>
          <a:lstStyle/>
          <a:p>
            <a:r>
              <a:rPr lang="es-ES" sz="1200" dirty="0">
                <a:latin typeface="Avenir Next" panose="020B0503020202020204" pitchFamily="34" charset="0"/>
              </a:rPr>
              <a:t>27 años</a:t>
            </a:r>
          </a:p>
        </p:txBody>
      </p:sp>
      <p:sp>
        <p:nvSpPr>
          <p:cNvPr id="140" name="Rectángulo 139">
            <a:extLst>
              <a:ext uri="{FF2B5EF4-FFF2-40B4-BE49-F238E27FC236}">
                <a16:creationId xmlns:a16="http://schemas.microsoft.com/office/drawing/2014/main" id="{ACDDDBBB-2B4C-4BF4-B5C8-A8F70DCC34E0}"/>
              </a:ext>
            </a:extLst>
          </p:cNvPr>
          <p:cNvSpPr/>
          <p:nvPr/>
        </p:nvSpPr>
        <p:spPr>
          <a:xfrm>
            <a:off x="5170186" y="461541"/>
            <a:ext cx="878254" cy="276999"/>
          </a:xfrm>
          <a:prstGeom prst="rect">
            <a:avLst/>
          </a:prstGeom>
        </p:spPr>
        <p:txBody>
          <a:bodyPr wrap="none">
            <a:spAutoFit/>
          </a:bodyPr>
          <a:lstStyle/>
          <a:p>
            <a:r>
              <a:rPr lang="es-ES" sz="1200" dirty="0">
                <a:highlight>
                  <a:srgbClr val="00FF00"/>
                </a:highlight>
                <a:latin typeface="Avenir Next" panose="020B0503020202020204" pitchFamily="34" charset="0"/>
              </a:rPr>
              <a:t>E. Aguirre</a:t>
            </a:r>
          </a:p>
        </p:txBody>
      </p:sp>
      <p:sp>
        <p:nvSpPr>
          <p:cNvPr id="142" name="Rectángulo 141">
            <a:extLst>
              <a:ext uri="{FF2B5EF4-FFF2-40B4-BE49-F238E27FC236}">
                <a16:creationId xmlns:a16="http://schemas.microsoft.com/office/drawing/2014/main" id="{D6F52AA3-5411-4AE8-BDC0-1C4A4CBB12C7}"/>
              </a:ext>
            </a:extLst>
          </p:cNvPr>
          <p:cNvSpPr/>
          <p:nvPr/>
        </p:nvSpPr>
        <p:spPr>
          <a:xfrm>
            <a:off x="-30724" y="2910386"/>
            <a:ext cx="2244525" cy="1138773"/>
          </a:xfrm>
          <a:prstGeom prst="rect">
            <a:avLst/>
          </a:prstGeom>
        </p:spPr>
        <p:txBody>
          <a:bodyPr wrap="none">
            <a:spAutoFit/>
          </a:bodyPr>
          <a:lstStyle/>
          <a:p>
            <a:r>
              <a:rPr lang="es-ES" sz="1200" u="sng" dirty="0">
                <a:latin typeface="Avenir Next" panose="020B0503020202020204" pitchFamily="34" charset="0"/>
              </a:rPr>
              <a:t>Jugadores Cedidos</a:t>
            </a:r>
          </a:p>
          <a:p>
            <a:endParaRPr lang="es-ES" sz="1200" dirty="0">
              <a:latin typeface="Avenir Next" panose="020B0503020202020204" pitchFamily="34" charset="0"/>
            </a:endParaRPr>
          </a:p>
          <a:p>
            <a:pPr marL="171450" indent="-171450" algn="just">
              <a:buFont typeface="Wingdings" panose="05000000000000000000" pitchFamily="2" charset="2"/>
              <a:buChar char="§"/>
            </a:pPr>
            <a:r>
              <a:rPr lang="es-ES" sz="1100" dirty="0">
                <a:latin typeface="Avenir Next" panose="020B0503020202020204" pitchFamily="34" charset="0"/>
              </a:rPr>
              <a:t>J. Caicedo (cedido al CA Huracán </a:t>
            </a:r>
          </a:p>
          <a:p>
            <a:pPr algn="just"/>
            <a:r>
              <a:rPr lang="es-ES" sz="1100" dirty="0">
                <a:latin typeface="Avenir Next" panose="020B0503020202020204" pitchFamily="34" charset="0"/>
              </a:rPr>
              <a:t>hasta el 31/12/2026)</a:t>
            </a:r>
          </a:p>
          <a:p>
            <a:pPr marL="171450" indent="-171450" algn="just">
              <a:buFont typeface="Wingdings" panose="05000000000000000000" pitchFamily="2" charset="2"/>
              <a:buChar char="§"/>
            </a:pPr>
            <a:r>
              <a:rPr lang="es-ES" sz="1100" dirty="0">
                <a:latin typeface="Avenir Next" panose="020B0503020202020204" pitchFamily="34" charset="0"/>
              </a:rPr>
              <a:t>A. Robles (cedido al Atl. La Paz</a:t>
            </a:r>
          </a:p>
          <a:p>
            <a:pPr algn="just"/>
            <a:r>
              <a:rPr lang="es-ES" sz="1100" dirty="0">
                <a:latin typeface="Avenir Next" panose="020B0503020202020204" pitchFamily="34" charset="0"/>
              </a:rPr>
              <a:t>hasta  el 31/12/2026)</a:t>
            </a:r>
          </a:p>
        </p:txBody>
      </p:sp>
      <p:pic>
        <p:nvPicPr>
          <p:cNvPr id="145" name="Picture 6" descr="Uniforme">
            <a:extLst>
              <a:ext uri="{FF2B5EF4-FFF2-40B4-BE49-F238E27FC236}">
                <a16:creationId xmlns:a16="http://schemas.microsoft.com/office/drawing/2014/main" id="{F0BF117B-8085-43F8-A226-9D5724B3E5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3594470" y="2245854"/>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6" descr="Uniforme">
            <a:extLst>
              <a:ext uri="{FF2B5EF4-FFF2-40B4-BE49-F238E27FC236}">
                <a16:creationId xmlns:a16="http://schemas.microsoft.com/office/drawing/2014/main" id="{CB4B7CDD-6929-413E-A739-A588B1E05E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273774" y="1045815"/>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6" descr="Uniforme">
            <a:extLst>
              <a:ext uri="{FF2B5EF4-FFF2-40B4-BE49-F238E27FC236}">
                <a16:creationId xmlns:a16="http://schemas.microsoft.com/office/drawing/2014/main" id="{94BE84BA-48D4-4B0B-842B-01578879D8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290366" y="1517344"/>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6" descr="Uniforme">
            <a:extLst>
              <a:ext uri="{FF2B5EF4-FFF2-40B4-BE49-F238E27FC236}">
                <a16:creationId xmlns:a16="http://schemas.microsoft.com/office/drawing/2014/main" id="{FD9EA3F6-B874-4CCC-AF57-BF27405F1E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4853680" y="2417380"/>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6" descr="Uniforme">
            <a:extLst>
              <a:ext uri="{FF2B5EF4-FFF2-40B4-BE49-F238E27FC236}">
                <a16:creationId xmlns:a16="http://schemas.microsoft.com/office/drawing/2014/main" id="{4FA07CF0-B61D-4B92-8299-680B6129E2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4853680" y="3030212"/>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6" descr="Uniforme">
            <a:extLst>
              <a:ext uri="{FF2B5EF4-FFF2-40B4-BE49-F238E27FC236}">
                <a16:creationId xmlns:a16="http://schemas.microsoft.com/office/drawing/2014/main" id="{AFF9EAD7-BC20-4CAD-A05B-4FAB4B38AB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266388" y="2416203"/>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6" descr="Uniforme">
            <a:extLst>
              <a:ext uri="{FF2B5EF4-FFF2-40B4-BE49-F238E27FC236}">
                <a16:creationId xmlns:a16="http://schemas.microsoft.com/office/drawing/2014/main" id="{ED14DF4D-59BC-4C3A-91EC-6AA3E42BE6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279251" y="2971323"/>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6" descr="Uniforme">
            <a:extLst>
              <a:ext uri="{FF2B5EF4-FFF2-40B4-BE49-F238E27FC236}">
                <a16:creationId xmlns:a16="http://schemas.microsoft.com/office/drawing/2014/main" id="{287D01DC-8BEA-4380-B31F-8FFFE0E6A6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9247708" y="1732795"/>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6" descr="Uniforme">
            <a:extLst>
              <a:ext uri="{FF2B5EF4-FFF2-40B4-BE49-F238E27FC236}">
                <a16:creationId xmlns:a16="http://schemas.microsoft.com/office/drawing/2014/main" id="{2D758843-A9AD-4FF5-9800-A4076AB97C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9264618" y="2216303"/>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6" descr="Uniforme">
            <a:extLst>
              <a:ext uri="{FF2B5EF4-FFF2-40B4-BE49-F238E27FC236}">
                <a16:creationId xmlns:a16="http://schemas.microsoft.com/office/drawing/2014/main" id="{DF9C14A6-B5FC-4900-92DC-FA5354D6B3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9275831" y="2787953"/>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6" descr="Uniforme">
            <a:extLst>
              <a:ext uri="{FF2B5EF4-FFF2-40B4-BE49-F238E27FC236}">
                <a16:creationId xmlns:a16="http://schemas.microsoft.com/office/drawing/2014/main" id="{ABFB4510-0E10-462C-BD21-2B0314AD234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5884448" y="231753"/>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6" descr="Uniforme">
            <a:extLst>
              <a:ext uri="{FF2B5EF4-FFF2-40B4-BE49-F238E27FC236}">
                <a16:creationId xmlns:a16="http://schemas.microsoft.com/office/drawing/2014/main" id="{D5A17AC3-1430-48F7-B050-7DD816FE3D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846444" y="254254"/>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58" name="Picture 6" descr="Uniforme">
            <a:extLst>
              <a:ext uri="{FF2B5EF4-FFF2-40B4-BE49-F238E27FC236}">
                <a16:creationId xmlns:a16="http://schemas.microsoft.com/office/drawing/2014/main" id="{E9AF2AEB-9E70-42D1-AD61-79996CCC62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4220216" y="4308169"/>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60" name="Picture 6" descr="Uniforme">
            <a:extLst>
              <a:ext uri="{FF2B5EF4-FFF2-40B4-BE49-F238E27FC236}">
                <a16:creationId xmlns:a16="http://schemas.microsoft.com/office/drawing/2014/main" id="{08BF9C61-216D-4A53-834C-AA59BD95280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4220216" y="4791295"/>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61" name="Picture 6" descr="Uniforme">
            <a:extLst>
              <a:ext uri="{FF2B5EF4-FFF2-40B4-BE49-F238E27FC236}">
                <a16:creationId xmlns:a16="http://schemas.microsoft.com/office/drawing/2014/main" id="{0E8A0828-6A09-4396-96A4-9D605CB153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6269332" y="4811355"/>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62" name="Picture 6" descr="Uniforme">
            <a:extLst>
              <a:ext uri="{FF2B5EF4-FFF2-40B4-BE49-F238E27FC236}">
                <a16:creationId xmlns:a16="http://schemas.microsoft.com/office/drawing/2014/main" id="{E4175C28-520C-4868-9710-58AB9B95ED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8131298" y="4308209"/>
            <a:ext cx="395271" cy="418293"/>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6" descr="Uniforme">
            <a:extLst>
              <a:ext uri="{FF2B5EF4-FFF2-40B4-BE49-F238E27FC236}">
                <a16:creationId xmlns:a16="http://schemas.microsoft.com/office/drawing/2014/main" id="{E4AB686E-EAE3-494D-947A-5653D6DA75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8165171" y="4802409"/>
            <a:ext cx="395271" cy="418293"/>
          </a:xfrm>
          <a:prstGeom prst="rect">
            <a:avLst/>
          </a:prstGeom>
          <a:noFill/>
          <a:extLst>
            <a:ext uri="{909E8E84-426E-40DD-AFC4-6F175D3DCCD1}">
              <a14:hiddenFill xmlns:a14="http://schemas.microsoft.com/office/drawing/2010/main">
                <a:solidFill>
                  <a:srgbClr val="FFFFFF"/>
                </a:solidFill>
              </a14:hiddenFill>
            </a:ext>
          </a:extLst>
        </p:spPr>
      </p:pic>
      <p:sp>
        <p:nvSpPr>
          <p:cNvPr id="165" name="Rectángulo 164">
            <a:extLst>
              <a:ext uri="{FF2B5EF4-FFF2-40B4-BE49-F238E27FC236}">
                <a16:creationId xmlns:a16="http://schemas.microsoft.com/office/drawing/2014/main" id="{F063D128-0FDC-465F-9BB3-B97A713C8B7F}"/>
              </a:ext>
            </a:extLst>
          </p:cNvPr>
          <p:cNvSpPr/>
          <p:nvPr/>
        </p:nvSpPr>
        <p:spPr>
          <a:xfrm>
            <a:off x="8515621" y="4953224"/>
            <a:ext cx="732829" cy="276999"/>
          </a:xfrm>
          <a:prstGeom prst="rect">
            <a:avLst/>
          </a:prstGeom>
        </p:spPr>
        <p:txBody>
          <a:bodyPr wrap="none">
            <a:spAutoFit/>
          </a:bodyPr>
          <a:lstStyle/>
          <a:p>
            <a:r>
              <a:rPr lang="es-ES" sz="1200" dirty="0">
                <a:latin typeface="Avenir Next" panose="020B0503020202020204" pitchFamily="34" charset="0"/>
              </a:rPr>
              <a:t>A. Mora</a:t>
            </a:r>
          </a:p>
        </p:txBody>
      </p:sp>
      <p:sp>
        <p:nvSpPr>
          <p:cNvPr id="166" name="Rectángulo 165">
            <a:extLst>
              <a:ext uri="{FF2B5EF4-FFF2-40B4-BE49-F238E27FC236}">
                <a16:creationId xmlns:a16="http://schemas.microsoft.com/office/drawing/2014/main" id="{EA251F02-3CE5-4671-BAB7-2FBD67EA719E}"/>
              </a:ext>
            </a:extLst>
          </p:cNvPr>
          <p:cNvSpPr/>
          <p:nvPr/>
        </p:nvSpPr>
        <p:spPr>
          <a:xfrm>
            <a:off x="8510330" y="4788483"/>
            <a:ext cx="737702" cy="276999"/>
          </a:xfrm>
          <a:prstGeom prst="rect">
            <a:avLst/>
          </a:prstGeom>
        </p:spPr>
        <p:txBody>
          <a:bodyPr wrap="none">
            <a:spAutoFit/>
          </a:bodyPr>
          <a:lstStyle/>
          <a:p>
            <a:r>
              <a:rPr lang="es-ES" sz="1200" dirty="0">
                <a:latin typeface="Avenir Next" panose="020B0503020202020204" pitchFamily="34" charset="0"/>
              </a:rPr>
              <a:t>28 años</a:t>
            </a:r>
          </a:p>
        </p:txBody>
      </p:sp>
      <p:pic>
        <p:nvPicPr>
          <p:cNvPr id="169" name="Picture 8">
            <a:extLst>
              <a:ext uri="{FF2B5EF4-FFF2-40B4-BE49-F238E27FC236}">
                <a16:creationId xmlns:a16="http://schemas.microsoft.com/office/drawing/2014/main" id="{19B37E29-5F37-449A-A531-1A0DA8CCFC5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070" r="23708" b="41413"/>
          <a:stretch/>
        </p:blipFill>
        <p:spPr bwMode="auto">
          <a:xfrm>
            <a:off x="6709595" y="5789360"/>
            <a:ext cx="395272" cy="438306"/>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8">
            <a:extLst>
              <a:ext uri="{FF2B5EF4-FFF2-40B4-BE49-F238E27FC236}">
                <a16:creationId xmlns:a16="http://schemas.microsoft.com/office/drawing/2014/main" id="{8EE6882E-A889-44DF-A09F-9E85E12C49E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070" r="23708" b="41413"/>
          <a:stretch/>
        </p:blipFill>
        <p:spPr bwMode="auto">
          <a:xfrm>
            <a:off x="8290387" y="5811487"/>
            <a:ext cx="395272" cy="438306"/>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6" descr="Uniforme">
            <a:extLst>
              <a:ext uri="{FF2B5EF4-FFF2-40B4-BE49-F238E27FC236}">
                <a16:creationId xmlns:a16="http://schemas.microsoft.com/office/drawing/2014/main" id="{0B531430-4256-4BEB-87A5-2D42820B245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7" r="22362" b="41877"/>
          <a:stretch/>
        </p:blipFill>
        <p:spPr bwMode="auto">
          <a:xfrm>
            <a:off x="7500427" y="2413206"/>
            <a:ext cx="395271" cy="418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2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453B-D66C-E7B8-C39C-6B0A5073EBA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BDA7AE53-B00C-E26E-8F42-1EFC35116A28}"/>
              </a:ext>
            </a:extLst>
          </p:cNvPr>
          <p:cNvSpPr/>
          <p:nvPr/>
        </p:nvSpPr>
        <p:spPr>
          <a:xfrm>
            <a:off x="0" y="0"/>
            <a:ext cx="12192000" cy="914400"/>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9E417221-CACF-EE26-65B8-162A19237CC8}"/>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E2B79E26-9E13-1142-2DF2-94A3A9BEAA3A}"/>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Primer Equipo Varonil</a:t>
            </a:r>
            <a:endParaRPr lang="en-US" sz="3200" b="1" dirty="0">
              <a:solidFill>
                <a:schemeClr val="bg1"/>
              </a:solidFill>
            </a:endParaRPr>
          </a:p>
        </p:txBody>
      </p:sp>
      <p:sp>
        <p:nvSpPr>
          <p:cNvPr id="2" name="TextBox 1">
            <a:extLst>
              <a:ext uri="{FF2B5EF4-FFF2-40B4-BE49-F238E27FC236}">
                <a16:creationId xmlns:a16="http://schemas.microsoft.com/office/drawing/2014/main" id="{AB819E1C-A3F6-1199-8C6E-DCAEC5EC55E4}"/>
              </a:ext>
            </a:extLst>
          </p:cNvPr>
          <p:cNvSpPr txBox="1"/>
          <p:nvPr/>
        </p:nvSpPr>
        <p:spPr>
          <a:xfrm>
            <a:off x="212651" y="966243"/>
            <a:ext cx="11828954" cy="5855449"/>
          </a:xfrm>
          <a:prstGeom prst="rect">
            <a:avLst/>
          </a:prstGeom>
          <a:noFill/>
        </p:spPr>
        <p:txBody>
          <a:bodyPr wrap="square">
            <a:spAutoFit/>
          </a:bodyPr>
          <a:lstStyle/>
          <a:p>
            <a:r>
              <a:rPr lang="en-US" sz="1600" b="1" dirty="0" err="1">
                <a:solidFill>
                  <a:srgbClr val="C3270D"/>
                </a:solidFill>
                <a:latin typeface="Calibri" panose="020F0502020204030204" pitchFamily="34" charset="0"/>
                <a:cs typeface="Calibri" panose="020F0502020204030204" pitchFamily="34" charset="0"/>
              </a:rPr>
              <a:t>Plantel</a:t>
            </a:r>
            <a:r>
              <a:rPr lang="en-US" sz="1600" b="1" dirty="0">
                <a:solidFill>
                  <a:srgbClr val="C3270D"/>
                </a:solidFill>
                <a:latin typeface="Calibri" panose="020F0502020204030204" pitchFamily="34" charset="0"/>
                <a:cs typeface="Calibri" panose="020F0502020204030204" pitchFamily="34" charset="0"/>
              </a:rPr>
              <a:t> Actual</a:t>
            </a:r>
          </a:p>
          <a:p>
            <a:endParaRPr lang="en-US" sz="1050" b="1" dirty="0">
              <a:solidFill>
                <a:srgbClr val="C3270D"/>
              </a:solidFill>
              <a:latin typeface="Calibri" panose="020F0502020204030204" pitchFamily="34" charset="0"/>
              <a:cs typeface="Calibri" panose="020F0502020204030204" pitchFamily="34" charset="0"/>
            </a:endParaRPr>
          </a:p>
          <a:p>
            <a:pPr marL="285750" indent="-285750">
              <a:buFont typeface="Wingdings" pitchFamily="2" charset="2"/>
              <a:buChar char="§"/>
            </a:pPr>
            <a:r>
              <a:rPr lang="en-US" sz="1200" dirty="0">
                <a:latin typeface="Calibri" panose="020F0502020204030204" pitchFamily="34" charset="0"/>
                <a:cs typeface="Calibri" panose="020F0502020204030204" pitchFamily="34" charset="0"/>
              </a:rPr>
              <a:t>Hay un </a:t>
            </a:r>
            <a:r>
              <a:rPr lang="en-US" sz="1200" dirty="0" err="1">
                <a:latin typeface="Calibri" panose="020F0502020204030204" pitchFamily="34" charset="0"/>
                <a:cs typeface="Calibri" panose="020F0502020204030204" pitchFamily="34" charset="0"/>
              </a:rPr>
              <a:t>rompimiento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marcado</a:t>
            </a:r>
            <a:r>
              <a:rPr lang="en-US" sz="1200" dirty="0">
                <a:latin typeface="Calibri" panose="020F0502020204030204" pitchFamily="34" charset="0"/>
                <a:cs typeface="Calibri" panose="020F0502020204030204" pitchFamily="34" charset="0"/>
              </a:rPr>
              <a:t> entre </a:t>
            </a:r>
            <a:r>
              <a:rPr lang="en-US" sz="1200" dirty="0" err="1">
                <a:latin typeface="Calibri" panose="020F0502020204030204" pitchFamily="34" charset="0"/>
                <a:cs typeface="Calibri" panose="020F0502020204030204" pitchFamily="34" charset="0"/>
              </a:rPr>
              <a:t>los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capitanes</a:t>
            </a:r>
            <a:r>
              <a:rPr lang="en-US" sz="1200" dirty="0">
                <a:latin typeface="Calibri" panose="020F0502020204030204" pitchFamily="34" charset="0"/>
                <a:cs typeface="Calibri" panose="020F0502020204030204" pitchFamily="34" charset="0"/>
              </a:rPr>
              <a:t> </a:t>
            </a:r>
            <a:r>
              <a:rPr lang="en-US" sz="1200" b="1" dirty="0">
                <a:latin typeface="Calibri" panose="020F0502020204030204" pitchFamily="34" charset="0"/>
                <a:cs typeface="Calibri" panose="020F0502020204030204" pitchFamily="34" charset="0"/>
              </a:rPr>
              <a:t>Aldo Rocha y Camilo Vargas </a:t>
            </a:r>
            <a:r>
              <a:rPr lang="en-US" sz="1200" b="1" dirty="0" err="1">
                <a:latin typeface="Calibri" panose="020F0502020204030204" pitchFamily="34" charset="0"/>
                <a:cs typeface="Calibri" panose="020F0502020204030204" pitchFamily="34" charset="0"/>
              </a:rPr>
              <a:t>esto</a:t>
            </a:r>
            <a:r>
              <a:rPr lang="en-US" sz="1200" b="1" dirty="0">
                <a:latin typeface="Calibri" panose="020F0502020204030204" pitchFamily="34" charset="0"/>
                <a:cs typeface="Calibri" panose="020F0502020204030204" pitchFamily="34" charset="0"/>
              </a:rPr>
              <a:t> es </a:t>
            </a:r>
            <a:r>
              <a:rPr lang="en-US" sz="1200" b="1" dirty="0" err="1">
                <a:latin typeface="Calibri" panose="020F0502020204030204" pitchFamily="34" charset="0"/>
                <a:cs typeface="Calibri" panose="020F0502020204030204" pitchFamily="34" charset="0"/>
              </a:rPr>
              <a:t>reciente</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el</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torneo</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pasado</a:t>
            </a:r>
            <a:r>
              <a:rPr lang="en-US" sz="1200" b="1" dirty="0">
                <a:latin typeface="Calibri" panose="020F0502020204030204" pitchFamily="34" charset="0"/>
                <a:cs typeface="Calibri" panose="020F0502020204030204" pitchFamily="34" charset="0"/>
              </a:rPr>
              <a:t> no</a:t>
            </a:r>
            <a:r>
              <a:rPr lang="en-US" sz="1200" dirty="0">
                <a:latin typeface="Calibri" panose="020F0502020204030204" pitchFamily="34" charset="0"/>
                <a:cs typeface="Calibri" panose="020F0502020204030204" pitchFamily="34" charset="0"/>
              </a:rPr>
              <a:t>. El </a:t>
            </a:r>
            <a:r>
              <a:rPr lang="en-US" sz="1200" dirty="0" err="1">
                <a:latin typeface="Calibri" panose="020F0502020204030204" pitchFamily="34" charset="0"/>
                <a:cs typeface="Calibri" panose="020F0502020204030204" pitchFamily="34" charset="0"/>
              </a:rPr>
              <a:t>equipo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sigue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mucho</a:t>
            </a:r>
            <a:r>
              <a:rPr lang="en-US" sz="1200" dirty="0">
                <a:latin typeface="Calibri" panose="020F0502020204030204" pitchFamily="34" charset="0"/>
                <a:cs typeface="Calibri" panose="020F0502020204030204" pitchFamily="34" charset="0"/>
              </a:rPr>
              <a:t> a Aldo.</a:t>
            </a: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Camilo Vargas: </a:t>
            </a:r>
            <a:r>
              <a:rPr lang="en-US" sz="1200" dirty="0">
                <a:latin typeface="Calibri" panose="020F0502020204030204" pitchFamily="34" charset="0"/>
                <a:cs typeface="Calibri" panose="020F0502020204030204" pitchFamily="34" charset="0"/>
              </a:rPr>
              <a:t>NO es un </a:t>
            </a:r>
            <a:r>
              <a:rPr lang="en-US" sz="1200" dirty="0" err="1">
                <a:latin typeface="Calibri" panose="020F0502020204030204" pitchFamily="34" charset="0"/>
                <a:cs typeface="Calibri" panose="020F0502020204030204" pitchFamily="34" charset="0"/>
              </a:rPr>
              <a:t>lider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vestidor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como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parece</a:t>
            </a:r>
            <a:r>
              <a:rPr lang="en-US" sz="1200" dirty="0">
                <a:latin typeface="Calibri" panose="020F0502020204030204" pitchFamily="34" charset="0"/>
                <a:cs typeface="Calibri" panose="020F0502020204030204" pitchFamily="34" charset="0"/>
              </a:rPr>
              <a:t>, le </a:t>
            </a:r>
            <a:r>
              <a:rPr lang="en-US" sz="1200" dirty="0" err="1">
                <a:latin typeface="Calibri" panose="020F0502020204030204" pitchFamily="34" charset="0"/>
                <a:cs typeface="Calibri" panose="020F0502020204030204" pitchFamily="34" charset="0"/>
              </a:rPr>
              <a:t>gusta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mucho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su</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espacio</a:t>
            </a:r>
            <a:r>
              <a:rPr lang="en-US" sz="1200" dirty="0">
                <a:latin typeface="Calibri" panose="020F0502020204030204" pitchFamily="34" charset="0"/>
                <a:cs typeface="Calibri" panose="020F0502020204030204" pitchFamily="34" charset="0"/>
              </a:rPr>
              <a:t>. </a:t>
            </a:r>
            <a:r>
              <a:rPr lang="en-US" sz="1200" b="1" dirty="0">
                <a:latin typeface="Calibri" panose="020F0502020204030204" pitchFamily="34" charset="0"/>
                <a:cs typeface="Calibri" panose="020F0502020204030204" pitchFamily="34" charset="0"/>
              </a:rPr>
              <a:t>Da la </a:t>
            </a:r>
            <a:r>
              <a:rPr lang="en-US" sz="1200" b="1" dirty="0" err="1">
                <a:latin typeface="Calibri" panose="020F0502020204030204" pitchFamily="34" charset="0"/>
                <a:cs typeface="Calibri" panose="020F0502020204030204" pitchFamily="34" charset="0"/>
              </a:rPr>
              <a:t>oración</a:t>
            </a:r>
            <a:r>
              <a:rPr lang="en-US" sz="1200" b="1" dirty="0">
                <a:latin typeface="Calibri" panose="020F0502020204030204" pitchFamily="34" charset="0"/>
                <a:cs typeface="Calibri" panose="020F0502020204030204" pitchFamily="34" charset="0"/>
              </a:rPr>
              <a:t> antes de </a:t>
            </a:r>
            <a:r>
              <a:rPr lang="en-US" sz="1200" b="1" dirty="0" err="1">
                <a:latin typeface="Calibri" panose="020F0502020204030204" pitchFamily="34" charset="0"/>
                <a:cs typeface="Calibri" panose="020F0502020204030204" pitchFamily="34" charset="0"/>
              </a:rPr>
              <a:t>los</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partidos</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pero</a:t>
            </a:r>
            <a:r>
              <a:rPr lang="en-US" sz="1200" b="1" dirty="0">
                <a:latin typeface="Calibri" panose="020F0502020204030204" pitchFamily="34" charset="0"/>
                <a:cs typeface="Calibri" panose="020F0502020204030204" pitchFamily="34" charset="0"/>
              </a:rPr>
              <a:t> no es </a:t>
            </a:r>
            <a:r>
              <a:rPr lang="en-US" sz="1200" b="1" dirty="0" err="1">
                <a:latin typeface="Calibri" panose="020F0502020204030204" pitchFamily="34" charset="0"/>
                <a:cs typeface="Calibri" panose="020F0502020204030204" pitchFamily="34" charset="0"/>
              </a:rPr>
              <a:t>el</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lider</a:t>
            </a:r>
            <a:r>
              <a:rPr lang="en-US" sz="1200" b="1" dirty="0">
                <a:latin typeface="Calibri" panose="020F0502020204030204" pitchFamily="34" charset="0"/>
                <a:cs typeface="Calibri" panose="020F0502020204030204" pitchFamily="34" charset="0"/>
              </a:rPr>
              <a:t> del </a:t>
            </a:r>
            <a:r>
              <a:rPr lang="en-US" sz="1200" b="1" dirty="0" err="1">
                <a:latin typeface="Calibri" panose="020F0502020204030204" pitchFamily="34" charset="0"/>
                <a:cs typeface="Calibri" panose="020F0502020204030204" pitchFamily="34" charset="0"/>
              </a:rPr>
              <a:t>grupo</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como</a:t>
            </a:r>
            <a:r>
              <a:rPr lang="en-US" sz="1200" b="1" dirty="0">
                <a:latin typeface="Calibri" panose="020F0502020204030204" pitchFamily="34" charset="0"/>
                <a:cs typeface="Calibri" panose="020F0502020204030204" pitchFamily="34" charset="0"/>
              </a:rPr>
              <a:t> </a:t>
            </a:r>
            <a:r>
              <a:rPr lang="en-US" sz="1200" b="1" dirty="0" err="1">
                <a:latin typeface="Calibri" panose="020F0502020204030204" pitchFamily="34" charset="0"/>
                <a:cs typeface="Calibri" panose="020F0502020204030204" pitchFamily="34" charset="0"/>
              </a:rPr>
              <a:t>tal</a:t>
            </a:r>
            <a:r>
              <a:rPr lang="en-US" sz="1200" b="1" dirty="0">
                <a:latin typeface="Calibri" panose="020F0502020204030204" pitchFamily="34" charset="0"/>
                <a:cs typeface="Calibri" panose="020F0502020204030204" pitchFamily="34" charset="0"/>
              </a:rPr>
              <a:t>.</a:t>
            </a:r>
            <a:endParaRPr lang="en-US" sz="12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Diego González </a:t>
            </a:r>
            <a:r>
              <a:rPr lang="en-US" sz="1200" dirty="0" err="1">
                <a:latin typeface="Calibri" panose="020F0502020204030204" pitchFamily="34" charset="0"/>
                <a:cs typeface="Calibri" panose="020F0502020204030204" pitchFamily="34" charset="0"/>
              </a:rPr>
              <a:t>tiene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opción</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compra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50%,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otro</a:t>
            </a:r>
            <a:r>
              <a:rPr lang="en-US" sz="1200" dirty="0">
                <a:latin typeface="Calibri" panose="020F0502020204030204" pitchFamily="34" charset="0"/>
                <a:cs typeface="Calibri" panose="020F0502020204030204" pitchFamily="34" charset="0"/>
              </a:rPr>
              <a:t> 50% es de Barone (</a:t>
            </a:r>
            <a:r>
              <a:rPr lang="en-US" sz="1200" dirty="0" err="1">
                <a:latin typeface="Calibri" panose="020F0502020204030204" pitchFamily="34" charset="0"/>
                <a:cs typeface="Calibri" panose="020F0502020204030204" pitchFamily="34" charset="0"/>
              </a:rPr>
              <a:t>los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dueños</a:t>
            </a:r>
            <a:r>
              <a:rPr lang="en-US" sz="1200" dirty="0">
                <a:latin typeface="Calibri" panose="020F0502020204030204" pitchFamily="34" charset="0"/>
                <a:cs typeface="Calibri" panose="020F0502020204030204" pitchFamily="34" charset="0"/>
              </a:rPr>
              <a:t> del Celaya y </a:t>
            </a:r>
            <a:r>
              <a:rPr lang="en-US" sz="1200" dirty="0" err="1">
                <a:latin typeface="Calibri" panose="020F0502020204030204" pitchFamily="34" charset="0"/>
                <a:cs typeface="Calibri" panose="020F0502020204030204" pitchFamily="34" charset="0"/>
              </a:rPr>
              <a:t>agentes</a:t>
            </a:r>
            <a:r>
              <a:rPr lang="en-US" sz="1200" dirty="0">
                <a:latin typeface="Calibri" panose="020F0502020204030204" pitchFamily="34" charset="0"/>
                <a:cs typeface="Calibri" panose="020F0502020204030204" pitchFamily="34" charset="0"/>
              </a:rPr>
              <a:t>) Lucas Domenech)</a:t>
            </a: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Adrian Mora </a:t>
            </a:r>
            <a:r>
              <a:rPr lang="en-US" sz="1200" dirty="0">
                <a:latin typeface="Calibri" panose="020F0502020204030204" pitchFamily="34" charset="0"/>
                <a:cs typeface="Calibri" panose="020F0502020204030204" pitchFamily="34" charset="0"/>
              </a:rPr>
              <a:t>es </a:t>
            </a:r>
            <a:r>
              <a:rPr lang="en-US" sz="1200" dirty="0" err="1">
                <a:latin typeface="Calibri" panose="020F0502020204030204" pitchFamily="34" charset="0"/>
                <a:cs typeface="Calibri" panose="020F0502020204030204" pitchFamily="34" charset="0"/>
              </a:rPr>
              <a:t>representado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por</a:t>
            </a:r>
            <a:r>
              <a:rPr lang="en-US" sz="1200" dirty="0">
                <a:latin typeface="Calibri" panose="020F0502020204030204" pitchFamily="34" charset="0"/>
                <a:cs typeface="Calibri" panose="020F0502020204030204" pitchFamily="34" charset="0"/>
              </a:rPr>
              <a:t> Matias Bunge y </a:t>
            </a:r>
            <a:r>
              <a:rPr lang="en-US" sz="1200" dirty="0" err="1">
                <a:latin typeface="Calibri" panose="020F0502020204030204" pitchFamily="34" charset="0"/>
                <a:cs typeface="Calibri" panose="020F0502020204030204" pitchFamily="34" charset="0"/>
              </a:rPr>
              <a:t>está</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liquidado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su</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pase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fue</a:t>
            </a:r>
            <a:r>
              <a:rPr lang="en-US" sz="1200" dirty="0">
                <a:latin typeface="Calibri" panose="020F0502020204030204" pitchFamily="34" charset="0"/>
                <a:cs typeface="Calibri" panose="020F0502020204030204" pitchFamily="34" charset="0"/>
              </a:rPr>
              <a:t> comprador a Toluca)</a:t>
            </a: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Manuel Capasso </a:t>
            </a:r>
            <a:r>
              <a:rPr lang="en-US" sz="1200" dirty="0" err="1">
                <a:latin typeface="Calibri" panose="020F0502020204030204" pitchFamily="34" charset="0"/>
                <a:cs typeface="Calibri" panose="020F0502020204030204" pitchFamily="34" charset="0"/>
              </a:rPr>
              <a:t>llegó</a:t>
            </a:r>
            <a:r>
              <a:rPr lang="en-US" sz="1200" dirty="0">
                <a:latin typeface="Calibri" panose="020F0502020204030204" pitchFamily="34" charset="0"/>
                <a:cs typeface="Calibri" panose="020F0502020204030204" pitchFamily="34" charset="0"/>
              </a:rPr>
              <a:t> libre de Olimpia (</a:t>
            </a:r>
            <a:r>
              <a:rPr lang="en-US" sz="1200" dirty="0" err="1">
                <a:latin typeface="Calibri" panose="020F0502020204030204" pitchFamily="34" charset="0"/>
                <a:cs typeface="Calibri" panose="020F0502020204030204" pitchFamily="34" charset="0"/>
              </a:rPr>
              <a:t>Corroboré</a:t>
            </a:r>
            <a:r>
              <a:rPr lang="en-US" sz="1200" dirty="0">
                <a:latin typeface="Calibri" panose="020F0502020204030204" pitchFamily="34" charset="0"/>
                <a:cs typeface="Calibri" panose="020F0502020204030204" pitchFamily="34" charset="0"/>
              </a:rPr>
              <a:t> con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Club).  </a:t>
            </a:r>
            <a:r>
              <a:rPr lang="en-US" sz="1200" dirty="0" err="1">
                <a:latin typeface="Calibri" panose="020F0502020204030204" pitchFamily="34" charset="0"/>
                <a:cs typeface="Calibri" panose="020F0502020204030204" pitchFamily="34" charset="0"/>
              </a:rPr>
              <a:t>Firmó</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por</a:t>
            </a:r>
            <a:r>
              <a:rPr lang="en-US" sz="1200" dirty="0">
                <a:latin typeface="Calibri" panose="020F0502020204030204" pitchFamily="34" charset="0"/>
                <a:cs typeface="Calibri" panose="020F0502020204030204" pitchFamily="34" charset="0"/>
              </a:rPr>
              <a:t> 4 </a:t>
            </a:r>
            <a:r>
              <a:rPr lang="en-US" sz="1200" dirty="0" err="1">
                <a:latin typeface="Calibri" panose="020F0502020204030204" pitchFamily="34" charset="0"/>
                <a:cs typeface="Calibri" panose="020F0502020204030204" pitchFamily="34" charset="0"/>
              </a:rPr>
              <a:t>años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esta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conforme</a:t>
            </a:r>
            <a:r>
              <a:rPr lang="en-US" sz="1200" dirty="0">
                <a:latin typeface="Calibri" panose="020F0502020204030204" pitchFamily="34" charset="0"/>
                <a:cs typeface="Calibri" panose="020F0502020204030204" pitchFamily="34" charset="0"/>
              </a:rPr>
              <a:t>. Sin bono a la </a:t>
            </a:r>
            <a:r>
              <a:rPr lang="en-US" sz="1200" dirty="0" err="1">
                <a:latin typeface="Calibri" panose="020F0502020204030204" pitchFamily="34" charset="0"/>
                <a:cs typeface="Calibri" panose="020F0502020204030204" pitchFamily="34" charset="0"/>
              </a:rPr>
              <a:t>firma</a:t>
            </a:r>
            <a:r>
              <a:rPr lang="en-US" sz="1200" dirty="0">
                <a:latin typeface="Calibri" panose="020F0502020204030204" pitchFamily="34" charset="0"/>
                <a:cs typeface="Calibri" panose="020F0502020204030204" pitchFamily="34" charset="0"/>
              </a:rPr>
              <a:t>.</a:t>
            </a: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Mateo García: </a:t>
            </a:r>
            <a:r>
              <a:rPr lang="en-US" sz="1200" dirty="0" err="1">
                <a:latin typeface="Calibri" panose="020F0502020204030204" pitchFamily="34" charset="0"/>
                <a:cs typeface="Calibri" panose="020F0502020204030204" pitchFamily="34" charset="0"/>
              </a:rPr>
              <a:t>Jugador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contento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club, le </a:t>
            </a:r>
            <a:r>
              <a:rPr lang="en-US" sz="1200" dirty="0" err="1">
                <a:latin typeface="Calibri" panose="020F0502020204030204" pitchFamily="34" charset="0"/>
                <a:cs typeface="Calibri" panose="020F0502020204030204" pitchFamily="34" charset="0"/>
              </a:rPr>
              <a:t>debían</a:t>
            </a:r>
            <a:r>
              <a:rPr lang="en-US" sz="1200" dirty="0">
                <a:latin typeface="Calibri" panose="020F0502020204030204" pitchFamily="34" charset="0"/>
                <a:cs typeface="Calibri" panose="020F0502020204030204" pitchFamily="34" charset="0"/>
              </a:rPr>
              <a:t> un </a:t>
            </a:r>
            <a:r>
              <a:rPr lang="en-US" sz="1200" dirty="0" err="1">
                <a:latin typeface="Calibri" panose="020F0502020204030204" pitchFamily="34" charset="0"/>
                <a:cs typeface="Calibri" panose="020F0502020204030204" pitchFamily="34" charset="0"/>
              </a:rPr>
              <a:t>tema</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comisión</a:t>
            </a:r>
            <a:r>
              <a:rPr lang="en-US" sz="1200" dirty="0">
                <a:latin typeface="Calibri" panose="020F0502020204030204" pitchFamily="34" charset="0"/>
                <a:cs typeface="Calibri" panose="020F0502020204030204" pitchFamily="34" charset="0"/>
              </a:rPr>
              <a:t> al </a:t>
            </a:r>
            <a:r>
              <a:rPr lang="en-US" sz="1200" dirty="0" err="1">
                <a:latin typeface="Calibri" panose="020F0502020204030204" pitchFamily="34" charset="0"/>
                <a:cs typeface="Calibri" panose="020F0502020204030204" pitchFamily="34" charset="0"/>
              </a:rPr>
              <a:t>agente</a:t>
            </a:r>
            <a:r>
              <a:rPr lang="en-US" sz="1200" dirty="0">
                <a:latin typeface="Calibri" panose="020F0502020204030204" pitchFamily="34" charset="0"/>
                <a:cs typeface="Calibri" panose="020F0502020204030204" pitchFamily="34" charset="0"/>
              </a:rPr>
              <a:t> , le </a:t>
            </a:r>
            <a:r>
              <a:rPr lang="en-US" sz="1200" dirty="0" err="1">
                <a:latin typeface="Calibri" panose="020F0502020204030204" pitchFamily="34" charset="0"/>
                <a:cs typeface="Calibri" panose="020F0502020204030204" pitchFamily="34" charset="0"/>
              </a:rPr>
              <a:t>renegociaron</a:t>
            </a:r>
            <a:r>
              <a:rPr lang="en-US" sz="1200" dirty="0">
                <a:latin typeface="Calibri" panose="020F0502020204030204" pitchFamily="34" charset="0"/>
                <a:cs typeface="Calibri" panose="020F0502020204030204" pitchFamily="34" charset="0"/>
              </a:rPr>
              <a:t> y le </a:t>
            </a:r>
            <a:r>
              <a:rPr lang="en-US" sz="1200" dirty="0" err="1">
                <a:latin typeface="Calibri" panose="020F0502020204030204" pitchFamily="34" charset="0"/>
                <a:cs typeface="Calibri" panose="020F0502020204030204" pitchFamily="34" charset="0"/>
              </a:rPr>
              <a:t>descontaron</a:t>
            </a:r>
            <a:r>
              <a:rPr lang="en-US" sz="1200" dirty="0">
                <a:latin typeface="Calibri" panose="020F0502020204030204" pitchFamily="34" charset="0"/>
                <a:cs typeface="Calibri" panose="020F0502020204030204" pitchFamily="34" charset="0"/>
              </a:rPr>
              <a:t> 100K USD (</a:t>
            </a:r>
            <a:r>
              <a:rPr lang="en-US" sz="1200" dirty="0" err="1">
                <a:latin typeface="Calibri" panose="020F0502020204030204" pitchFamily="34" charset="0"/>
                <a:cs typeface="Calibri" panose="020F0502020204030204" pitchFamily="34" charset="0"/>
              </a:rPr>
              <a:t>esto</a:t>
            </a:r>
            <a:r>
              <a:rPr lang="en-US" sz="1200" dirty="0">
                <a:latin typeface="Calibri" panose="020F0502020204030204" pitchFamily="34" charset="0"/>
                <a:cs typeface="Calibri" panose="020F0502020204030204" pitchFamily="34" charset="0"/>
              </a:rPr>
              <a:t> la </a:t>
            </a:r>
            <a:r>
              <a:rPr lang="en-US" sz="1200" dirty="0" err="1">
                <a:latin typeface="Calibri" panose="020F0502020204030204" pitchFamily="34" charset="0"/>
                <a:cs typeface="Calibri" panose="020F0502020204030204" pitchFamily="34" charset="0"/>
              </a:rPr>
              <a:t>semana</a:t>
            </a:r>
            <a:r>
              <a:rPr lang="en-US" sz="1200" dirty="0">
                <a:latin typeface="Calibri" panose="020F0502020204030204" pitchFamily="34" charset="0"/>
                <a:cs typeface="Calibri" panose="020F0502020204030204" pitchFamily="34" charset="0"/>
              </a:rPr>
              <a:t> ante </a:t>
            </a:r>
            <a:r>
              <a:rPr lang="en-US" sz="1200" dirty="0" err="1">
                <a:latin typeface="Calibri" panose="020F0502020204030204" pitchFamily="34" charset="0"/>
                <a:cs typeface="Calibri" panose="020F0502020204030204" pitchFamily="34" charset="0"/>
              </a:rPr>
              <a:t>pasada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Agente</a:t>
            </a:r>
            <a:r>
              <a:rPr lang="en-US" sz="1200" dirty="0">
                <a:latin typeface="Calibri" panose="020F0502020204030204" pitchFamily="34" charset="0"/>
                <a:cs typeface="Calibri" panose="020F0502020204030204" pitchFamily="34" charset="0"/>
              </a:rPr>
              <a:t> Luis Grillo.</a:t>
            </a:r>
          </a:p>
          <a:p>
            <a:pPr marL="285750" indent="-285750">
              <a:buFont typeface="Wingdings" pitchFamily="2" charset="2"/>
              <a:buChar char="§"/>
            </a:pPr>
            <a:r>
              <a:rPr lang="en-US" sz="1200" b="1" dirty="0">
                <a:latin typeface="Calibri" panose="020F0502020204030204" pitchFamily="34" charset="0"/>
                <a:cs typeface="Calibri" panose="020F0502020204030204" pitchFamily="34" charset="0"/>
              </a:rPr>
              <a:t>Carlos Robles: </a:t>
            </a:r>
            <a:r>
              <a:rPr lang="en-US" sz="1200" dirty="0" err="1">
                <a:latin typeface="Calibri" panose="020F0502020204030204" pitchFamily="34" charset="0"/>
                <a:cs typeface="Calibri" panose="020F0502020204030204" pitchFamily="34" charset="0"/>
              </a:rPr>
              <a:t>está</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prestado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en</a:t>
            </a:r>
            <a:r>
              <a:rPr lang="en-US" sz="1200" dirty="0">
                <a:latin typeface="Calibri" panose="020F0502020204030204" pitchFamily="34" charset="0"/>
                <a:cs typeface="Calibri" panose="020F0502020204030204" pitchFamily="34" charset="0"/>
              </a:rPr>
              <a:t> La Paz, </a:t>
            </a:r>
            <a:r>
              <a:rPr lang="en-US" sz="1200" dirty="0" err="1">
                <a:latin typeface="Calibri" panose="020F0502020204030204" pitchFamily="34" charset="0"/>
                <a:cs typeface="Calibri" panose="020F0502020204030204" pitchFamily="34" charset="0"/>
              </a:rPr>
              <a:t>investigar</a:t>
            </a:r>
            <a:r>
              <a:rPr lang="en-US" sz="1200" dirty="0">
                <a:latin typeface="Calibri" panose="020F0502020204030204" pitchFamily="34" charset="0"/>
                <a:cs typeface="Calibri" panose="020F0502020204030204" pitchFamily="34" charset="0"/>
              </a:rPr>
              <a:t> hasta </a:t>
            </a:r>
            <a:r>
              <a:rPr lang="en-US" sz="1200" dirty="0" err="1">
                <a:latin typeface="Calibri" panose="020F0502020204030204" pitchFamily="34" charset="0"/>
                <a:cs typeface="Calibri" panose="020F0502020204030204" pitchFamily="34" charset="0"/>
              </a:rPr>
              <a:t>cuando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tiene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contrato</a:t>
            </a:r>
            <a:r>
              <a:rPr lang="en-US" sz="12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600" b="1" dirty="0">
              <a:solidFill>
                <a:srgbClr val="C3270D"/>
              </a:solidFill>
              <a:latin typeface="Calibri" panose="020F0502020204030204" pitchFamily="34" charset="0"/>
              <a:cs typeface="Calibri" panose="020F0502020204030204" pitchFamily="34" charset="0"/>
            </a:endParaRPr>
          </a:p>
          <a:p>
            <a:r>
              <a:rPr lang="en-US" sz="1600" b="1" dirty="0">
                <a:solidFill>
                  <a:srgbClr val="C3270D"/>
                </a:solidFill>
                <a:latin typeface="Calibri" panose="020F0502020204030204" pitchFamily="34" charset="0"/>
                <a:cs typeface="Calibri" panose="020F0502020204030204" pitchFamily="34" charset="0"/>
              </a:rPr>
              <a:t>Mundial Junio 2026</a:t>
            </a:r>
          </a:p>
          <a:p>
            <a:pPr marL="285750" indent="-285750" eaLnBrk="0" fontAlgn="base" hangingPunct="0">
              <a:spcBef>
                <a:spcPct val="0"/>
              </a:spcBef>
              <a:spcAft>
                <a:spcPct val="0"/>
              </a:spcAft>
              <a:buFont typeface="Wingdings" pitchFamily="2" charset="2"/>
              <a:buChar char="§"/>
            </a:pPr>
            <a:r>
              <a:rPr lang="en-US" sz="1200" dirty="0">
                <a:latin typeface="Calibri" panose="020F0502020204030204" pitchFamily="34" charset="0"/>
                <a:cs typeface="Calibri" panose="020F0502020204030204" pitchFamily="34" charset="0"/>
              </a:rPr>
              <a:t>Hay un </a:t>
            </a:r>
            <a:r>
              <a:rPr lang="en-US" sz="1200" dirty="0" err="1">
                <a:latin typeface="Calibri" panose="020F0502020204030204" pitchFamily="34" charset="0"/>
                <a:cs typeface="Calibri" panose="020F0502020204030204" pitchFamily="34" charset="0"/>
              </a:rPr>
              <a:t>monto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jugador</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que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participa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Mundial y al ser </a:t>
            </a:r>
            <a:r>
              <a:rPr lang="en-US" sz="1200" dirty="0" err="1">
                <a:latin typeface="Calibri" panose="020F0502020204030204" pitchFamily="34" charset="0"/>
                <a:cs typeface="Calibri" panose="020F0502020204030204" pitchFamily="34" charset="0"/>
              </a:rPr>
              <a:t>después</a:t>
            </a:r>
            <a:r>
              <a:rPr lang="en-US" sz="1200" dirty="0">
                <a:latin typeface="Calibri" panose="020F0502020204030204" pitchFamily="34" charset="0"/>
                <a:cs typeface="Calibri" panose="020F0502020204030204" pitchFamily="34" charset="0"/>
              </a:rPr>
              <a:t> del 22 de Abril es </a:t>
            </a:r>
            <a:r>
              <a:rPr lang="en-US" sz="1200" dirty="0" err="1">
                <a:latin typeface="Calibri" panose="020F0502020204030204" pitchFamily="34" charset="0"/>
                <a:cs typeface="Calibri" panose="020F0502020204030204" pitchFamily="34" charset="0"/>
              </a:rPr>
              <a:t>importante</a:t>
            </a:r>
            <a:r>
              <a:rPr lang="en-US" sz="1200" dirty="0">
                <a:latin typeface="Calibri" panose="020F0502020204030204" pitchFamily="34" charset="0"/>
                <a:cs typeface="Calibri" panose="020F0502020204030204" pitchFamily="34" charset="0"/>
              </a:rPr>
              <a:t> saber </a:t>
            </a:r>
            <a:r>
              <a:rPr lang="en-US" sz="1200" dirty="0" err="1">
                <a:latin typeface="Calibri" panose="020F0502020204030204" pitchFamily="34" charset="0"/>
                <a:cs typeface="Calibri" panose="020F0502020204030204" pitchFamily="34" charset="0"/>
              </a:rPr>
              <a:t>quien</a:t>
            </a:r>
            <a:r>
              <a:rPr lang="en-US" sz="1200" dirty="0">
                <a:latin typeface="Calibri" panose="020F0502020204030204" pitchFamily="34" charset="0"/>
                <a:cs typeface="Calibri" panose="020F0502020204030204" pitchFamily="34" charset="0"/>
              </a:rPr>
              <a:t> lo cobra:</a:t>
            </a:r>
          </a:p>
          <a:p>
            <a:pPr marL="285750" lvl="0" indent="-285750" eaLnBrk="0" fontAlgn="base" hangingPunct="0">
              <a:spcBef>
                <a:spcPct val="0"/>
              </a:spcBef>
              <a:spcAft>
                <a:spcPct val="0"/>
              </a:spcAft>
              <a:buFont typeface="+mj-lt"/>
              <a:buAutoNum type="arabicPeriod"/>
            </a:pPr>
            <a:r>
              <a:rPr lang="en-MX" altLang="en-MX" sz="1200" dirty="0">
                <a:latin typeface="Calibri" panose="020F0502020204030204" pitchFamily="34" charset="0"/>
                <a:cs typeface="Calibri" panose="020F0502020204030204" pitchFamily="34" charset="0"/>
              </a:rPr>
              <a:t>Aproximadamente: $12,000 USD por día por jugador. Se calcula desde que el jugador se incorpora con su selección hasta que termina su participación (Se parte proporcional en los clubes en los ultimos 3 años)</a:t>
            </a:r>
          </a:p>
          <a:p>
            <a:pPr marL="285750" lvl="0" indent="-285750" eaLnBrk="0" fontAlgn="base" hangingPunct="0">
              <a:spcBef>
                <a:spcPct val="0"/>
              </a:spcBef>
              <a:spcAft>
                <a:spcPct val="0"/>
              </a:spcAft>
              <a:buFont typeface="+mj-lt"/>
              <a:buAutoNum type="arabicPeriod"/>
            </a:pPr>
            <a:r>
              <a:rPr lang="en-MX" altLang="en-MX" sz="1200" b="1" dirty="0">
                <a:latin typeface="Calibri" panose="020F0502020204030204" pitchFamily="34" charset="0"/>
                <a:cs typeface="Calibri" panose="020F0502020204030204" pitchFamily="34" charset="0"/>
              </a:rPr>
              <a:t>Camilo Vargas y Diego González </a:t>
            </a:r>
            <a:r>
              <a:rPr lang="en-MX" altLang="en-MX" sz="1200" dirty="0">
                <a:latin typeface="Calibri" panose="020F0502020204030204" pitchFamily="34" charset="0"/>
                <a:cs typeface="Calibri" panose="020F0502020204030204" pitchFamily="34" charset="0"/>
              </a:rPr>
              <a:t>jugaran el mundial y se estima el C</a:t>
            </a:r>
            <a:r>
              <a:rPr lang="en-US" altLang="en-MX" sz="1200" dirty="0">
                <a:latin typeface="Calibri" panose="020F0502020204030204" pitchFamily="34" charset="0"/>
                <a:cs typeface="Calibri" panose="020F0502020204030204" pitchFamily="34" charset="0"/>
              </a:rPr>
              <a:t>l</a:t>
            </a:r>
            <a:r>
              <a:rPr lang="en-MX" altLang="en-MX" sz="1200" dirty="0">
                <a:latin typeface="Calibri" panose="020F0502020204030204" pitchFamily="34" charset="0"/>
                <a:cs typeface="Calibri" panose="020F0502020204030204" pitchFamily="34" charset="0"/>
              </a:rPr>
              <a:t>ub reciba aprox 400K USD por esta iniciativa de FIFA.</a:t>
            </a:r>
          </a:p>
          <a:p>
            <a:pPr marL="285750" lvl="0" indent="-285750" eaLnBrk="0" fontAlgn="base" hangingPunct="0">
              <a:spcBef>
                <a:spcPct val="0"/>
              </a:spcBef>
              <a:spcAft>
                <a:spcPct val="0"/>
              </a:spcAft>
              <a:buFont typeface="+mj-lt"/>
              <a:buAutoNum type="arabicPeriod"/>
            </a:pPr>
            <a:r>
              <a:rPr lang="en-MX" altLang="en-MX" sz="1200" dirty="0">
                <a:latin typeface="Calibri" panose="020F0502020204030204" pitchFamily="34" charset="0"/>
                <a:cs typeface="Calibri" panose="020F0502020204030204" pitchFamily="34" charset="0"/>
              </a:rPr>
              <a:t>Lo paga Federación Mex, ellos lo reciben de Fifa. Nornalmente tardan 6 meses en pagarlo aprox.</a:t>
            </a:r>
          </a:p>
          <a:p>
            <a:pPr marL="285750" indent="-285750">
              <a:buFont typeface="Arial" panose="020B0604020202020204" pitchFamily="34" charset="0"/>
              <a:buChar char="•"/>
            </a:pP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r>
              <a:rPr lang="en-US" sz="1600" b="1" dirty="0" err="1">
                <a:solidFill>
                  <a:srgbClr val="C3270D"/>
                </a:solidFill>
                <a:latin typeface="Calibri" panose="020F0502020204030204" pitchFamily="34" charset="0"/>
                <a:cs typeface="Calibri" panose="020F0502020204030204" pitchFamily="34" charset="0"/>
              </a:rPr>
              <a:t>Prestados</a:t>
            </a:r>
            <a:endParaRPr lang="en-US" sz="1600" b="1" dirty="0">
              <a:solidFill>
                <a:srgbClr val="C3270D"/>
              </a:solidFill>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200" dirty="0">
                <a:latin typeface="Calibri" panose="020F0502020204030204" pitchFamily="34" charset="0"/>
                <a:cs typeface="Calibri" panose="020F0502020204030204" pitchFamily="34" charset="0"/>
              </a:rPr>
              <a:t>Jordi Caicedo </a:t>
            </a:r>
            <a:r>
              <a:rPr lang="en-US" sz="1200" dirty="0" err="1">
                <a:latin typeface="Calibri" panose="020F0502020204030204" pitchFamily="34" charset="0"/>
                <a:cs typeface="Calibri" panose="020F0502020204030204" pitchFamily="34" charset="0"/>
              </a:rPr>
              <a:t>opción</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compra</a:t>
            </a:r>
            <a:r>
              <a:rPr lang="en-US" sz="1200" dirty="0">
                <a:latin typeface="Calibri" panose="020F0502020204030204" pitchFamily="34" charset="0"/>
                <a:cs typeface="Calibri" panose="020F0502020204030204" pitchFamily="34" charset="0"/>
              </a:rPr>
              <a:t> de 1M de USD. En la </a:t>
            </a:r>
            <a:r>
              <a:rPr lang="en-US" sz="1200" dirty="0" err="1">
                <a:latin typeface="Calibri" panose="020F0502020204030204" pitchFamily="34" charset="0"/>
                <a:cs typeface="Calibri" panose="020F0502020204030204" pitchFamily="34" charset="0"/>
              </a:rPr>
              <a:t>operación</a:t>
            </a:r>
            <a:r>
              <a:rPr lang="en-US" sz="1200" dirty="0">
                <a:latin typeface="Calibri" panose="020F0502020204030204" pitchFamily="34" charset="0"/>
                <a:cs typeface="Calibri" panose="020F0502020204030204" pitchFamily="34" charset="0"/>
              </a:rPr>
              <a:t> de Brunetta se </a:t>
            </a:r>
            <a:r>
              <a:rPr lang="en-US" sz="1200" dirty="0" err="1">
                <a:latin typeface="Calibri" panose="020F0502020204030204" pitchFamily="34" charset="0"/>
                <a:cs typeface="Calibri" panose="020F0502020204030204" pitchFamily="34" charset="0"/>
              </a:rPr>
              <a:t>quedó</a:t>
            </a:r>
            <a:r>
              <a:rPr lang="en-US" sz="1200" dirty="0">
                <a:latin typeface="Calibri" panose="020F0502020204030204" pitchFamily="34" charset="0"/>
                <a:cs typeface="Calibri" panose="020F0502020204030204" pitchFamily="34" charset="0"/>
              </a:rPr>
              <a:t> Atlas con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100%. </a:t>
            </a:r>
          </a:p>
          <a:p>
            <a:endParaRPr lang="en-US" sz="1600" b="1" dirty="0">
              <a:solidFill>
                <a:srgbClr val="C3270D"/>
              </a:solidFill>
              <a:latin typeface="Calibri" panose="020F0502020204030204" pitchFamily="34" charset="0"/>
              <a:cs typeface="Calibri" panose="020F0502020204030204" pitchFamily="34" charset="0"/>
            </a:endParaRPr>
          </a:p>
          <a:p>
            <a:r>
              <a:rPr lang="en-US" sz="1600" b="1" dirty="0" err="1">
                <a:solidFill>
                  <a:srgbClr val="C3270D"/>
                </a:solidFill>
                <a:latin typeface="Calibri" panose="020F0502020204030204" pitchFamily="34" charset="0"/>
                <a:cs typeface="Calibri" panose="020F0502020204030204" pitchFamily="34" charset="0"/>
              </a:rPr>
              <a:t>Comentarios</a:t>
            </a:r>
            <a:endParaRPr lang="en-US" sz="1600" b="1" dirty="0">
              <a:solidFill>
                <a:srgbClr val="C3270D"/>
              </a:solidFill>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Es </a:t>
            </a:r>
            <a:r>
              <a:rPr lang="en-US" sz="1200" dirty="0" err="1">
                <a:latin typeface="Calibri" panose="020F0502020204030204" pitchFamily="34" charset="0"/>
                <a:cs typeface="Calibri" panose="020F0502020204030204" pitchFamily="34" charset="0"/>
              </a:rPr>
              <a:t>importante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darle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certidumbre</a:t>
            </a:r>
            <a:r>
              <a:rPr lang="en-US" sz="1200" dirty="0">
                <a:latin typeface="Calibri" panose="020F0502020204030204" pitchFamily="34" charset="0"/>
                <a:cs typeface="Calibri" panose="020F0502020204030204" pitchFamily="34" charset="0"/>
              </a:rPr>
              <a:t> al </a:t>
            </a:r>
            <a:r>
              <a:rPr lang="en-US" sz="1200" dirty="0" err="1">
                <a:latin typeface="Calibri" panose="020F0502020204030204" pitchFamily="34" charset="0"/>
                <a:cs typeface="Calibri" panose="020F0502020204030204" pitchFamily="34" charset="0"/>
              </a:rPr>
              <a:t>plantel</a:t>
            </a:r>
            <a:r>
              <a:rPr lang="en-US" sz="1200" dirty="0">
                <a:latin typeface="Calibri" panose="020F0502020204030204" pitchFamily="34" charset="0"/>
                <a:cs typeface="Calibri" panose="020F0502020204030204" pitchFamily="34" charset="0"/>
              </a:rPr>
              <a:t> y </a:t>
            </a:r>
            <a:r>
              <a:rPr lang="en-US" sz="1200" dirty="0" err="1">
                <a:latin typeface="Calibri" panose="020F0502020204030204" pitchFamily="34" charset="0"/>
                <a:cs typeface="Calibri" panose="020F0502020204030204" pitchFamily="34" charset="0"/>
              </a:rPr>
              <a:t>buscarlos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cuando</a:t>
            </a:r>
            <a:r>
              <a:rPr lang="en-US" sz="1200" dirty="0">
                <a:latin typeface="Calibri" panose="020F0502020204030204" pitchFamily="34" charset="0"/>
                <a:cs typeface="Calibri" panose="020F0502020204030204" pitchFamily="34" charset="0"/>
              </a:rPr>
              <a:t> se </a:t>
            </a:r>
            <a:r>
              <a:rPr lang="en-US" sz="1200" dirty="0" err="1">
                <a:latin typeface="Calibri" panose="020F0502020204030204" pitchFamily="34" charset="0"/>
                <a:cs typeface="Calibri" panose="020F0502020204030204" pitchFamily="34" charset="0"/>
              </a:rPr>
              <a:t>haga</a:t>
            </a:r>
            <a:r>
              <a:rPr lang="en-US" sz="1200" dirty="0">
                <a:latin typeface="Calibri" panose="020F0502020204030204" pitchFamily="34" charset="0"/>
                <a:cs typeface="Calibri" panose="020F0502020204030204" pitchFamily="34" charset="0"/>
              </a:rPr>
              <a:t> la </a:t>
            </a:r>
            <a:r>
              <a:rPr lang="en-US" sz="1200" dirty="0" err="1">
                <a:latin typeface="Calibri" panose="020F0502020204030204" pitchFamily="34" charset="0"/>
                <a:cs typeface="Calibri" panose="020F0502020204030204" pitchFamily="34" charset="0"/>
              </a:rPr>
              <a:t>compra</a:t>
            </a:r>
            <a:r>
              <a:rPr lang="en-US" sz="1200" dirty="0">
                <a:latin typeface="Calibri" panose="020F0502020204030204" pitchFamily="34" charset="0"/>
                <a:cs typeface="Calibri" panose="020F0502020204030204" pitchFamily="34" charset="0"/>
              </a:rPr>
              <a:t> para </a:t>
            </a:r>
            <a:r>
              <a:rPr lang="en-US" sz="1200" dirty="0" err="1">
                <a:latin typeface="Calibri" panose="020F0502020204030204" pitchFamily="34" charset="0"/>
                <a:cs typeface="Calibri" panose="020F0502020204030204" pitchFamily="34" charset="0"/>
              </a:rPr>
              <a:t>que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esten</a:t>
            </a:r>
            <a:r>
              <a:rPr lang="en-US" sz="1200" dirty="0">
                <a:latin typeface="Calibri" panose="020F0502020204030204" pitchFamily="34" charset="0"/>
                <a:cs typeface="Calibri" panose="020F0502020204030204" pitchFamily="34" charset="0"/>
              </a:rPr>
              <a:t> al tanto de </a:t>
            </a:r>
            <a:r>
              <a:rPr lang="en-US" sz="1200" dirty="0" err="1">
                <a:latin typeface="Calibri" panose="020F0502020204030204" pitchFamily="34" charset="0"/>
                <a:cs typeface="Calibri" panose="020F0502020204030204" pitchFamily="34" charset="0"/>
              </a:rPr>
              <a:t>que</a:t>
            </a:r>
            <a:r>
              <a:rPr lang="en-US" sz="1200" dirty="0">
                <a:latin typeface="Calibri" panose="020F0502020204030204" pitchFamily="34" charset="0"/>
                <a:cs typeface="Calibri" panose="020F0502020204030204" pitchFamily="34" charset="0"/>
              </a:rPr>
              <a:t> lo </a:t>
            </a:r>
            <a:r>
              <a:rPr lang="en-US" sz="1200" dirty="0" err="1">
                <a:latin typeface="Calibri" panose="020F0502020204030204" pitchFamily="34" charset="0"/>
                <a:cs typeface="Calibri" panose="020F0502020204030204" pitchFamily="34" charset="0"/>
              </a:rPr>
              <a:t>que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viene</a:t>
            </a:r>
            <a:r>
              <a:rPr lang="en-US" sz="1200" dirty="0">
                <a:latin typeface="Calibri" panose="020F0502020204030204" pitchFamily="34" charset="0"/>
                <a:cs typeface="Calibri" panose="020F0502020204030204" pitchFamily="34" charset="0"/>
              </a:rPr>
              <a:t> es un </a:t>
            </a:r>
            <a:r>
              <a:rPr lang="en-US" sz="1200" dirty="0" err="1">
                <a:latin typeface="Calibri" panose="020F0502020204030204" pitchFamily="34" charset="0"/>
                <a:cs typeface="Calibri" panose="020F0502020204030204" pitchFamily="34" charset="0"/>
              </a:rPr>
              <a:t>proyecto</a:t>
            </a:r>
            <a:r>
              <a:rPr lang="en-US" sz="1200" dirty="0">
                <a:latin typeface="Calibri" panose="020F0502020204030204" pitchFamily="34" charset="0"/>
                <a:cs typeface="Calibri" panose="020F0502020204030204" pitchFamily="34" charset="0"/>
              </a:rPr>
              <a:t> serio.</a:t>
            </a:r>
          </a:p>
          <a:p>
            <a:r>
              <a:rPr lang="en-US" sz="1200" dirty="0">
                <a:latin typeface="Calibri" panose="020F0502020204030204" pitchFamily="34" charset="0"/>
                <a:cs typeface="Calibri" panose="020F0502020204030204" pitchFamily="34" charset="0"/>
              </a:rPr>
              <a:t>Hay </a:t>
            </a:r>
            <a:r>
              <a:rPr lang="en-US" sz="1200" dirty="0" err="1">
                <a:latin typeface="Calibri" panose="020F0502020204030204" pitchFamily="34" charset="0"/>
                <a:cs typeface="Calibri" panose="020F0502020204030204" pitchFamily="34" charset="0"/>
              </a:rPr>
              <a:t>una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falta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clara</a:t>
            </a:r>
            <a:r>
              <a:rPr lang="en-US" sz="1200" dirty="0">
                <a:latin typeface="Calibri" panose="020F0502020204030204" pitchFamily="34" charset="0"/>
                <a:cs typeface="Calibri" panose="020F0502020204030204" pitchFamily="34" charset="0"/>
              </a:rPr>
              <a:t> de </a:t>
            </a:r>
            <a:r>
              <a:rPr lang="en-US" sz="1200" dirty="0" err="1">
                <a:latin typeface="Calibri" panose="020F0502020204030204" pitchFamily="34" charset="0"/>
                <a:cs typeface="Calibri" panose="020F0502020204030204" pitchFamily="34" charset="0"/>
              </a:rPr>
              <a:t>lideres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en</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el</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vestidor</a:t>
            </a:r>
            <a:r>
              <a:rPr lang="en-US" sz="12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sz="1600" b="1" dirty="0" err="1">
                <a:solidFill>
                  <a:srgbClr val="C3270D"/>
                </a:solidFill>
                <a:latin typeface="Calibri" panose="020F0502020204030204" pitchFamily="34" charset="0"/>
                <a:cs typeface="Calibri" panose="020F0502020204030204" pitchFamily="34" charset="0"/>
              </a:rPr>
              <a:t>Pretemporada</a:t>
            </a:r>
            <a:endParaRPr lang="en-US" sz="1600" b="1" dirty="0">
              <a:solidFill>
                <a:srgbClr val="C3270D"/>
              </a:solidFill>
              <a:latin typeface="Calibri" panose="020F0502020204030204" pitchFamily="34" charset="0"/>
              <a:cs typeface="Calibri" panose="020F0502020204030204" pitchFamily="34" charset="0"/>
            </a:endParaRPr>
          </a:p>
          <a:p>
            <a:r>
              <a:rPr lang="en-US" sz="1200" dirty="0" err="1">
                <a:latin typeface="Calibri" panose="020F0502020204030204" pitchFamily="34" charset="0"/>
                <a:cs typeface="Calibri" panose="020F0502020204030204" pitchFamily="34" charset="0"/>
              </a:rPr>
              <a:t>Desde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ahora</a:t>
            </a:r>
            <a:r>
              <a:rPr lang="en-US" sz="1200" dirty="0">
                <a:latin typeface="Calibri" panose="020F0502020204030204" pitchFamily="34" charset="0"/>
                <a:cs typeface="Calibri" panose="020F0502020204030204" pitchFamily="34" charset="0"/>
              </a:rPr>
              <a:t> se </a:t>
            </a:r>
            <a:r>
              <a:rPr lang="en-US" sz="1200" dirty="0" err="1">
                <a:latin typeface="Calibri" panose="020F0502020204030204" pitchFamily="34" charset="0"/>
                <a:cs typeface="Calibri" panose="020F0502020204030204" pitchFamily="34" charset="0"/>
              </a:rPr>
              <a:t>debe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plantear</a:t>
            </a:r>
            <a:r>
              <a:rPr lang="en-US" sz="1200" dirty="0">
                <a:latin typeface="Calibri" panose="020F0502020204030204" pitchFamily="34" charset="0"/>
                <a:cs typeface="Calibri" panose="020F0502020204030204" pitchFamily="34" charset="0"/>
              </a:rPr>
              <a:t> la </a:t>
            </a:r>
            <a:r>
              <a:rPr lang="en-US" sz="1200" dirty="0" err="1">
                <a:latin typeface="Calibri" panose="020F0502020204030204" pitchFamily="34" charset="0"/>
                <a:cs typeface="Calibri" panose="020F0502020204030204" pitchFamily="34" charset="0"/>
              </a:rPr>
              <a:t>pretemporada</a:t>
            </a:r>
            <a:r>
              <a:rPr lang="en-US" sz="1200" dirty="0">
                <a:latin typeface="Calibri" panose="020F0502020204030204" pitchFamily="34" charset="0"/>
                <a:cs typeface="Calibri" panose="020F0502020204030204" pitchFamily="34" charset="0"/>
              </a:rPr>
              <a:t> del Apertura 2026, </a:t>
            </a:r>
            <a:r>
              <a:rPr lang="en-US" sz="1200" dirty="0" err="1">
                <a:latin typeface="Calibri" panose="020F0502020204030204" pitchFamily="34" charset="0"/>
                <a:cs typeface="Calibri" panose="020F0502020204030204" pitchFamily="34" charset="0"/>
              </a:rPr>
              <a:t>tiene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como</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curiosidad</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que</a:t>
            </a:r>
            <a:r>
              <a:rPr lang="en-US" sz="1200" dirty="0">
                <a:latin typeface="Calibri" panose="020F0502020204030204" pitchFamily="34" charset="0"/>
                <a:cs typeface="Calibri" panose="020F0502020204030204" pitchFamily="34" charset="0"/>
              </a:rPr>
              <a:t> la Leagues Cup se </a:t>
            </a:r>
            <a:r>
              <a:rPr lang="en-US" sz="1200" dirty="0" err="1">
                <a:latin typeface="Calibri" panose="020F0502020204030204" pitchFamily="34" charset="0"/>
                <a:cs typeface="Calibri" panose="020F0502020204030204" pitchFamily="34" charset="0"/>
              </a:rPr>
              <a:t>juega</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pasando</a:t>
            </a:r>
            <a:r>
              <a:rPr lang="en-US" sz="1200" dirty="0">
                <a:latin typeface="Calibri" panose="020F0502020204030204" pitchFamily="34" charset="0"/>
                <a:cs typeface="Calibri" panose="020F0502020204030204" pitchFamily="34" charset="0"/>
              </a:rPr>
              <a:t> la Jornada 2.</a:t>
            </a:r>
          </a:p>
        </p:txBody>
      </p:sp>
      <p:sp>
        <p:nvSpPr>
          <p:cNvPr id="3" name="TextBox 2">
            <a:extLst>
              <a:ext uri="{FF2B5EF4-FFF2-40B4-BE49-F238E27FC236}">
                <a16:creationId xmlns:a16="http://schemas.microsoft.com/office/drawing/2014/main" id="{A3487303-FA70-49D5-18DA-023B3DCF1E35}"/>
              </a:ext>
            </a:extLst>
          </p:cNvPr>
          <p:cNvSpPr txBox="1"/>
          <p:nvPr/>
        </p:nvSpPr>
        <p:spPr>
          <a:xfrm>
            <a:off x="5989320" y="1220775"/>
            <a:ext cx="5913120" cy="307777"/>
          </a:xfrm>
          <a:prstGeom prst="rect">
            <a:avLst/>
          </a:prstGeom>
          <a:noFill/>
        </p:spPr>
        <p:txBody>
          <a:bodyPr wrap="square">
            <a:spAutoFit/>
          </a:bodyPr>
          <a:lstStyle/>
          <a:p>
            <a:pPr>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4772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5674-757C-E241-ABEC-91A98DD6799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3A722254-E1C1-64DA-4027-DD786617F755}"/>
              </a:ext>
            </a:extLst>
          </p:cNvPr>
          <p:cNvSpPr/>
          <p:nvPr/>
        </p:nvSpPr>
        <p:spPr>
          <a:xfrm>
            <a:off x="0" y="0"/>
            <a:ext cx="12192000" cy="1068946"/>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63A5F04E-0E62-EA39-91D6-30167DBF3B92}"/>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E2E3D95F-D979-9B63-884B-1D24A9105D17}"/>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Fuerzas Básicas</a:t>
            </a:r>
            <a:endParaRPr lang="en-US" sz="3200" b="1" dirty="0">
              <a:solidFill>
                <a:schemeClr val="bg1"/>
              </a:solidFill>
            </a:endParaRPr>
          </a:p>
        </p:txBody>
      </p:sp>
      <p:sp>
        <p:nvSpPr>
          <p:cNvPr id="2" name="TextBox 1">
            <a:extLst>
              <a:ext uri="{FF2B5EF4-FFF2-40B4-BE49-F238E27FC236}">
                <a16:creationId xmlns:a16="http://schemas.microsoft.com/office/drawing/2014/main" id="{6859DC86-A886-8AF4-768D-D79572400409}"/>
              </a:ext>
            </a:extLst>
          </p:cNvPr>
          <p:cNvSpPr txBox="1"/>
          <p:nvPr/>
        </p:nvSpPr>
        <p:spPr>
          <a:xfrm>
            <a:off x="289559" y="1068946"/>
            <a:ext cx="11752046" cy="4947508"/>
          </a:xfrm>
          <a:prstGeom prst="rect">
            <a:avLst/>
          </a:prstGeom>
          <a:noFill/>
        </p:spPr>
        <p:txBody>
          <a:bodyPr wrap="square">
            <a:spAutoFit/>
          </a:bodyPr>
          <a:lstStyle/>
          <a:p>
            <a:r>
              <a:rPr lang="es-419" sz="1400" b="1" dirty="0">
                <a:solidFill>
                  <a:srgbClr val="C3270D"/>
                </a:solidFill>
                <a:latin typeface="Calibri" panose="020F0502020204030204" pitchFamily="34" charset="0"/>
                <a:cs typeface="Calibri" panose="020F0502020204030204" pitchFamily="34" charset="0"/>
              </a:rPr>
              <a:t>Highlights</a:t>
            </a:r>
          </a:p>
          <a:p>
            <a:endParaRPr lang="es-419" sz="1400" b="1" dirty="0">
              <a:solidFill>
                <a:srgbClr val="C3270D"/>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sz="1400" dirty="0">
                <a:latin typeface="Calibri" panose="020F0502020204030204" pitchFamily="34" charset="0"/>
                <a:cs typeface="Calibri" panose="020F0502020204030204" pitchFamily="34" charset="0"/>
              </a:rPr>
              <a:t>36 jugadores en casa club.</a:t>
            </a:r>
          </a:p>
          <a:p>
            <a:pPr marL="285750" indent="-285750">
              <a:buFont typeface="Arial" panose="020B0604020202020204" pitchFamily="34" charset="0"/>
              <a:buChar char="•"/>
            </a:pPr>
            <a:endParaRPr lang="es-419" sz="14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s-419" sz="1400" b="1" dirty="0">
                <a:latin typeface="Calibri" panose="020F0502020204030204" pitchFamily="34" charset="0"/>
                <a:cs typeface="Calibri" panose="020F0502020204030204" pitchFamily="34" charset="0"/>
              </a:rPr>
              <a:t>Luis Valencia </a:t>
            </a:r>
            <a:r>
              <a:rPr lang="es-419" sz="1400" dirty="0">
                <a:latin typeface="Calibri" panose="020F0502020204030204" pitchFamily="34" charset="0"/>
                <a:cs typeface="Calibri" panose="020F0502020204030204" pitchFamily="34" charset="0"/>
              </a:rPr>
              <a:t>extremo, vence contrato en Junio 2026 – es un 2006 habilidoso, se rompió el perone pero este tupo de activos es bueno renovarlos. Tiene doble pasaporte.</a:t>
            </a:r>
          </a:p>
          <a:p>
            <a:pPr marL="342900" indent="-342900">
              <a:buFont typeface="Arial" panose="020B0604020202020204" pitchFamily="34" charset="0"/>
              <a:buChar char="•"/>
            </a:pPr>
            <a:r>
              <a:rPr lang="es-419" sz="1400" b="1" dirty="0">
                <a:latin typeface="Calibri" panose="020F0502020204030204" pitchFamily="34" charset="0"/>
                <a:cs typeface="Calibri" panose="020F0502020204030204" pitchFamily="34" charset="0"/>
              </a:rPr>
              <a:t>Sergio Hernández: </a:t>
            </a:r>
            <a:r>
              <a:rPr lang="es-419" sz="1400" dirty="0">
                <a:latin typeface="Calibri" panose="020F0502020204030204" pitchFamily="34" charset="0"/>
                <a:cs typeface="Calibri" panose="020F0502020204030204" pitchFamily="34" charset="0"/>
              </a:rPr>
              <a:t>Hoy ya esta con primera consolidado, debería tener contrato de primera corroborarlo.</a:t>
            </a:r>
          </a:p>
          <a:p>
            <a:pPr marL="342900" indent="-342900">
              <a:buFont typeface="Arial" panose="020B0604020202020204" pitchFamily="34" charset="0"/>
              <a:buChar char="•"/>
            </a:pPr>
            <a:endParaRPr lang="es-419" sz="14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400" b="1" dirty="0">
                <a:latin typeface="Calibri" panose="020F0502020204030204" pitchFamily="34" charset="0"/>
                <a:cs typeface="Calibri" panose="020F0502020204030204" pitchFamily="34" charset="0"/>
              </a:rPr>
              <a:t>Fabio Cavalle 2007: </a:t>
            </a:r>
            <a:r>
              <a:rPr lang="en-US" sz="1400" dirty="0">
                <a:latin typeface="Calibri" panose="020F0502020204030204" pitchFamily="34" charset="0"/>
                <a:cs typeface="Calibri" panose="020F0502020204030204" pitchFamily="34" charset="0"/>
              </a:rPr>
              <a:t>La </a:t>
            </a:r>
            <a:r>
              <a:rPr lang="en-US" sz="1400" dirty="0" err="1">
                <a:latin typeface="Calibri" panose="020F0502020204030204" pitchFamily="34" charset="0"/>
                <a:cs typeface="Calibri" panose="020F0502020204030204" pitchFamily="34" charset="0"/>
              </a:rPr>
              <a:t>representante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cree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no lo </a:t>
            </a:r>
            <a:r>
              <a:rPr lang="en-US" sz="1400" dirty="0" err="1">
                <a:latin typeface="Calibri" panose="020F0502020204030204" pitchFamily="34" charset="0"/>
                <a:cs typeface="Calibri" panose="020F0502020204030204" pitchFamily="34" charset="0"/>
              </a:rPr>
              <a:t>tienen</a:t>
            </a:r>
            <a:r>
              <a:rPr lang="en-US" sz="1400" dirty="0">
                <a:latin typeface="Calibri" panose="020F0502020204030204" pitchFamily="34" charset="0"/>
                <a:cs typeface="Calibri" panose="020F0502020204030204" pitchFamily="34" charset="0"/>
              </a:rPr>
              <a:t> bien </a:t>
            </a:r>
            <a:r>
              <a:rPr lang="en-US" sz="1400" dirty="0" err="1">
                <a:latin typeface="Calibri" panose="020F0502020204030204" pitchFamily="34" charset="0"/>
                <a:cs typeface="Calibri" panose="020F0502020204030204" pitchFamily="34" charset="0"/>
              </a:rPr>
              <a:t>valorado</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planea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buscarle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opciones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este</a:t>
            </a:r>
            <a:r>
              <a:rPr lang="en-US" sz="1400" dirty="0">
                <a:latin typeface="Calibri" panose="020F0502020204030204" pitchFamily="34" charset="0"/>
                <a:cs typeface="Calibri" panose="020F0502020204030204" pitchFamily="34" charset="0"/>
              </a:rPr>
              <a:t> mercado (Mariel </a:t>
            </a:r>
            <a:r>
              <a:rPr lang="en-US" sz="1400" dirty="0" err="1">
                <a:latin typeface="Calibri" panose="020F0502020204030204" pitchFamily="34" charset="0"/>
                <a:cs typeface="Calibri" panose="020F0502020204030204" pitchFamily="34" charset="0"/>
              </a:rPr>
              <a:t>Duayhe</a:t>
            </a:r>
            <a:r>
              <a:rPr lang="en-US" sz="1400" dirty="0">
                <a:latin typeface="Calibri" panose="020F0502020204030204" pitchFamily="34" charset="0"/>
                <a:cs typeface="Calibri" panose="020F0502020204030204" pitchFamily="34" charset="0"/>
              </a:rPr>
              <a:t>).</a:t>
            </a:r>
            <a:endParaRPr lang="es-419" sz="1400" dirty="0">
              <a:latin typeface="Calibri" panose="020F0502020204030204" pitchFamily="34" charset="0"/>
              <a:cs typeface="Calibri" panose="020F0502020204030204" pitchFamily="34" charset="0"/>
            </a:endParaRPr>
          </a:p>
          <a:p>
            <a:endParaRPr lang="en-US" sz="105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cs typeface="Calibri" panose="020F0502020204030204" pitchFamily="34" charset="0"/>
              </a:rPr>
              <a:t>Alvaro Beas 2005: </a:t>
            </a:r>
            <a:r>
              <a:rPr lang="en-US" sz="1400" dirty="0">
                <a:latin typeface="Calibri" panose="020F0502020204030204" pitchFamily="34" charset="0"/>
                <a:cs typeface="Calibri" panose="020F0502020204030204" pitchFamily="34" charset="0"/>
              </a:rPr>
              <a:t>Vence </a:t>
            </a:r>
            <a:r>
              <a:rPr lang="en-US" sz="1400" dirty="0" err="1">
                <a:latin typeface="Calibri" panose="020F0502020204030204" pitchFamily="34" charset="0"/>
                <a:cs typeface="Calibri" panose="020F0502020204030204" pitchFamily="34" charset="0"/>
              </a:rPr>
              <a:t>contrato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Junio. </a:t>
            </a:r>
            <a:r>
              <a:rPr lang="en-US" sz="1400" dirty="0" err="1">
                <a:latin typeface="Calibri" panose="020F0502020204030204" pitchFamily="34" charset="0"/>
                <a:cs typeface="Calibri" panose="020F0502020204030204" pitchFamily="34" charset="0"/>
              </a:rPr>
              <a:t>Todavía</a:t>
            </a:r>
            <a:r>
              <a:rPr lang="en-US" sz="1400" dirty="0">
                <a:latin typeface="Calibri" panose="020F0502020204030204" pitchFamily="34" charset="0"/>
                <a:cs typeface="Calibri" panose="020F0502020204030204" pitchFamily="34" charset="0"/>
              </a:rPr>
              <a:t> le da un </a:t>
            </a:r>
            <a:r>
              <a:rPr lang="en-US" sz="1400" dirty="0" err="1">
                <a:latin typeface="Calibri" panose="020F0502020204030204" pitchFamily="34" charset="0"/>
                <a:cs typeface="Calibri" panose="020F0502020204030204" pitchFamily="34" charset="0"/>
              </a:rPr>
              <a:t>año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la </a:t>
            </a:r>
            <a:r>
              <a:rPr lang="en-US" sz="1400" dirty="0" err="1">
                <a:latin typeface="Calibri" panose="020F0502020204030204" pitchFamily="34" charset="0"/>
                <a:cs typeface="Calibri" panose="020F0502020204030204" pitchFamily="34" charset="0"/>
              </a:rPr>
              <a:t>categoría</a:t>
            </a:r>
            <a:r>
              <a:rPr lang="en-US" sz="1400" dirty="0">
                <a:latin typeface="Calibri" panose="020F0502020204030204" pitchFamily="34" charset="0"/>
                <a:cs typeface="Calibri" panose="020F0502020204030204" pitchFamily="34" charset="0"/>
              </a:rPr>
              <a:t>, hay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evaluar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estos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casos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porque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pueden</a:t>
            </a:r>
            <a:r>
              <a:rPr lang="en-US" sz="1400" dirty="0">
                <a:latin typeface="Calibri" panose="020F0502020204030204" pitchFamily="34" charset="0"/>
                <a:cs typeface="Calibri" panose="020F0502020204030204" pitchFamily="34" charset="0"/>
              </a:rPr>
              <a:t> ser </a:t>
            </a:r>
            <a:r>
              <a:rPr lang="en-US" sz="1400" dirty="0" err="1">
                <a:latin typeface="Calibri" panose="020F0502020204030204" pitchFamily="34" charset="0"/>
                <a:cs typeface="Calibri" panose="020F0502020204030204" pitchFamily="34" charset="0"/>
              </a:rPr>
              <a:t>firmarlo</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prestarlo</a:t>
            </a:r>
            <a:r>
              <a:rPr lang="en-US" sz="1400" dirty="0">
                <a:latin typeface="Calibri" panose="020F0502020204030204" pitchFamily="34" charset="0"/>
                <a:cs typeface="Calibri" panose="020F0502020204030204" pitchFamily="34" charset="0"/>
              </a:rPr>
              <a:t>, o </a:t>
            </a:r>
            <a:r>
              <a:rPr lang="en-US" sz="1400" dirty="0" err="1">
                <a:latin typeface="Calibri" panose="020F0502020204030204" pitchFamily="34" charset="0"/>
                <a:cs typeface="Calibri" panose="020F0502020204030204" pitchFamily="34" charset="0"/>
              </a:rPr>
              <a:t>dejarlo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ir</a:t>
            </a:r>
            <a:r>
              <a:rPr lang="en-US" sz="1400" dirty="0">
                <a:latin typeface="Calibri" panose="020F0502020204030204" pitchFamily="34" charset="0"/>
                <a:cs typeface="Calibri" panose="020F0502020204030204" pitchFamily="34" charset="0"/>
              </a:rPr>
              <a:t> libre.</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cs typeface="Calibri" panose="020F0502020204030204" pitchFamily="34" charset="0"/>
              </a:rPr>
              <a:t>Norberto Suárez: </a:t>
            </a:r>
            <a:r>
              <a:rPr lang="en-US" sz="1400" dirty="0">
                <a:latin typeface="Calibri" panose="020F0502020204030204" pitchFamily="34" charset="0"/>
                <a:cs typeface="Calibri" panose="020F0502020204030204" pitchFamily="34" charset="0"/>
              </a:rPr>
              <a:t>Se </a:t>
            </a:r>
            <a:r>
              <a:rPr lang="en-US" sz="1400" dirty="0" err="1">
                <a:latin typeface="Calibri" panose="020F0502020204030204" pitchFamily="34" charset="0"/>
                <a:cs typeface="Calibri" panose="020F0502020204030204" pitchFamily="34" charset="0"/>
              </a:rPr>
              <a:t>fue</a:t>
            </a:r>
            <a:r>
              <a:rPr lang="en-US" sz="1400" dirty="0">
                <a:latin typeface="Calibri" panose="020F0502020204030204" pitchFamily="34" charset="0"/>
                <a:cs typeface="Calibri" panose="020F0502020204030204" pitchFamily="34" charset="0"/>
              </a:rPr>
              <a:t> a Gijón, </a:t>
            </a:r>
            <a:r>
              <a:rPr lang="en-US" sz="1400" dirty="0" err="1">
                <a:latin typeface="Calibri" panose="020F0502020204030204" pitchFamily="34" charset="0"/>
                <a:cs typeface="Calibri" panose="020F0502020204030204" pitchFamily="34" charset="0"/>
              </a:rPr>
              <a:t>debemos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investigar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club se </a:t>
            </a:r>
            <a:r>
              <a:rPr lang="en-US" sz="1400" dirty="0" err="1">
                <a:latin typeface="Calibri" panose="020F0502020204030204" pitchFamily="34" charset="0"/>
                <a:cs typeface="Calibri" panose="020F0502020204030204" pitchFamily="34" charset="0"/>
              </a:rPr>
              <a:t>quedó</a:t>
            </a:r>
            <a:r>
              <a:rPr lang="en-US" sz="1400" dirty="0">
                <a:latin typeface="Calibri" panose="020F0502020204030204" pitchFamily="34" charset="0"/>
                <a:cs typeface="Calibri" panose="020F0502020204030204" pitchFamily="34" charset="0"/>
              </a:rPr>
              <a:t> un </a:t>
            </a:r>
            <a:r>
              <a:rPr lang="en-US" sz="1400" dirty="0" err="1">
                <a:latin typeface="Calibri" panose="020F0502020204030204" pitchFamily="34" charset="0"/>
                <a:cs typeface="Calibri" panose="020F0502020204030204" pitchFamily="34" charset="0"/>
              </a:rPr>
              <a:t>porcentaje</a:t>
            </a:r>
            <a:r>
              <a:rPr lang="en-US" sz="14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err="1">
                <a:latin typeface="Calibri" panose="020F0502020204030204" pitchFamily="34" charset="0"/>
                <a:cs typeface="Calibri" panose="020F0502020204030204" pitchFamily="34" charset="0"/>
              </a:rPr>
              <a:t>Contrato</a:t>
            </a:r>
            <a:r>
              <a:rPr lang="en-US" sz="1400" b="1" dirty="0">
                <a:latin typeface="Calibri" panose="020F0502020204030204" pitchFamily="34" charset="0"/>
                <a:cs typeface="Calibri" panose="020F0502020204030204" pitchFamily="34" charset="0"/>
              </a:rPr>
              <a:t> de GEN </a:t>
            </a:r>
            <a:r>
              <a:rPr lang="en-US" sz="1400" b="1" dirty="0" err="1">
                <a:latin typeface="Calibri" panose="020F0502020204030204" pitchFamily="34" charset="0"/>
                <a:cs typeface="Calibri" panose="020F0502020204030204" pitchFamily="34" charset="0"/>
              </a:rPr>
              <a:t>Orlegi</a:t>
            </a:r>
            <a:r>
              <a:rPr lang="en-US" sz="1400" b="1"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Se </a:t>
            </a:r>
            <a:r>
              <a:rPr lang="en-US" sz="1400" dirty="0" err="1">
                <a:latin typeface="Calibri" panose="020F0502020204030204" pitchFamily="34" charset="0"/>
                <a:cs typeface="Calibri" panose="020F0502020204030204" pitchFamily="34" charset="0"/>
              </a:rPr>
              <a:t>tiene</a:t>
            </a:r>
            <a:r>
              <a:rPr lang="en-US" sz="1400" dirty="0">
                <a:latin typeface="Calibri" panose="020F0502020204030204" pitchFamily="34" charset="0"/>
                <a:cs typeface="Calibri" panose="020F0502020204030204" pitchFamily="34" charset="0"/>
              </a:rPr>
              <a:t> un </a:t>
            </a:r>
            <a:r>
              <a:rPr lang="en-US" sz="1400" dirty="0" err="1">
                <a:latin typeface="Calibri" panose="020F0502020204030204" pitchFamily="34" charset="0"/>
                <a:cs typeface="Calibri" panose="020F0502020204030204" pitchFamily="34" charset="0"/>
              </a:rPr>
              <a:t>contrato</a:t>
            </a:r>
            <a:r>
              <a:rPr lang="en-US" sz="1400" dirty="0">
                <a:latin typeface="Calibri" panose="020F0502020204030204" pitchFamily="34" charset="0"/>
                <a:cs typeface="Calibri" panose="020F0502020204030204" pitchFamily="34" charset="0"/>
              </a:rPr>
              <a:t> especial para </a:t>
            </a:r>
            <a:r>
              <a:rPr lang="en-US" sz="1400" dirty="0" err="1">
                <a:latin typeface="Calibri" panose="020F0502020204030204" pitchFamily="34" charset="0"/>
                <a:cs typeface="Calibri" panose="020F0502020204030204" pitchFamily="34" charset="0"/>
              </a:rPr>
              <a:t>los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jugadores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talentosos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inicias</a:t>
            </a:r>
            <a:r>
              <a:rPr lang="en-US" sz="1400" dirty="0">
                <a:latin typeface="Calibri" panose="020F0502020204030204" pitchFamily="34" charset="0"/>
                <a:cs typeface="Calibri" panose="020F0502020204030204" pitchFamily="34" charset="0"/>
              </a:rPr>
              <a:t> $20,000 mx,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sales a banca $10,000 mx. Si </a:t>
            </a:r>
            <a:r>
              <a:rPr lang="en-US" sz="1400" dirty="0" err="1">
                <a:latin typeface="Calibri" panose="020F0502020204030204" pitchFamily="34" charset="0"/>
                <a:cs typeface="Calibri" panose="020F0502020204030204" pitchFamily="34" charset="0"/>
              </a:rPr>
              <a:t>califican</a:t>
            </a:r>
            <a:r>
              <a:rPr lang="en-US" sz="1400" dirty="0">
                <a:latin typeface="Calibri" panose="020F0502020204030204" pitchFamily="34" charset="0"/>
                <a:cs typeface="Calibri" panose="020F0502020204030204" pitchFamily="34" charset="0"/>
              </a:rPr>
              <a:t> se divide entre 6 y </a:t>
            </a:r>
            <a:r>
              <a:rPr lang="en-US" sz="1400" dirty="0" err="1">
                <a:latin typeface="Calibri" panose="020F0502020204030204" pitchFamily="34" charset="0"/>
                <a:cs typeface="Calibri" panose="020F0502020204030204" pitchFamily="34" charset="0"/>
              </a:rPr>
              <a:t>eso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te</a:t>
            </a:r>
            <a:r>
              <a:rPr lang="en-US" sz="1400" dirty="0">
                <a:latin typeface="Calibri" panose="020F0502020204030204" pitchFamily="34" charset="0"/>
                <a:cs typeface="Calibri" panose="020F0502020204030204" pitchFamily="34" charset="0"/>
              </a:rPr>
              <a:t> dan de </a:t>
            </a:r>
            <a:r>
              <a:rPr lang="en-US" sz="1400" dirty="0" err="1">
                <a:latin typeface="Calibri" panose="020F0502020204030204" pitchFamily="34" charset="0"/>
                <a:cs typeface="Calibri" panose="020F0502020204030204" pitchFamily="34" charset="0"/>
              </a:rPr>
              <a:t>aumento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no </a:t>
            </a:r>
            <a:r>
              <a:rPr lang="en-US" sz="1400" dirty="0" err="1">
                <a:latin typeface="Calibri" panose="020F0502020204030204" pitchFamily="34" charset="0"/>
                <a:cs typeface="Calibri" panose="020F0502020204030204" pitchFamily="34" charset="0"/>
              </a:rPr>
              <a:t>califican</a:t>
            </a:r>
            <a:r>
              <a:rPr lang="en-US" sz="1400" dirty="0">
                <a:latin typeface="Calibri" panose="020F0502020204030204" pitchFamily="34" charset="0"/>
                <a:cs typeface="Calibri" panose="020F0502020204030204" pitchFamily="34" charset="0"/>
              </a:rPr>
              <a:t> entre 12.</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latin typeface="Calibri" panose="020F0502020204030204" pitchFamily="34" charset="0"/>
                <a:cs typeface="Calibri" panose="020F0502020204030204" pitchFamily="34" charset="0"/>
              </a:rPr>
              <a:t>Jorge ” Vallarta” Guzman </a:t>
            </a:r>
            <a:r>
              <a:rPr lang="en-US" sz="1400" dirty="0">
                <a:latin typeface="Calibri" panose="020F0502020204030204" pitchFamily="34" charset="0"/>
                <a:cs typeface="Calibri" panose="020F0502020204030204" pitchFamily="34" charset="0"/>
              </a:rPr>
              <a:t>es un </a:t>
            </a:r>
            <a:r>
              <a:rPr lang="en-US" sz="1400" dirty="0" err="1">
                <a:latin typeface="Calibri" panose="020F0502020204030204" pitchFamily="34" charset="0"/>
                <a:cs typeface="Calibri" panose="020F0502020204030204" pitchFamily="34" charset="0"/>
              </a:rPr>
              <a:t>prospecto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se </a:t>
            </a:r>
            <a:r>
              <a:rPr lang="en-US" sz="1400" dirty="0" err="1">
                <a:latin typeface="Calibri" panose="020F0502020204030204" pitchFamily="34" charset="0"/>
                <a:cs typeface="Calibri" panose="020F0502020204030204" pitchFamily="34" charset="0"/>
              </a:rPr>
              <a:t>fue</a:t>
            </a:r>
            <a:r>
              <a:rPr lang="en-US" sz="1400" dirty="0">
                <a:latin typeface="Calibri" panose="020F0502020204030204" pitchFamily="34" charset="0"/>
                <a:cs typeface="Calibri" panose="020F0502020204030204" pitchFamily="34" charset="0"/>
              </a:rPr>
              <a:t> a Chivas </a:t>
            </a:r>
            <a:r>
              <a:rPr lang="en-US" sz="1400" dirty="0" err="1">
                <a:latin typeface="Calibri" panose="020F0502020204030204" pitchFamily="34" charset="0"/>
                <a:cs typeface="Calibri" panose="020F0502020204030204" pitchFamily="34" charset="0"/>
              </a:rPr>
              <a:t>pero</a:t>
            </a:r>
            <a:r>
              <a:rPr lang="en-US" sz="1400" dirty="0">
                <a:latin typeface="Calibri" panose="020F0502020204030204" pitchFamily="34" charset="0"/>
                <a:cs typeface="Calibri" panose="020F0502020204030204" pitchFamily="34" charset="0"/>
              </a:rPr>
              <a:t> Atlas se </a:t>
            </a:r>
            <a:r>
              <a:rPr lang="en-US" sz="1400" dirty="0" err="1">
                <a:latin typeface="Calibri" panose="020F0502020204030204" pitchFamily="34" charset="0"/>
                <a:cs typeface="Calibri" panose="020F0502020204030204" pitchFamily="34" charset="0"/>
              </a:rPr>
              <a:t>quedó</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50%. Lo </a:t>
            </a:r>
            <a:r>
              <a:rPr lang="en-US" sz="1400" dirty="0" err="1">
                <a:latin typeface="Calibri" panose="020F0502020204030204" pitchFamily="34" charset="0"/>
                <a:cs typeface="Calibri" panose="020F0502020204030204" pitchFamily="34" charset="0"/>
              </a:rPr>
              <a:t>representa</a:t>
            </a:r>
            <a:r>
              <a:rPr lang="en-US" sz="1400" dirty="0">
                <a:latin typeface="Calibri" panose="020F0502020204030204" pitchFamily="34" charset="0"/>
                <a:cs typeface="Calibri" panose="020F0502020204030204" pitchFamily="34" charset="0"/>
              </a:rPr>
              <a:t> You First.</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400" b="1" dirty="0">
                <a:latin typeface="Calibri" panose="020F0502020204030204" pitchFamily="34" charset="0"/>
                <a:cs typeface="Calibri" panose="020F0502020204030204" pitchFamily="34" charset="0"/>
              </a:rPr>
              <a:t>Abraham Bass: </a:t>
            </a:r>
            <a:r>
              <a:rPr lang="en-US" sz="1400" dirty="0">
                <a:latin typeface="Calibri" panose="020F0502020204030204" pitchFamily="34" charset="0"/>
                <a:cs typeface="Calibri" panose="020F0502020204030204" pitchFamily="34" charset="0"/>
              </a:rPr>
              <a:t>lo </a:t>
            </a:r>
            <a:r>
              <a:rPr lang="en-US" sz="1400" dirty="0" err="1">
                <a:latin typeface="Calibri" panose="020F0502020204030204" pitchFamily="34" charset="0"/>
                <a:cs typeface="Calibri" panose="020F0502020204030204" pitchFamily="34" charset="0"/>
              </a:rPr>
              <a:t>prestaron</a:t>
            </a:r>
            <a:r>
              <a:rPr lang="en-US" sz="1400" dirty="0">
                <a:latin typeface="Calibri" panose="020F0502020204030204" pitchFamily="34" charset="0"/>
                <a:cs typeface="Calibri" panose="020F0502020204030204" pitchFamily="34" charset="0"/>
              </a:rPr>
              <a:t> a La Paz y </a:t>
            </a:r>
            <a:r>
              <a:rPr lang="en-US" sz="1400" dirty="0" err="1">
                <a:latin typeface="Calibri" panose="020F0502020204030204" pitchFamily="34" charset="0"/>
                <a:cs typeface="Calibri" panose="020F0502020204030204" pitchFamily="34" charset="0"/>
              </a:rPr>
              <a:t>regresó</a:t>
            </a:r>
            <a:r>
              <a:rPr lang="en-US" sz="1400" dirty="0">
                <a:latin typeface="Calibri" panose="020F0502020204030204" pitchFamily="34" charset="0"/>
                <a:cs typeface="Calibri" panose="020F0502020204030204" pitchFamily="34" charset="0"/>
              </a:rPr>
              <a:t> y  </a:t>
            </a:r>
            <a:r>
              <a:rPr lang="en-US" sz="1400" dirty="0" err="1">
                <a:latin typeface="Calibri" panose="020F0502020204030204" pitchFamily="34" charset="0"/>
                <a:cs typeface="Calibri" panose="020F0502020204030204" pitchFamily="34" charset="0"/>
              </a:rPr>
              <a:t>está</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jugando</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dirty="0">
                <a:highlight>
                  <a:srgbClr val="FFFF00"/>
                </a:highlight>
                <a:latin typeface="Calibri" panose="020F0502020204030204" pitchFamily="34" charset="0"/>
                <a:cs typeface="Calibri" panose="020F0502020204030204" pitchFamily="34" charset="0"/>
              </a:rPr>
              <a:t>No hay un director de </a:t>
            </a:r>
            <a:r>
              <a:rPr lang="en-US" sz="1400" b="1" dirty="0" err="1">
                <a:highlight>
                  <a:srgbClr val="FFFF00"/>
                </a:highlight>
                <a:latin typeface="Calibri" panose="020F0502020204030204" pitchFamily="34" charset="0"/>
                <a:cs typeface="Calibri" panose="020F0502020204030204" pitchFamily="34" charset="0"/>
              </a:rPr>
              <a:t>fuerzas</a:t>
            </a:r>
            <a:r>
              <a:rPr lang="en-US" sz="1400" b="1" dirty="0">
                <a:highlight>
                  <a:srgbClr val="FFFF00"/>
                </a:highlight>
                <a:latin typeface="Calibri" panose="020F0502020204030204" pitchFamily="34" charset="0"/>
                <a:cs typeface="Calibri" panose="020F0502020204030204" pitchFamily="34" charset="0"/>
              </a:rPr>
              <a:t> </a:t>
            </a:r>
            <a:r>
              <a:rPr lang="en-US" sz="1400" b="1" dirty="0" err="1">
                <a:highlight>
                  <a:srgbClr val="FFFF00"/>
                </a:highlight>
                <a:latin typeface="Calibri" panose="020F0502020204030204" pitchFamily="34" charset="0"/>
                <a:cs typeface="Calibri" panose="020F0502020204030204" pitchFamily="34" charset="0"/>
              </a:rPr>
              <a:t>basicas</a:t>
            </a:r>
            <a:r>
              <a:rPr lang="en-US" sz="1400" b="1" dirty="0">
                <a:highlight>
                  <a:srgbClr val="FFFF00"/>
                </a:highlight>
                <a:latin typeface="Calibri" panose="020F0502020204030204" pitchFamily="34" charset="0"/>
                <a:cs typeface="Calibri" panose="020F0502020204030204" pitchFamily="34" charset="0"/>
              </a:rPr>
              <a:t> </a:t>
            </a:r>
            <a:r>
              <a:rPr lang="en-US" sz="1400" b="1" dirty="0" err="1">
                <a:highlight>
                  <a:srgbClr val="FFFF00"/>
                </a:highlight>
                <a:latin typeface="Calibri" panose="020F0502020204030204" pitchFamily="34" charset="0"/>
                <a:cs typeface="Calibri" panose="020F0502020204030204" pitchFamily="34" charset="0"/>
              </a:rPr>
              <a:t>como</a:t>
            </a:r>
            <a:r>
              <a:rPr lang="en-US" sz="1400" b="1" dirty="0">
                <a:highlight>
                  <a:srgbClr val="FFFF00"/>
                </a:highlight>
                <a:latin typeface="Calibri" panose="020F0502020204030204" pitchFamily="34" charset="0"/>
                <a:cs typeface="Calibri" panose="020F0502020204030204" pitchFamily="34" charset="0"/>
              </a:rPr>
              <a:t> </a:t>
            </a:r>
            <a:r>
              <a:rPr lang="en-US" sz="1400" b="1" dirty="0" err="1">
                <a:highlight>
                  <a:srgbClr val="FFFF00"/>
                </a:highlight>
                <a:latin typeface="Calibri" panose="020F0502020204030204" pitchFamily="34" charset="0"/>
                <a:cs typeface="Calibri" panose="020F0502020204030204" pitchFamily="34" charset="0"/>
              </a:rPr>
              <a:t>tal</a:t>
            </a:r>
            <a:r>
              <a:rPr lang="en-US" sz="1400" b="1" dirty="0">
                <a:highlight>
                  <a:srgbClr val="FFFF00"/>
                </a:highlight>
                <a:latin typeface="Calibri" panose="020F0502020204030204" pitchFamily="34" charset="0"/>
                <a:cs typeface="Calibri" panose="020F0502020204030204" pitchFamily="34" charset="0"/>
              </a:rPr>
              <a:t>, hoy es Luigi Oswaldo. </a:t>
            </a:r>
          </a:p>
        </p:txBody>
      </p:sp>
      <p:sp>
        <p:nvSpPr>
          <p:cNvPr id="3" name="TextBox 2">
            <a:extLst>
              <a:ext uri="{FF2B5EF4-FFF2-40B4-BE49-F238E27FC236}">
                <a16:creationId xmlns:a16="http://schemas.microsoft.com/office/drawing/2014/main" id="{5ACBC76B-7489-18A9-359D-D752B6607A0B}"/>
              </a:ext>
            </a:extLst>
          </p:cNvPr>
          <p:cNvSpPr txBox="1"/>
          <p:nvPr/>
        </p:nvSpPr>
        <p:spPr>
          <a:xfrm>
            <a:off x="5989320" y="1220775"/>
            <a:ext cx="5913120" cy="307777"/>
          </a:xfrm>
          <a:prstGeom prst="rect">
            <a:avLst/>
          </a:prstGeom>
          <a:noFill/>
        </p:spPr>
        <p:txBody>
          <a:bodyPr wrap="square">
            <a:spAutoFit/>
          </a:bodyPr>
          <a:lstStyle/>
          <a:p>
            <a:pPr>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5065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D13B-771E-E29A-3EA7-8E39599EC147}"/>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CB57FAC-FACE-045F-A167-58EE6FB47589}"/>
              </a:ext>
            </a:extLst>
          </p:cNvPr>
          <p:cNvSpPr/>
          <p:nvPr/>
        </p:nvSpPr>
        <p:spPr>
          <a:xfrm>
            <a:off x="0" y="0"/>
            <a:ext cx="12192000" cy="1068946"/>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8D2713E6-A7E7-8A1F-289E-EFF191090125}"/>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E3125533-2C41-829F-699E-C327A312F656}"/>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Derechos de formación</a:t>
            </a:r>
            <a:endParaRPr lang="en-US" sz="3200" b="1" dirty="0">
              <a:solidFill>
                <a:schemeClr val="bg1"/>
              </a:solidFill>
            </a:endParaRPr>
          </a:p>
        </p:txBody>
      </p:sp>
      <p:sp>
        <p:nvSpPr>
          <p:cNvPr id="2" name="TextBox 1">
            <a:extLst>
              <a:ext uri="{FF2B5EF4-FFF2-40B4-BE49-F238E27FC236}">
                <a16:creationId xmlns:a16="http://schemas.microsoft.com/office/drawing/2014/main" id="{115AAB62-4D4C-C393-A7D2-2C4C5A103181}"/>
              </a:ext>
            </a:extLst>
          </p:cNvPr>
          <p:cNvSpPr txBox="1"/>
          <p:nvPr/>
        </p:nvSpPr>
        <p:spPr>
          <a:xfrm>
            <a:off x="289560" y="1220775"/>
            <a:ext cx="5069592" cy="954107"/>
          </a:xfrm>
          <a:prstGeom prst="rect">
            <a:avLst/>
          </a:prstGeom>
          <a:noFill/>
        </p:spPr>
        <p:txBody>
          <a:bodyPr wrap="square">
            <a:spAutoFit/>
          </a:bodyPr>
          <a:lstStyle/>
          <a:p>
            <a:pPr>
              <a:buNone/>
            </a:pPr>
            <a:r>
              <a:rPr lang="en-US" sz="1400" dirty="0">
                <a:latin typeface="Calibri" panose="020F0502020204030204" pitchFamily="34" charset="0"/>
                <a:cs typeface="Calibri" panose="020F0502020204030204" pitchFamily="34" charset="0"/>
              </a:rPr>
              <a:t>Derechos de </a:t>
            </a:r>
            <a:r>
              <a:rPr lang="en-US" sz="1400" dirty="0" err="1">
                <a:latin typeface="Calibri" panose="020F0502020204030204" pitchFamily="34" charset="0"/>
                <a:cs typeface="Calibri" panose="020F0502020204030204" pitchFamily="34" charset="0"/>
              </a:rPr>
              <a:t>Formación</a:t>
            </a: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Identificación</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posibles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ingresos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formación</a:t>
            </a:r>
            <a:r>
              <a:rPr lang="en-US" sz="1400" dirty="0">
                <a:latin typeface="Calibri" panose="020F0502020204030204" pitchFamily="34" charset="0"/>
                <a:cs typeface="Calibri" panose="020F0502020204030204" pitchFamily="34" charset="0"/>
              </a:rPr>
              <a:t> </a:t>
            </a: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Casos </a:t>
            </a:r>
            <a:r>
              <a:rPr lang="en-US" sz="1400" dirty="0" err="1">
                <a:latin typeface="Calibri" panose="020F0502020204030204" pitchFamily="34" charset="0"/>
                <a:cs typeface="Calibri" panose="020F0502020204030204" pitchFamily="34" charset="0"/>
              </a:rPr>
              <a:t>donde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club </a:t>
            </a:r>
            <a:r>
              <a:rPr lang="en-US" sz="1400" dirty="0" err="1">
                <a:latin typeface="Calibri" panose="020F0502020204030204" pitchFamily="34" charset="0"/>
                <a:cs typeface="Calibri" panose="020F0502020204030204" pitchFamily="34" charset="0"/>
              </a:rPr>
              <a:t>puede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reclamar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compensación</a:t>
            </a:r>
            <a:r>
              <a:rPr lang="en-US" sz="1400" dirty="0">
                <a:latin typeface="Calibri" panose="020F0502020204030204" pitchFamily="34" charset="0"/>
                <a:cs typeface="Calibri" panose="020F0502020204030204" pitchFamily="34" charset="0"/>
              </a:rPr>
              <a:t> </a:t>
            </a: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Riesgo de </a:t>
            </a:r>
            <a:r>
              <a:rPr lang="en-US" sz="1400" dirty="0" err="1">
                <a:latin typeface="Calibri" panose="020F0502020204030204" pitchFamily="34" charset="0"/>
                <a:cs typeface="Calibri" panose="020F0502020204030204" pitchFamily="34" charset="0"/>
              </a:rPr>
              <a:t>pérdida</a:t>
            </a:r>
            <a:r>
              <a:rPr lang="en-US" sz="1400" dirty="0">
                <a:latin typeface="Calibri" panose="020F0502020204030204" pitchFamily="34" charset="0"/>
                <a:cs typeface="Calibri" panose="020F0502020204030204" pitchFamily="34" charset="0"/>
              </a:rPr>
              <a:t> de derechos (</a:t>
            </a:r>
            <a:r>
              <a:rPr lang="en-US" sz="1400" dirty="0" err="1">
                <a:latin typeface="Calibri" panose="020F0502020204030204" pitchFamily="34" charset="0"/>
                <a:cs typeface="Calibri" panose="020F0502020204030204" pitchFamily="34" charset="0"/>
              </a:rPr>
              <a:t>cuando</a:t>
            </a:r>
            <a:r>
              <a:rPr lang="en-US" sz="1400" dirty="0">
                <a:latin typeface="Calibri" panose="020F0502020204030204" pitchFamily="34" charset="0"/>
                <a:cs typeface="Calibri" panose="020F0502020204030204" pitchFamily="34" charset="0"/>
              </a:rPr>
              <a:t> se </a:t>
            </a:r>
            <a:r>
              <a:rPr lang="en-US" sz="1400" dirty="0" err="1">
                <a:latin typeface="Calibri" panose="020F0502020204030204" pitchFamily="34" charset="0"/>
                <a:cs typeface="Calibri" panose="020F0502020204030204" pitchFamily="34" charset="0"/>
              </a:rPr>
              <a:t>renuncian</a:t>
            </a:r>
            <a:r>
              <a:rPr lang="en-US" sz="1400" dirty="0">
                <a:latin typeface="Calibri" panose="020F0502020204030204" pitchFamily="34" charset="0"/>
                <a:cs typeface="Calibri" panose="020F0502020204030204" pitchFamily="34" charset="0"/>
              </a:rPr>
              <a:t>) </a:t>
            </a:r>
          </a:p>
        </p:txBody>
      </p:sp>
      <p:sp>
        <p:nvSpPr>
          <p:cNvPr id="5" name="TextBox 4">
            <a:extLst>
              <a:ext uri="{FF2B5EF4-FFF2-40B4-BE49-F238E27FC236}">
                <a16:creationId xmlns:a16="http://schemas.microsoft.com/office/drawing/2014/main" id="{DDEC74EC-39EB-9F62-75EF-42300464D1B0}"/>
              </a:ext>
            </a:extLst>
          </p:cNvPr>
          <p:cNvSpPr txBox="1"/>
          <p:nvPr/>
        </p:nvSpPr>
        <p:spPr>
          <a:xfrm>
            <a:off x="289559" y="3429000"/>
            <a:ext cx="11513420" cy="1815882"/>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Calibri" panose="020F0502020204030204" pitchFamily="34" charset="0"/>
                <a:cs typeface="Calibri" panose="020F0502020204030204" pitchFamily="34" charset="0"/>
              </a:rPr>
              <a:t>Aaron Arredondo: </a:t>
            </a:r>
            <a:r>
              <a:rPr lang="en-US" sz="1600" dirty="0" err="1">
                <a:latin typeface="Calibri" panose="020F0502020204030204" pitchFamily="34" charset="0"/>
                <a:cs typeface="Calibri" panose="020F0502020204030204" pitchFamily="34" charset="0"/>
              </a:rPr>
              <a:t>Estuvo</a:t>
            </a:r>
            <a:r>
              <a:rPr lang="en-US" sz="1600" dirty="0">
                <a:latin typeface="Calibri" panose="020F0502020204030204" pitchFamily="34" charset="0"/>
                <a:cs typeface="Calibri" panose="020F0502020204030204" pitchFamily="34" charset="0"/>
              </a:rPr>
              <a:t> de 2018 a Junio 2025 con Atlas, </a:t>
            </a:r>
            <a:r>
              <a:rPr lang="en-US" sz="1600" dirty="0" err="1">
                <a:latin typeface="Calibri" panose="020F0502020204030204" pitchFamily="34" charset="0"/>
                <a:cs typeface="Calibri" panose="020F0502020204030204" pitchFamily="34" charset="0"/>
              </a:rPr>
              <a:t>si</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este</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llegará</a:t>
            </a:r>
            <a:r>
              <a:rPr lang="en-US" sz="1600" dirty="0">
                <a:latin typeface="Calibri" panose="020F0502020204030204" pitchFamily="34" charset="0"/>
                <a:cs typeface="Calibri" panose="020F0502020204030204" pitchFamily="34" charset="0"/>
              </a:rPr>
              <a:t> a </a:t>
            </a:r>
            <a:r>
              <a:rPr lang="en-US" sz="1600" dirty="0" err="1">
                <a:latin typeface="Calibri" panose="020F0502020204030204" pitchFamily="34" charset="0"/>
                <a:cs typeface="Calibri" panose="020F0502020204030204" pitchFamily="34" charset="0"/>
              </a:rPr>
              <a:t>debutar</a:t>
            </a:r>
            <a:r>
              <a:rPr lang="en-US" sz="1600" dirty="0">
                <a:latin typeface="Calibri" panose="020F0502020204030204" pitchFamily="34" charset="0"/>
                <a:cs typeface="Calibri" panose="020F0502020204030204" pitchFamily="34" charset="0"/>
              </a:rPr>
              <a:t> y </a:t>
            </a:r>
            <a:r>
              <a:rPr lang="en-US" sz="1600" dirty="0" err="1">
                <a:latin typeface="Calibri" panose="020F0502020204030204" pitchFamily="34" charset="0"/>
                <a:cs typeface="Calibri" panose="020F0502020204030204" pitchFamily="34" charset="0"/>
              </a:rPr>
              <a:t>el</a:t>
            </a:r>
            <a:r>
              <a:rPr lang="en-US" sz="1600" dirty="0">
                <a:latin typeface="Calibri" panose="020F0502020204030204" pitchFamily="34" charset="0"/>
                <a:cs typeface="Calibri" panose="020F0502020204030204" pitchFamily="34" charset="0"/>
              </a:rPr>
              <a:t> Club no </a:t>
            </a:r>
            <a:r>
              <a:rPr lang="en-US" sz="1600" dirty="0" err="1">
                <a:latin typeface="Calibri" panose="020F0502020204030204" pitchFamily="34" charset="0"/>
                <a:cs typeface="Calibri" panose="020F0502020204030204" pitchFamily="34" charset="0"/>
              </a:rPr>
              <a:t>tiene</a:t>
            </a:r>
            <a:r>
              <a:rPr lang="en-US" sz="1600" dirty="0">
                <a:latin typeface="Calibri" panose="020F0502020204030204" pitchFamily="34" charset="0"/>
                <a:cs typeface="Calibri" panose="020F0502020204030204" pitchFamily="34" charset="0"/>
              </a:rPr>
              <a:t> un </a:t>
            </a:r>
            <a:r>
              <a:rPr lang="en-US" sz="1600" dirty="0" err="1">
                <a:latin typeface="Calibri" panose="020F0502020204030204" pitchFamily="34" charset="0"/>
                <a:cs typeface="Calibri" panose="020F0502020204030204" pitchFamily="34" charset="0"/>
              </a:rPr>
              <a:t>prueba</a:t>
            </a:r>
            <a:r>
              <a:rPr lang="en-US" sz="1600" dirty="0">
                <a:latin typeface="Calibri" panose="020F0502020204030204" pitchFamily="34" charset="0"/>
                <a:cs typeface="Calibri" panose="020F0502020204030204" pitchFamily="34" charset="0"/>
              </a:rPr>
              <a:t> de </a:t>
            </a:r>
            <a:r>
              <a:rPr lang="en-US" sz="1600" dirty="0" err="1">
                <a:latin typeface="Calibri" panose="020F0502020204030204" pitchFamily="34" charset="0"/>
                <a:cs typeface="Calibri" panose="020F0502020204030204" pitchFamily="34" charset="0"/>
              </a:rPr>
              <a:t>que</a:t>
            </a:r>
            <a:r>
              <a:rPr lang="en-US" sz="1600" dirty="0">
                <a:latin typeface="Calibri" panose="020F0502020204030204" pitchFamily="34" charset="0"/>
                <a:cs typeface="Calibri" panose="020F0502020204030204" pitchFamily="34" charset="0"/>
              </a:rPr>
              <a:t> America </a:t>
            </a:r>
            <a:r>
              <a:rPr lang="en-US" sz="1600" dirty="0" err="1">
                <a:latin typeface="Calibri" panose="020F0502020204030204" pitchFamily="34" charset="0"/>
                <a:cs typeface="Calibri" panose="020F0502020204030204" pitchFamily="34" charset="0"/>
              </a:rPr>
              <a:t>renunció</a:t>
            </a:r>
            <a:r>
              <a:rPr lang="en-US" sz="1600" dirty="0">
                <a:latin typeface="Calibri" panose="020F0502020204030204" pitchFamily="34" charset="0"/>
                <a:cs typeface="Calibri" panose="020F0502020204030204" pitchFamily="34" charset="0"/>
              </a:rPr>
              <a:t> al derecho a </a:t>
            </a:r>
            <a:r>
              <a:rPr lang="en-US" sz="1600" dirty="0" err="1">
                <a:latin typeface="Calibri" panose="020F0502020204030204" pitchFamily="34" charset="0"/>
                <a:cs typeface="Calibri" panose="020F0502020204030204" pitchFamily="34" charset="0"/>
              </a:rPr>
              <a:t>formación</a:t>
            </a:r>
            <a:r>
              <a:rPr lang="en-US" sz="1600" dirty="0">
                <a:latin typeface="Calibri" panose="020F0502020204030204" pitchFamily="34" charset="0"/>
                <a:cs typeface="Calibri" panose="020F0502020204030204" pitchFamily="34" charset="0"/>
              </a:rPr>
              <a:t> Atlas </a:t>
            </a:r>
            <a:r>
              <a:rPr lang="en-US" sz="1600" dirty="0" err="1">
                <a:latin typeface="Calibri" panose="020F0502020204030204" pitchFamily="34" charset="0"/>
                <a:cs typeface="Calibri" panose="020F0502020204030204" pitchFamily="34" charset="0"/>
              </a:rPr>
              <a:t>tendrá</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que</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pagar</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aprox</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Llegó</a:t>
            </a:r>
            <a:r>
              <a:rPr lang="en-US" sz="1600" dirty="0">
                <a:latin typeface="Calibri" panose="020F0502020204030204" pitchFamily="34" charset="0"/>
                <a:cs typeface="Calibri" panose="020F0502020204030204" pitchFamily="34" charset="0"/>
              </a:rPr>
              <a:t> y se </a:t>
            </a:r>
            <a:r>
              <a:rPr lang="en-US" sz="1600" dirty="0" err="1">
                <a:latin typeface="Calibri" panose="020F0502020204030204" pitchFamily="34" charset="0"/>
                <a:cs typeface="Calibri" panose="020F0502020204030204" pitchFamily="34" charset="0"/>
              </a:rPr>
              <a:t>lastimó</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pero</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ya</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esta</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jugando</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Tuvo</a:t>
            </a:r>
            <a:r>
              <a:rPr lang="en-US" sz="1600" dirty="0">
                <a:latin typeface="Calibri" panose="020F0502020204030204" pitchFamily="34" charset="0"/>
                <a:cs typeface="Calibri" panose="020F0502020204030204" pitchFamily="34" charset="0"/>
              </a:rPr>
              <a:t> un </a:t>
            </a:r>
            <a:r>
              <a:rPr lang="en-US" sz="1600" dirty="0" err="1">
                <a:latin typeface="Calibri" panose="020F0502020204030204" pitchFamily="34" charset="0"/>
                <a:cs typeface="Calibri" panose="020F0502020204030204" pitchFamily="34" charset="0"/>
              </a:rPr>
              <a:t>tema</a:t>
            </a:r>
            <a:r>
              <a:rPr lang="en-US" sz="1600" dirty="0">
                <a:latin typeface="Calibri" panose="020F0502020204030204" pitchFamily="34" charset="0"/>
                <a:cs typeface="Calibri" panose="020F0502020204030204" pitchFamily="34" charset="0"/>
              </a:rPr>
              <a:t> de </a:t>
            </a:r>
            <a:r>
              <a:rPr lang="en-US" sz="1600" dirty="0" err="1">
                <a:latin typeface="Calibri" panose="020F0502020204030204" pitchFamily="34" charset="0"/>
                <a:cs typeface="Calibri" panose="020F0502020204030204" pitchFamily="34" charset="0"/>
              </a:rPr>
              <a:t>pliegues</a:t>
            </a:r>
            <a:r>
              <a:rPr lang="en-US" sz="1600" dirty="0">
                <a:latin typeface="Calibri" panose="020F0502020204030204" pitchFamily="34" charset="0"/>
                <a:cs typeface="Calibri" panose="020F0502020204030204" pitchFamily="34" charset="0"/>
              </a:rPr>
              <a:t>. Se </a:t>
            </a:r>
            <a:r>
              <a:rPr lang="en-US" sz="1600" dirty="0" err="1">
                <a:latin typeface="Calibri" panose="020F0502020204030204" pitchFamily="34" charset="0"/>
                <a:cs typeface="Calibri" panose="020F0502020204030204" pitchFamily="34" charset="0"/>
              </a:rPr>
              <a:t>quedó</a:t>
            </a:r>
            <a:r>
              <a:rPr lang="en-US" sz="1600" dirty="0">
                <a:latin typeface="Calibri" panose="020F0502020204030204" pitchFamily="34" charset="0"/>
                <a:cs typeface="Calibri" panose="020F0502020204030204" pitchFamily="34" charset="0"/>
              </a:rPr>
              <a:t> un </a:t>
            </a:r>
            <a:r>
              <a:rPr lang="en-US" sz="1600" dirty="0" err="1">
                <a:latin typeface="Calibri" panose="020F0502020204030204" pitchFamily="34" charset="0"/>
                <a:cs typeface="Calibri" panose="020F0502020204030204" pitchFamily="34" charset="0"/>
              </a:rPr>
              <a:t>porcentaje</a:t>
            </a:r>
            <a:r>
              <a:rPr lang="en-US" sz="1600" dirty="0">
                <a:latin typeface="Calibri" panose="020F0502020204030204" pitchFamily="34" charset="0"/>
                <a:cs typeface="Calibri" panose="020F0502020204030204" pitchFamily="34" charset="0"/>
              </a:rPr>
              <a:t> America (</a:t>
            </a:r>
            <a:r>
              <a:rPr lang="en-US" sz="1600" dirty="0" err="1">
                <a:latin typeface="Calibri" panose="020F0502020204030204" pitchFamily="34" charset="0"/>
                <a:cs typeface="Calibri" panose="020F0502020204030204" pitchFamily="34" charset="0"/>
              </a:rPr>
              <a:t>aún</a:t>
            </a:r>
            <a:r>
              <a:rPr lang="en-US" sz="1600" dirty="0">
                <a:latin typeface="Calibri" panose="020F0502020204030204" pitchFamily="34" charset="0"/>
                <a:cs typeface="Calibri" panose="020F0502020204030204" pitchFamily="34" charset="0"/>
              </a:rPr>
              <a:t> no se </a:t>
            </a:r>
            <a:r>
              <a:rPr lang="en-US" sz="1600" dirty="0" err="1">
                <a:latin typeface="Calibri" panose="020F0502020204030204" pitchFamily="34" charset="0"/>
                <a:cs typeface="Calibri" panose="020F0502020204030204" pitchFamily="34" charset="0"/>
              </a:rPr>
              <a:t>cuanto</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en</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teoría</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renunció</a:t>
            </a:r>
            <a:r>
              <a:rPr lang="en-US" sz="1600" dirty="0">
                <a:latin typeface="Calibri" panose="020F0502020204030204" pitchFamily="34" charset="0"/>
                <a:cs typeface="Calibri" panose="020F0502020204030204" pitchFamily="34" charset="0"/>
              </a:rPr>
              <a:t> a </a:t>
            </a:r>
            <a:r>
              <a:rPr lang="en-US" sz="1600" dirty="0" err="1">
                <a:latin typeface="Calibri" panose="020F0502020204030204" pitchFamily="34" charset="0"/>
                <a:cs typeface="Calibri" panose="020F0502020204030204" pitchFamily="34" charset="0"/>
              </a:rPr>
              <a:t>los</a:t>
            </a:r>
            <a:r>
              <a:rPr lang="en-US" sz="1600" dirty="0">
                <a:latin typeface="Calibri" panose="020F0502020204030204" pitchFamily="34" charset="0"/>
                <a:cs typeface="Calibri" panose="020F0502020204030204" pitchFamily="34" charset="0"/>
              </a:rPr>
              <a:t> derechos de </a:t>
            </a:r>
            <a:r>
              <a:rPr lang="en-US" sz="1600" dirty="0" err="1">
                <a:latin typeface="Calibri" panose="020F0502020204030204" pitchFamily="34" charset="0"/>
                <a:cs typeface="Calibri" panose="020F0502020204030204" pitchFamily="34" charset="0"/>
              </a:rPr>
              <a:t>formación</a:t>
            </a:r>
            <a:r>
              <a:rPr lang="en-US" sz="1600" dirty="0">
                <a:latin typeface="Calibri" panose="020F0502020204030204" pitchFamily="34" charset="0"/>
                <a:cs typeface="Calibri" panose="020F0502020204030204" pitchFamily="34" charset="0"/>
              </a:rPr>
              <a:t> hay </a:t>
            </a:r>
            <a:r>
              <a:rPr lang="en-US" sz="1600" dirty="0" err="1">
                <a:latin typeface="Calibri" panose="020F0502020204030204" pitchFamily="34" charset="0"/>
                <a:cs typeface="Calibri" panose="020F0502020204030204" pitchFamily="34" charset="0"/>
              </a:rPr>
              <a:t>que</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cotejar</a:t>
            </a:r>
            <a:r>
              <a:rPr lang="en-US" sz="16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latin typeface="Calibri" panose="020F0502020204030204" pitchFamily="34" charset="0"/>
                <a:cs typeface="Calibri" panose="020F0502020204030204" pitchFamily="34" charset="0"/>
              </a:rPr>
              <a:t>Rodrigo </a:t>
            </a:r>
            <a:r>
              <a:rPr lang="en-US" sz="1600" b="1" dirty="0" err="1">
                <a:latin typeface="Calibri" panose="020F0502020204030204" pitchFamily="34" charset="0"/>
                <a:cs typeface="Calibri" panose="020F0502020204030204" pitchFamily="34" charset="0"/>
              </a:rPr>
              <a:t>Rentería</a:t>
            </a:r>
            <a:r>
              <a:rPr lang="en-US" sz="1600" b="1"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Hizo</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proceso</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en</a:t>
            </a:r>
            <a:r>
              <a:rPr lang="en-US" sz="1600" dirty="0">
                <a:latin typeface="Calibri" panose="020F0502020204030204" pitchFamily="34" charset="0"/>
                <a:cs typeface="Calibri" panose="020F0502020204030204" pitchFamily="34" charset="0"/>
              </a:rPr>
              <a:t> Chivas </a:t>
            </a:r>
            <a:r>
              <a:rPr lang="en-US" sz="1600" dirty="0" err="1">
                <a:latin typeface="Calibri" panose="020F0502020204030204" pitchFamily="34" charset="0"/>
                <a:cs typeface="Calibri" panose="020F0502020204030204" pitchFamily="34" charset="0"/>
              </a:rPr>
              <a:t>después</a:t>
            </a:r>
            <a:r>
              <a:rPr lang="en-US" sz="1600" dirty="0">
                <a:latin typeface="Calibri" panose="020F0502020204030204" pitchFamily="34" charset="0"/>
                <a:cs typeface="Calibri" panose="020F0502020204030204" pitchFamily="34" charset="0"/>
              </a:rPr>
              <a:t> 3 </a:t>
            </a:r>
            <a:r>
              <a:rPr lang="en-US" sz="1600" dirty="0" err="1">
                <a:latin typeface="Calibri" panose="020F0502020204030204" pitchFamily="34" charset="0"/>
                <a:cs typeface="Calibri" panose="020F0502020204030204" pitchFamily="34" charset="0"/>
              </a:rPr>
              <a:t>años</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en</a:t>
            </a:r>
            <a:r>
              <a:rPr lang="en-US" sz="1600" dirty="0">
                <a:latin typeface="Calibri" panose="020F0502020204030204" pitchFamily="34" charset="0"/>
                <a:cs typeface="Calibri" panose="020F0502020204030204" pitchFamily="34" charset="0"/>
              </a:rPr>
              <a:t> Monterrey. </a:t>
            </a:r>
            <a:r>
              <a:rPr lang="en-US" sz="1600" dirty="0" err="1">
                <a:latin typeface="Calibri" panose="020F0502020204030204" pitchFamily="34" charset="0"/>
                <a:cs typeface="Calibri" panose="020F0502020204030204" pitchFamily="34" charset="0"/>
              </a:rPr>
              <a:t>Cotejar</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si</a:t>
            </a:r>
            <a:r>
              <a:rPr lang="en-US" sz="1600" dirty="0">
                <a:latin typeface="Calibri" panose="020F0502020204030204" pitchFamily="34" charset="0"/>
                <a:cs typeface="Calibri" panose="020F0502020204030204" pitchFamily="34" charset="0"/>
              </a:rPr>
              <a:t> hay </a:t>
            </a:r>
            <a:r>
              <a:rPr lang="en-US" sz="1600" dirty="0" err="1">
                <a:latin typeface="Calibri" panose="020F0502020204030204" pitchFamily="34" charset="0"/>
                <a:cs typeface="Calibri" panose="020F0502020204030204" pitchFamily="34" charset="0"/>
              </a:rPr>
              <a:t>renuncia</a:t>
            </a:r>
            <a:r>
              <a:rPr lang="en-US" sz="1600" dirty="0">
                <a:latin typeface="Calibri" panose="020F0502020204030204" pitchFamily="34" charset="0"/>
                <a:cs typeface="Calibri" panose="020F0502020204030204" pitchFamily="34" charset="0"/>
              </a:rPr>
              <a:t> de Rayados de derechos de </a:t>
            </a:r>
            <a:r>
              <a:rPr lang="en-US" sz="1600" dirty="0" err="1">
                <a:latin typeface="Calibri" panose="020F0502020204030204" pitchFamily="34" charset="0"/>
                <a:cs typeface="Calibri" panose="020F0502020204030204" pitchFamily="34" charset="0"/>
              </a:rPr>
              <a:t>formación</a:t>
            </a:r>
            <a:r>
              <a:rPr lang="en-US" sz="16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0144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86E3C-2046-0039-5EE9-3906FBC5E8FF}"/>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2DB3680-E1E1-91E1-44B5-F88CDD19F68E}"/>
              </a:ext>
            </a:extLst>
          </p:cNvPr>
          <p:cNvSpPr/>
          <p:nvPr/>
        </p:nvSpPr>
        <p:spPr>
          <a:xfrm>
            <a:off x="0" y="0"/>
            <a:ext cx="12192000" cy="1068946"/>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6180499E-AC61-F54E-07F5-E38C7D19C889}"/>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CE491F3A-17E8-7FC8-0A93-221436601B43}"/>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Comentarios extra</a:t>
            </a:r>
            <a:endParaRPr lang="en-US" sz="3200" b="1" dirty="0">
              <a:solidFill>
                <a:schemeClr val="bg1"/>
              </a:solidFill>
            </a:endParaRPr>
          </a:p>
        </p:txBody>
      </p:sp>
      <p:sp>
        <p:nvSpPr>
          <p:cNvPr id="2" name="TextBox 1">
            <a:extLst>
              <a:ext uri="{FF2B5EF4-FFF2-40B4-BE49-F238E27FC236}">
                <a16:creationId xmlns:a16="http://schemas.microsoft.com/office/drawing/2014/main" id="{43D63304-7B8A-19FD-3222-ECB963C07452}"/>
              </a:ext>
            </a:extLst>
          </p:cNvPr>
          <p:cNvSpPr txBox="1"/>
          <p:nvPr/>
        </p:nvSpPr>
        <p:spPr>
          <a:xfrm>
            <a:off x="289559" y="1220775"/>
            <a:ext cx="11752046" cy="5262979"/>
          </a:xfrm>
          <a:prstGeom prst="rect">
            <a:avLst/>
          </a:prstGeom>
          <a:noFill/>
        </p:spPr>
        <p:txBody>
          <a:bodyPr wrap="square">
            <a:spAutoFit/>
          </a:bodyPr>
          <a:lstStyle/>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b="1" dirty="0">
                <a:latin typeface="Calibri" panose="020F0502020204030204" pitchFamily="34" charset="0"/>
                <a:cs typeface="Calibri" panose="020F0502020204030204" pitchFamily="34" charset="0"/>
              </a:rPr>
              <a:t>Consejo Deportivo: </a:t>
            </a:r>
            <a:r>
              <a:rPr lang="es-419" sz="1400" dirty="0">
                <a:latin typeface="Calibri" panose="020F0502020204030204" pitchFamily="34" charset="0"/>
                <a:cs typeface="Calibri" panose="020F0502020204030204" pitchFamily="34" charset="0"/>
              </a:rPr>
              <a:t>Con expertos en el tema. Yo puedo sugerir a candidatos con experiencia en el medio y que lo quea prendeiron en el pasado sirva.</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Hay mucha rotacion en puestos en dónde se tiene que pensar en largo plazo.</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Hay varios clubes que tenían las paz con ORLEGI ahora que deje de ser la franquicia de ellos, brincarán algunos.</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Se recontrata mucho a Cuerpos Técnicos dónde quedaron mal en clubes pasados y no se hace un proces de contratación como se debe.</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En el tema de DT en muchas ocasiones no se hacen las preguntas que se deberían hacer.</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Con movimientos en otros clubes hay gente muy valioza buscando oportunidades laborales y puedo sugerir varios candidatos para ciertos puestos.</a:t>
            </a:r>
          </a:p>
          <a:p>
            <a:pPr marL="285750" indent="-285750">
              <a:buFont typeface="Wingdings" pitchFamily="2" charset="2"/>
              <a:buChar char="§"/>
            </a:pPr>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Al ser hoy Multi Club</a:t>
            </a:r>
            <a:r>
              <a:rPr lang="en-US" sz="1100"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hay roles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hoy </a:t>
            </a:r>
            <a:r>
              <a:rPr lang="en-US" sz="1400" dirty="0" err="1">
                <a:latin typeface="Calibri" panose="020F0502020204030204" pitchFamily="34" charset="0"/>
                <a:cs typeface="Calibri" panose="020F0502020204030204" pitchFamily="34" charset="0"/>
              </a:rPr>
              <a:t>estan</a:t>
            </a:r>
            <a:r>
              <a:rPr lang="en-US" sz="1400" dirty="0">
                <a:latin typeface="Calibri" panose="020F0502020204030204" pitchFamily="34" charset="0"/>
                <a:cs typeface="Calibri" panose="020F0502020204030204" pitchFamily="34" charset="0"/>
              </a:rPr>
              <a:t> la </a:t>
            </a:r>
            <a:r>
              <a:rPr lang="en-US" sz="1400" dirty="0" err="1">
                <a:latin typeface="Calibri" panose="020F0502020204030204" pitchFamily="34" charset="0"/>
                <a:cs typeface="Calibri" panose="020F0502020204030204" pitchFamily="34" charset="0"/>
              </a:rPr>
              <a:t>oficina</a:t>
            </a:r>
            <a:r>
              <a:rPr lang="en-US" sz="1400" dirty="0">
                <a:latin typeface="Calibri" panose="020F0502020204030204" pitchFamily="34" charset="0"/>
                <a:cs typeface="Calibri" panose="020F0502020204030204" pitchFamily="34" charset="0"/>
              </a:rPr>
              <a:t> de Mexico, y </a:t>
            </a:r>
            <a:r>
              <a:rPr lang="en-US" sz="1400" dirty="0" err="1">
                <a:latin typeface="Calibri" panose="020F0502020204030204" pitchFamily="34" charset="0"/>
                <a:cs typeface="Calibri" panose="020F0502020204030204" pitchFamily="34" charset="0"/>
              </a:rPr>
              <a:t>esos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puestos</a:t>
            </a:r>
            <a:r>
              <a:rPr lang="en-US" sz="1400" dirty="0">
                <a:latin typeface="Calibri" panose="020F0502020204030204" pitchFamily="34" charset="0"/>
                <a:cs typeface="Calibri" panose="020F0502020204030204" pitchFamily="34" charset="0"/>
              </a:rPr>
              <a:t> no </a:t>
            </a:r>
            <a:r>
              <a:rPr lang="en-US" sz="1400" dirty="0" err="1">
                <a:latin typeface="Calibri" panose="020F0502020204030204" pitchFamily="34" charset="0"/>
                <a:cs typeface="Calibri" panose="020F0502020204030204" pitchFamily="34" charset="0"/>
              </a:rPr>
              <a:t>estan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Club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lo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hay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reestrucutrar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organigrama</a:t>
            </a:r>
            <a:r>
              <a:rPr lang="en-US" sz="14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err="1">
                <a:latin typeface="Calibri" panose="020F0502020204030204" pitchFamily="34" charset="0"/>
                <a:cs typeface="Calibri" panose="020F0502020204030204" pitchFamily="34" charset="0"/>
              </a:rPr>
              <a:t>Retomar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prestamos</a:t>
            </a:r>
            <a:r>
              <a:rPr lang="en-US" sz="1400" dirty="0">
                <a:latin typeface="Calibri" panose="020F0502020204030204" pitchFamily="34" charset="0"/>
                <a:cs typeface="Calibri" panose="020F0502020204030204" pitchFamily="34" charset="0"/>
              </a:rPr>
              <a:t> con </a:t>
            </a:r>
            <a:r>
              <a:rPr lang="en-US" sz="1400" dirty="0" err="1">
                <a:latin typeface="Calibri" panose="020F0502020204030204" pitchFamily="34" charset="0"/>
                <a:cs typeface="Calibri" panose="020F0502020204030204" pitchFamily="34" charset="0"/>
              </a:rPr>
              <a:t>equipos</a:t>
            </a:r>
            <a:r>
              <a:rPr lang="en-US" sz="1400" dirty="0">
                <a:latin typeface="Calibri" panose="020F0502020204030204" pitchFamily="34" charset="0"/>
                <a:cs typeface="Calibri" panose="020F0502020204030204" pitchFamily="34" charset="0"/>
              </a:rPr>
              <a:t> AAA (Cruz Azul, America, Tigres y Monterrey).</a:t>
            </a:r>
          </a:p>
          <a:p>
            <a:endParaRPr lang="es-419"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s-419" sz="1400" dirty="0">
                <a:latin typeface="Calibri" panose="020F0502020204030204" pitchFamily="34" charset="0"/>
                <a:cs typeface="Calibri" panose="020F0502020204030204" pitchFamily="34" charset="0"/>
              </a:rPr>
              <a:t>Europa – Viaje para analizar mejores practicas. Es importante con el Presidente del club hacer un viaje a Europa a abrir puertas y a ver mejores practicas en diferentes ámbitos esto siempre abre el panorama, hoy todo va hacía la especialización.</a:t>
            </a:r>
          </a:p>
          <a:p>
            <a:pPr marL="342900" indent="-342900">
              <a:buFont typeface="+mj-lt"/>
              <a:buAutoNum type="arabicPeriod"/>
            </a:pPr>
            <a:r>
              <a:rPr lang="es-419" sz="1400" dirty="0">
                <a:latin typeface="Calibri" panose="020F0502020204030204" pitchFamily="34" charset="0"/>
                <a:cs typeface="Calibri" panose="020F0502020204030204" pitchFamily="34" charset="0"/>
              </a:rPr>
              <a:t>Ejemplo: Scouts no ven jugadores, ven posiciones.</a:t>
            </a:r>
          </a:p>
          <a:p>
            <a:pPr marL="342900" indent="-342900">
              <a:buFont typeface="+mj-lt"/>
              <a:buAutoNum type="arabicPeriod"/>
            </a:pPr>
            <a:r>
              <a:rPr lang="es-419" sz="1400" dirty="0">
                <a:latin typeface="Calibri" panose="020F0502020204030204" pitchFamily="34" charset="0"/>
                <a:cs typeface="Calibri" panose="020F0502020204030204" pitchFamily="34" charset="0"/>
              </a:rPr>
              <a:t>Ejemplo2: Los clubes tienen UN ESPECIALISTA de balón parado, hoy en mexico lo hace como extra algun auxiliar.</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AE8A222-3A64-034D-ED68-6BF08CB6C528}"/>
              </a:ext>
            </a:extLst>
          </p:cNvPr>
          <p:cNvSpPr txBox="1"/>
          <p:nvPr/>
        </p:nvSpPr>
        <p:spPr>
          <a:xfrm>
            <a:off x="5989320" y="1220775"/>
            <a:ext cx="5913120" cy="307777"/>
          </a:xfrm>
          <a:prstGeom prst="rect">
            <a:avLst/>
          </a:prstGeom>
          <a:noFill/>
        </p:spPr>
        <p:txBody>
          <a:bodyPr wrap="square">
            <a:spAutoFit/>
          </a:bodyPr>
          <a:lstStyle/>
          <a:p>
            <a:pPr>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877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DE3210-6FE7-7043-8797-A8016AAA4FD5}"/>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0F588DDA-1DC8-B221-7872-D1C7AAE94C99}"/>
              </a:ext>
            </a:extLst>
          </p:cNvPr>
          <p:cNvSpPr/>
          <p:nvPr/>
        </p:nvSpPr>
        <p:spPr>
          <a:xfrm>
            <a:off x="0" y="0"/>
            <a:ext cx="12192000" cy="1068946"/>
          </a:xfrm>
          <a:prstGeom prst="rect">
            <a:avLst/>
          </a:prstGeom>
          <a:solidFill>
            <a:srgbClr val="C3270D"/>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C3919FBB-F560-C746-0249-6C7F6015CBEE}"/>
              </a:ext>
            </a:extLst>
          </p:cNvPr>
          <p:cNvPicPr>
            <a:picLocks noChangeAspect="1"/>
          </p:cNvPicPr>
          <p:nvPr/>
        </p:nvPicPr>
        <p:blipFill>
          <a:blip r:embed="rId2"/>
          <a:stretch>
            <a:fillRect/>
          </a:stretch>
        </p:blipFill>
        <p:spPr>
          <a:xfrm>
            <a:off x="11384280" y="131907"/>
            <a:ext cx="657325" cy="657325"/>
          </a:xfrm>
          <a:prstGeom prst="rect">
            <a:avLst/>
          </a:prstGeom>
        </p:spPr>
      </p:pic>
      <p:sp>
        <p:nvSpPr>
          <p:cNvPr id="10" name="TextBox 9">
            <a:extLst>
              <a:ext uri="{FF2B5EF4-FFF2-40B4-BE49-F238E27FC236}">
                <a16:creationId xmlns:a16="http://schemas.microsoft.com/office/drawing/2014/main" id="{0DDD5B61-49E5-83DD-3449-AF6BBF830765}"/>
              </a:ext>
            </a:extLst>
          </p:cNvPr>
          <p:cNvSpPr txBox="1"/>
          <p:nvPr/>
        </p:nvSpPr>
        <p:spPr>
          <a:xfrm>
            <a:off x="2540267" y="131907"/>
            <a:ext cx="7495674" cy="584775"/>
          </a:xfrm>
          <a:prstGeom prst="rect">
            <a:avLst/>
          </a:prstGeom>
          <a:noFill/>
        </p:spPr>
        <p:txBody>
          <a:bodyPr wrap="square">
            <a:spAutoFit/>
          </a:bodyPr>
          <a:lstStyle/>
          <a:p>
            <a:pPr algn="ctr">
              <a:buNone/>
            </a:pPr>
            <a:r>
              <a:rPr lang="es-419" sz="3200" b="1" dirty="0">
                <a:solidFill>
                  <a:schemeClr val="bg1"/>
                </a:solidFill>
              </a:rPr>
              <a:t>Tecnología y Ciencias del Deporte</a:t>
            </a:r>
            <a:endParaRPr lang="en-US" sz="3200" b="1" dirty="0">
              <a:solidFill>
                <a:schemeClr val="bg1"/>
              </a:solidFill>
            </a:endParaRPr>
          </a:p>
        </p:txBody>
      </p:sp>
      <p:sp>
        <p:nvSpPr>
          <p:cNvPr id="2" name="TextBox 1">
            <a:extLst>
              <a:ext uri="{FF2B5EF4-FFF2-40B4-BE49-F238E27FC236}">
                <a16:creationId xmlns:a16="http://schemas.microsoft.com/office/drawing/2014/main" id="{89CE364F-5AB1-2D43-FCBB-C9DA5AC0D76A}"/>
              </a:ext>
            </a:extLst>
          </p:cNvPr>
          <p:cNvSpPr txBox="1"/>
          <p:nvPr/>
        </p:nvSpPr>
        <p:spPr>
          <a:xfrm>
            <a:off x="289559" y="1220775"/>
            <a:ext cx="11752046" cy="3508653"/>
          </a:xfrm>
          <a:prstGeom prst="rect">
            <a:avLst/>
          </a:prstGeom>
          <a:noFill/>
        </p:spPr>
        <p:txBody>
          <a:bodyPr wrap="square">
            <a:spAutoFit/>
          </a:bodyPr>
          <a:lstStyle/>
          <a:p>
            <a:r>
              <a:rPr lang="es-419" sz="2000" b="1" dirty="0">
                <a:solidFill>
                  <a:srgbClr val="C3270D"/>
                </a:solidFill>
                <a:latin typeface="Calibri" panose="020F0502020204030204" pitchFamily="34" charset="0"/>
                <a:cs typeface="Calibri" panose="020F0502020204030204" pitchFamily="34" charset="0"/>
              </a:rPr>
              <a:t>Plataformas y contratos</a:t>
            </a:r>
          </a:p>
          <a:p>
            <a:endParaRPr lang="es-419" sz="2000" b="1" dirty="0">
              <a:solidFill>
                <a:srgbClr val="C3270D"/>
              </a:solidFill>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 El </a:t>
            </a:r>
            <a:r>
              <a:rPr lang="en-US" sz="1400" dirty="0" err="1">
                <a:latin typeface="Calibri" panose="020F0502020204030204" pitchFamily="34" charset="0"/>
                <a:cs typeface="Calibri" panose="020F0502020204030204" pitchFamily="34" charset="0"/>
              </a:rPr>
              <a:t>contrato</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Driblab</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está</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amarrado</a:t>
            </a:r>
            <a:r>
              <a:rPr lang="en-US" sz="1400" dirty="0">
                <a:latin typeface="Calibri" panose="020F0502020204030204" pitchFamily="34" charset="0"/>
                <a:cs typeface="Calibri" panose="020F0502020204030204" pitchFamily="34" charset="0"/>
              </a:rPr>
              <a:t> con Sporting Gijón,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lo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se </a:t>
            </a:r>
            <a:r>
              <a:rPr lang="en-US" sz="1400" dirty="0" err="1">
                <a:latin typeface="Calibri" panose="020F0502020204030204" pitchFamily="34" charset="0"/>
                <a:cs typeface="Calibri" panose="020F0502020204030204" pitchFamily="34" charset="0"/>
              </a:rPr>
              <a:t>tiene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hacer</a:t>
            </a:r>
            <a:r>
              <a:rPr lang="en-US" sz="1400" dirty="0">
                <a:latin typeface="Calibri" panose="020F0502020204030204" pitchFamily="34" charset="0"/>
                <a:cs typeface="Calibri" panose="020F0502020204030204" pitchFamily="34" charset="0"/>
              </a:rPr>
              <a:t> un nuevo </a:t>
            </a:r>
            <a:r>
              <a:rPr lang="en-US" sz="1400" dirty="0" err="1">
                <a:latin typeface="Calibri" panose="020F0502020204030204" pitchFamily="34" charset="0"/>
                <a:cs typeface="Calibri" panose="020F0502020204030204" pitchFamily="34" charset="0"/>
              </a:rPr>
              <a:t>contrato</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$90,000 euros + </a:t>
            </a:r>
            <a:r>
              <a:rPr lang="en-US" sz="1400" dirty="0" err="1">
                <a:latin typeface="Calibri" panose="020F0502020204030204" pitchFamily="34" charset="0"/>
                <a:cs typeface="Calibri" panose="020F0502020204030204" pitchFamily="34" charset="0"/>
              </a:rPr>
              <a:t>iva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3 </a:t>
            </a:r>
            <a:r>
              <a:rPr lang="en-US" sz="1400" dirty="0" err="1">
                <a:latin typeface="Calibri" panose="020F0502020204030204" pitchFamily="34" charset="0"/>
                <a:cs typeface="Calibri" panose="020F0502020204030204" pitchFamily="34" charset="0"/>
              </a:rPr>
              <a:t>clubes</a:t>
            </a:r>
            <a:r>
              <a:rPr lang="en-US" sz="1400" dirty="0">
                <a:latin typeface="Calibri" panose="020F0502020204030204" pitchFamily="34" charset="0"/>
                <a:cs typeface="Calibri" panose="020F0502020204030204" pitchFamily="34" charset="0"/>
              </a:rPr>
              <a:t> -  </a:t>
            </a:r>
            <a:r>
              <a:rPr lang="en-US" sz="1400" dirty="0" err="1">
                <a:latin typeface="Calibri" panose="020F0502020204030204" pitchFamily="34" charset="0"/>
                <a:cs typeface="Calibri" panose="020F0502020204030204" pitchFamily="34" charset="0"/>
              </a:rPr>
              <a:t>por</a:t>
            </a:r>
            <a:r>
              <a:rPr lang="en-US" sz="1400" dirty="0">
                <a:latin typeface="Calibri" panose="020F0502020204030204" pitchFamily="34" charset="0"/>
                <a:cs typeface="Calibri" panose="020F0502020204030204" pitchFamily="34" charset="0"/>
              </a:rPr>
              <a:t> 4 </a:t>
            </a:r>
            <a:r>
              <a:rPr lang="en-US" sz="1400" dirty="0" err="1">
                <a:latin typeface="Calibri" panose="020F0502020204030204" pitchFamily="34" charset="0"/>
                <a:cs typeface="Calibri" panose="020F0502020204030204" pitchFamily="34" charset="0"/>
              </a:rPr>
              <a:t>años</a:t>
            </a: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Estan </a:t>
            </a:r>
            <a:r>
              <a:rPr lang="en-US" sz="1400" dirty="0" err="1">
                <a:latin typeface="Calibri" panose="020F0502020204030204" pitchFamily="34" charset="0"/>
                <a:cs typeface="Calibri" panose="020F0502020204030204" pitchFamily="34" charset="0"/>
              </a:rPr>
              <a:t>cortos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tema</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Inteligencia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Deportiva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porque</a:t>
            </a:r>
            <a:r>
              <a:rPr lang="en-US" sz="1400" dirty="0">
                <a:latin typeface="Calibri" panose="020F0502020204030204" pitchFamily="34" charset="0"/>
                <a:cs typeface="Calibri" panose="020F0502020204030204" pitchFamily="34" charset="0"/>
              </a:rPr>
              <a:t> solo </a:t>
            </a:r>
            <a:r>
              <a:rPr lang="en-US" sz="1400" dirty="0" err="1">
                <a:latin typeface="Calibri" panose="020F0502020204030204" pitchFamily="34" charset="0"/>
                <a:cs typeface="Calibri" panose="020F0502020204030204" pitchFamily="34" charset="0"/>
              </a:rPr>
              <a:t>estan</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Bastian Rodriguez y Said Murra</a:t>
            </a:r>
            <a:r>
              <a:rPr lang="en-US" sz="1400" dirty="0">
                <a:latin typeface="Calibri" panose="020F0502020204030204" pitchFamily="34" charset="0"/>
                <a:cs typeface="Calibri" panose="020F0502020204030204" pitchFamily="34" charset="0"/>
              </a:rPr>
              <a:t>. Entre </a:t>
            </a:r>
            <a:r>
              <a:rPr lang="en-US" sz="1400" dirty="0" err="1">
                <a:latin typeface="Calibri" panose="020F0502020204030204" pitchFamily="34" charset="0"/>
                <a:cs typeface="Calibri" panose="020F0502020204030204" pitchFamily="34" charset="0"/>
              </a:rPr>
              <a:t>ellos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hacen</a:t>
            </a:r>
            <a:r>
              <a:rPr lang="en-US" sz="1400" dirty="0">
                <a:latin typeface="Calibri" panose="020F0502020204030204" pitchFamily="34" charset="0"/>
                <a:cs typeface="Calibri" panose="020F0502020204030204" pitchFamily="34" charset="0"/>
              </a:rPr>
              <a:t> la </a:t>
            </a:r>
            <a:r>
              <a:rPr lang="en-US" sz="1400" dirty="0" err="1">
                <a:latin typeface="Calibri" panose="020F0502020204030204" pitchFamily="34" charset="0"/>
                <a:cs typeface="Calibri" panose="020F0502020204030204" pitchFamily="34" charset="0"/>
              </a:rPr>
              <a:t>chamba</a:t>
            </a:r>
            <a:r>
              <a:rPr lang="en-US" sz="1400" dirty="0">
                <a:latin typeface="Calibri" panose="020F0502020204030204" pitchFamily="34" charset="0"/>
                <a:cs typeface="Calibri" panose="020F0502020204030204" pitchFamily="34" charset="0"/>
              </a:rPr>
              <a:t> de 4,5 personas de </a:t>
            </a:r>
            <a:r>
              <a:rPr lang="en-US" sz="1400" dirty="0" err="1">
                <a:latin typeface="Calibri" panose="020F0502020204030204" pitchFamily="34" charset="0"/>
                <a:cs typeface="Calibri" panose="020F0502020204030204" pitchFamily="34" charset="0"/>
              </a:rPr>
              <a:t>otros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clubes</a:t>
            </a:r>
            <a:r>
              <a:rPr lang="en-US" sz="1400" dirty="0">
                <a:latin typeface="Calibri" panose="020F0502020204030204" pitchFamily="34" charset="0"/>
                <a:cs typeface="Calibri" panose="020F0502020204030204" pitchFamily="34" charset="0"/>
              </a:rPr>
              <a:t>. Esto </a:t>
            </a:r>
            <a:r>
              <a:rPr lang="en-US" sz="1400" dirty="0" err="1">
                <a:latin typeface="Calibri" panose="020F0502020204030204" pitchFamily="34" charset="0"/>
                <a:cs typeface="Calibri" panose="020F0502020204030204" pitchFamily="34" charset="0"/>
              </a:rPr>
              <a:t>incluye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Análisis</a:t>
            </a:r>
            <a:r>
              <a:rPr lang="en-US" sz="1400" dirty="0">
                <a:latin typeface="Calibri" panose="020F0502020204030204" pitchFamily="34" charset="0"/>
                <a:cs typeface="Calibri" panose="020F0502020204030204" pitchFamily="34" charset="0"/>
              </a:rPr>
              <a:t> del Rival, </a:t>
            </a:r>
            <a:r>
              <a:rPr lang="en-US" sz="1400" dirty="0" err="1">
                <a:latin typeface="Calibri" panose="020F0502020204030204" pitchFamily="34" charset="0"/>
                <a:cs typeface="Calibri" panose="020F0502020204030204" pitchFamily="34" charset="0"/>
              </a:rPr>
              <a:t>Análisis</a:t>
            </a:r>
            <a:r>
              <a:rPr lang="en-US" sz="1400" dirty="0">
                <a:latin typeface="Calibri" panose="020F0502020204030204" pitchFamily="34" charset="0"/>
                <a:cs typeface="Calibri" panose="020F0502020204030204" pitchFamily="34" charset="0"/>
              </a:rPr>
              <a:t> de Video, </a:t>
            </a:r>
            <a:r>
              <a:rPr lang="en-US" sz="1400" dirty="0" err="1">
                <a:latin typeface="Calibri" panose="020F0502020204030204" pitchFamily="34" charset="0"/>
                <a:cs typeface="Calibri" panose="020F0502020204030204" pitchFamily="34" charset="0"/>
              </a:rPr>
              <a:t>Patrones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jugadores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plantel</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etc</a:t>
            </a:r>
            <a:r>
              <a:rPr lang="en-US" sz="14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No </a:t>
            </a:r>
            <a:r>
              <a:rPr lang="en-US" sz="1400" dirty="0" err="1">
                <a:latin typeface="Calibri" panose="020F0502020204030204" pitchFamily="34" charset="0"/>
                <a:cs typeface="Calibri" panose="020F0502020204030204" pitchFamily="34" charset="0"/>
              </a:rPr>
              <a:t>tienen</a:t>
            </a:r>
            <a:r>
              <a:rPr lang="en-US" sz="1400" dirty="0">
                <a:latin typeface="Calibri" panose="020F0502020204030204" pitchFamily="34" charset="0"/>
                <a:cs typeface="Calibri" panose="020F0502020204030204" pitchFamily="34" charset="0"/>
              </a:rPr>
              <a:t> un </a:t>
            </a:r>
            <a:r>
              <a:rPr lang="en-US" sz="1400" dirty="0" err="1">
                <a:latin typeface="Calibri" panose="020F0502020204030204" pitchFamily="34" charset="0"/>
                <a:cs typeface="Calibri" panose="020F0502020204030204" pitchFamily="34" charset="0"/>
              </a:rPr>
              <a:t>proceso</a:t>
            </a:r>
            <a:r>
              <a:rPr lang="en-US" sz="1400" dirty="0">
                <a:latin typeface="Calibri" panose="020F0502020204030204" pitchFamily="34" charset="0"/>
                <a:cs typeface="Calibri" panose="020F0502020204030204" pitchFamily="34" charset="0"/>
              </a:rPr>
              <a:t> de Scouting </a:t>
            </a:r>
            <a:r>
              <a:rPr lang="en-US" sz="1400" dirty="0" err="1">
                <a:latin typeface="Calibri" panose="020F0502020204030204" pitchFamily="34" charset="0"/>
                <a:cs typeface="Calibri" panose="020F0502020204030204" pitchFamily="34" charset="0"/>
              </a:rPr>
              <a:t>deinido</a:t>
            </a:r>
            <a:r>
              <a:rPr lang="en-US" sz="1400" dirty="0">
                <a:latin typeface="Calibri" panose="020F0502020204030204" pitchFamily="34" charset="0"/>
                <a:cs typeface="Calibri" panose="020F0502020204030204" pitchFamily="34" charset="0"/>
              </a:rPr>
              <a:t>, Bastien lo </a:t>
            </a:r>
            <a:r>
              <a:rPr lang="en-US" sz="1400" dirty="0" err="1">
                <a:latin typeface="Calibri" panose="020F0502020204030204" pitchFamily="34" charset="0"/>
                <a:cs typeface="Calibri" panose="020F0502020204030204" pitchFamily="34" charset="0"/>
              </a:rPr>
              <a:t>puede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confirmar</a:t>
            </a:r>
            <a:r>
              <a:rPr lang="en-US" sz="1400" dirty="0">
                <a:latin typeface="Calibri" panose="020F0502020204030204" pitchFamily="34" charset="0"/>
                <a:cs typeface="Calibri" panose="020F0502020204030204" pitchFamily="34" charset="0"/>
              </a:rPr>
              <a:t>. Eduardo Herrera </a:t>
            </a:r>
            <a:r>
              <a:rPr lang="en-US" sz="1400" dirty="0" err="1">
                <a:latin typeface="Calibri" panose="020F0502020204030204" pitchFamily="34" charset="0"/>
                <a:cs typeface="Calibri" panose="020F0502020204030204" pitchFamily="34" charset="0"/>
              </a:rPr>
              <a:t>si</a:t>
            </a:r>
            <a:r>
              <a:rPr lang="en-US" sz="1400" dirty="0">
                <a:latin typeface="Calibri" panose="020F0502020204030204" pitchFamily="34" charset="0"/>
                <a:cs typeface="Calibri" panose="020F0502020204030204" pitchFamily="34" charset="0"/>
              </a:rPr>
              <a:t> ha </a:t>
            </a:r>
            <a:r>
              <a:rPr lang="en-US" sz="1400" dirty="0" err="1">
                <a:latin typeface="Calibri" panose="020F0502020204030204" pitchFamily="34" charset="0"/>
                <a:cs typeface="Calibri" panose="020F0502020204030204" pitchFamily="34" charset="0"/>
              </a:rPr>
              <a:t>tenido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mucho</a:t>
            </a:r>
            <a:r>
              <a:rPr lang="en-US" sz="1400" dirty="0">
                <a:latin typeface="Calibri" panose="020F0502020204030204" pitchFamily="34" charset="0"/>
                <a:cs typeface="Calibri" panose="020F0502020204030204" pitchFamily="34" charset="0"/>
              </a:rPr>
              <a:t> peso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ciertas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operaciones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no </a:t>
            </a:r>
            <a:r>
              <a:rPr lang="en-US" sz="1400" dirty="0" err="1">
                <a:latin typeface="Calibri" panose="020F0502020204030204" pitchFamily="34" charset="0"/>
                <a:cs typeface="Calibri" panose="020F0502020204030204" pitchFamily="34" charset="0"/>
              </a:rPr>
              <a:t>han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sido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fructiferas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tema</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contratación</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jugadores</a:t>
            </a:r>
            <a:r>
              <a:rPr lang="en-US" sz="1400" dirty="0">
                <a:latin typeface="Calibri" panose="020F0502020204030204" pitchFamily="34" charset="0"/>
                <a:cs typeface="Calibri" panose="020F0502020204030204" pitchFamily="34" charset="0"/>
              </a:rPr>
              <a:t> y de staff de primer </a:t>
            </a:r>
            <a:r>
              <a:rPr lang="en-US" sz="1400" dirty="0" err="1">
                <a:latin typeface="Calibri" panose="020F0502020204030204" pitchFamily="34" charset="0"/>
                <a:cs typeface="Calibri" panose="020F0502020204030204" pitchFamily="34" charset="0"/>
              </a:rPr>
              <a:t>equipo</a:t>
            </a:r>
            <a:r>
              <a:rPr lang="en-US" sz="1400" dirty="0">
                <a:latin typeface="Calibri" panose="020F0502020204030204" pitchFamily="34" charset="0"/>
                <a:cs typeface="Calibri" panose="020F0502020204030204" pitchFamily="34" charset="0"/>
              </a:rPr>
              <a:t>.</a:t>
            </a:r>
          </a:p>
          <a:p>
            <a:pPr marL="285750" indent="-285750">
              <a:buFont typeface="Wingdings" pitchFamily="2" charset="2"/>
              <a:buChar char="§"/>
            </a:pPr>
            <a:endParaRPr lang="en-US" sz="1400" dirty="0">
              <a:latin typeface="Calibri" panose="020F0502020204030204" pitchFamily="34" charset="0"/>
              <a:cs typeface="Calibri" panose="020F0502020204030204" pitchFamily="34" charset="0"/>
            </a:endParaRPr>
          </a:p>
          <a:p>
            <a:pPr marL="285750" indent="-285750">
              <a:buFont typeface="Wingdings" pitchFamily="2" charset="2"/>
              <a:buChar char="§"/>
            </a:pPr>
            <a:r>
              <a:rPr lang="en-US" sz="1400" dirty="0">
                <a:latin typeface="Calibri" panose="020F0502020204030204" pitchFamily="34" charset="0"/>
                <a:cs typeface="Calibri" panose="020F0502020204030204" pitchFamily="34" charset="0"/>
              </a:rPr>
              <a:t>El CAD Centro de Alto </a:t>
            </a:r>
            <a:r>
              <a:rPr lang="en-US" sz="1400" dirty="0" err="1">
                <a:latin typeface="Calibri" panose="020F0502020204030204" pitchFamily="34" charset="0"/>
                <a:cs typeface="Calibri" panose="020F0502020204030204" pitchFamily="34" charset="0"/>
              </a:rPr>
              <a:t>Desempeño</a:t>
            </a:r>
            <a:r>
              <a:rPr lang="en-US" sz="1400" dirty="0">
                <a:latin typeface="Calibri" panose="020F0502020204030204" pitchFamily="34" charset="0"/>
                <a:cs typeface="Calibri" panose="020F0502020204030204" pitchFamily="34" charset="0"/>
              </a:rPr>
              <a:t> es </a:t>
            </a:r>
            <a:r>
              <a:rPr lang="en-US" sz="1400" dirty="0" err="1">
                <a:latin typeface="Calibri" panose="020F0502020204030204" pitchFamily="34" charset="0"/>
                <a:cs typeface="Calibri" panose="020F0502020204030204" pitchFamily="34" charset="0"/>
              </a:rPr>
              <a:t>el</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área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tiene</a:t>
            </a:r>
            <a:r>
              <a:rPr lang="en-US" sz="1400" dirty="0">
                <a:latin typeface="Calibri" panose="020F0502020204030204" pitchFamily="34" charset="0"/>
                <a:cs typeface="Calibri" panose="020F0502020204030204" pitchFamily="34" charset="0"/>
              </a:rPr>
              <a:t> para </a:t>
            </a:r>
            <a:r>
              <a:rPr lang="en-US" sz="1400" dirty="0" err="1">
                <a:latin typeface="Calibri" panose="020F0502020204030204" pitchFamily="34" charset="0"/>
                <a:cs typeface="Calibri" panose="020F0502020204030204" pitchFamily="34" charset="0"/>
              </a:rPr>
              <a:t>prevenir</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lesiones</a:t>
            </a:r>
            <a:r>
              <a:rPr lang="en-US" sz="1400" dirty="0">
                <a:latin typeface="Calibri" panose="020F0502020204030204" pitchFamily="34" charset="0"/>
                <a:cs typeface="Calibri" panose="020F0502020204030204" pitchFamily="34" charset="0"/>
              </a:rPr>
              <a:t>. Hay un </a:t>
            </a:r>
            <a:r>
              <a:rPr lang="en-US" sz="1400" dirty="0" err="1">
                <a:latin typeface="Calibri" panose="020F0502020204030204" pitchFamily="34" charset="0"/>
                <a:cs typeface="Calibri" panose="020F0502020204030204" pitchFamily="34" charset="0"/>
              </a:rPr>
              <a:t>protocolo</a:t>
            </a:r>
            <a:r>
              <a:rPr lang="en-US" sz="1400" dirty="0">
                <a:latin typeface="Calibri" panose="020F0502020204030204" pitchFamily="34" charset="0"/>
                <a:cs typeface="Calibri" panose="020F0502020204030204" pitchFamily="34" charset="0"/>
              </a:rPr>
              <a:t> claro </a:t>
            </a:r>
            <a:r>
              <a:rPr lang="en-US" sz="1400" dirty="0" err="1">
                <a:latin typeface="Calibri" panose="020F0502020204030204" pitchFamily="34" charset="0"/>
                <a:cs typeface="Calibri" panose="020F0502020204030204" pitchFamily="34" charset="0"/>
              </a:rPr>
              <a:t>previo</a:t>
            </a:r>
            <a:r>
              <a:rPr lang="en-US" sz="1400" dirty="0">
                <a:latin typeface="Calibri" panose="020F0502020204030204" pitchFamily="34" charset="0"/>
                <a:cs typeface="Calibri" panose="020F0502020204030204" pitchFamily="34" charset="0"/>
              </a:rPr>
              <a:t> a </a:t>
            </a:r>
            <a:r>
              <a:rPr lang="en-US" sz="1400" dirty="0" err="1">
                <a:latin typeface="Calibri" panose="020F0502020204030204" pitchFamily="34" charset="0"/>
                <a:cs typeface="Calibri" panose="020F0502020204030204" pitchFamily="34" charset="0"/>
              </a:rPr>
              <a:t>entrenos</a:t>
            </a:r>
            <a:r>
              <a:rPr lang="en-US" sz="1400" dirty="0">
                <a:latin typeface="Calibri" panose="020F0502020204030204" pitchFamily="34" charset="0"/>
                <a:cs typeface="Calibri" panose="020F0502020204030204" pitchFamily="34" charset="0"/>
              </a:rPr>
              <a:t> y post.</a:t>
            </a:r>
          </a:p>
          <a:p>
            <a:pPr marL="285750" indent="-285750">
              <a:buFont typeface="Arial" panose="020B0604020202020204" pitchFamily="34" charset="0"/>
              <a:buChar char="•"/>
            </a:pPr>
            <a:endParaRPr lang="en-US" sz="1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7F8674DF-89F8-E2F8-B769-5428CF236347}"/>
              </a:ext>
            </a:extLst>
          </p:cNvPr>
          <p:cNvSpPr txBox="1"/>
          <p:nvPr/>
        </p:nvSpPr>
        <p:spPr>
          <a:xfrm>
            <a:off x="5989320" y="1220775"/>
            <a:ext cx="5913120" cy="307777"/>
          </a:xfrm>
          <a:prstGeom prst="rect">
            <a:avLst/>
          </a:prstGeom>
          <a:noFill/>
        </p:spPr>
        <p:txBody>
          <a:bodyPr wrap="square">
            <a:spAutoFit/>
          </a:bodyPr>
          <a:lstStyle/>
          <a:p>
            <a:pPr>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8696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1529</Words>
  <Application>Microsoft Macintosh PowerPoint</Application>
  <PresentationFormat>Widescreen</PresentationFormat>
  <Paragraphs>180</Paragraphs>
  <Slides>7</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Arial</vt:lpstr>
      <vt:lpstr>Avenir Next</vt:lpstr>
      <vt:lpstr>Calibri</vt:lpstr>
      <vt:lpstr>Franklin Gothic Book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Fernando Espejo</dc:creator>
  <cp:lastModifiedBy>Luis Fernando Espejo</cp:lastModifiedBy>
  <cp:revision>2</cp:revision>
  <dcterms:created xsi:type="dcterms:W3CDTF">2026-03-26T00:52:16Z</dcterms:created>
  <dcterms:modified xsi:type="dcterms:W3CDTF">2026-03-26T02:01:30Z</dcterms:modified>
</cp:coreProperties>
</file>