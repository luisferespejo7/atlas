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60" r:id="rId2"/>
    <p:sldId id="261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B050"/>
    <a:srgbClr val="FFF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33"/>
    <p:restoredTop sz="95659"/>
  </p:normalViewPr>
  <p:slideViewPr>
    <p:cSldViewPr snapToGrid="0" snapToObjects="1">
      <p:cViewPr varScale="1">
        <p:scale>
          <a:sx n="127" d="100"/>
          <a:sy n="127" d="100"/>
        </p:scale>
        <p:origin x="99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luisfer/Desktop/Ca&#769;lculo%20Balance%20Ideal%20Moreli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C89-7A42-86DB-F947313B397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C89-7A42-86DB-F947313B397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C89-7A42-86DB-F947313B397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C89-7A42-86DB-F947313B397B}"/>
              </c:ext>
            </c:extLst>
          </c:dPt>
          <c:dLbls>
            <c:dLbl>
              <c:idx val="0"/>
              <c:layout>
                <c:manualLayout>
                  <c:x val="2.3436620550040813E-2"/>
                  <c:y val="0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C89-7A42-86DB-F947313B397B}"/>
                </c:ext>
              </c:extLst>
            </c:dLbl>
            <c:dLbl>
              <c:idx val="1"/>
              <c:layout>
                <c:manualLayout>
                  <c:x val="1.0044265950017518E-2"/>
                  <c:y val="0.10488889623019396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C89-7A42-86DB-F947313B397B}"/>
                </c:ext>
              </c:extLst>
            </c:dLbl>
            <c:dLbl>
              <c:idx val="2"/>
              <c:layout>
                <c:manualLayout>
                  <c:x val="-6.3613684350110944E-2"/>
                  <c:y val="-6.5555560143871223E-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C89-7A42-86DB-F947313B397B}"/>
                </c:ext>
              </c:extLst>
            </c:dLbl>
            <c:dLbl>
              <c:idx val="3"/>
              <c:layout>
                <c:manualLayout>
                  <c:x val="-1.3392354600023358E-2"/>
                  <c:y val="5.2444448115096978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C89-7A42-86DB-F947313B397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Totales!$P$47:$P$50</c:f>
              <c:strCache>
                <c:ptCount val="4"/>
                <c:pt idx="0">
                  <c:v>Canterano</c:v>
                </c:pt>
                <c:pt idx="1">
                  <c:v>Desarrollo</c:v>
                </c:pt>
                <c:pt idx="2">
                  <c:v>Maduro</c:v>
                </c:pt>
                <c:pt idx="3">
                  <c:v>Veterano</c:v>
                </c:pt>
              </c:strCache>
            </c:strRef>
          </c:cat>
          <c:val>
            <c:numRef>
              <c:f>Totales!$Q$47:$Q$50</c:f>
              <c:numCache>
                <c:formatCode>0.00%</c:formatCode>
                <c:ptCount val="4"/>
                <c:pt idx="0">
                  <c:v>6.4545454545454545E-2</c:v>
                </c:pt>
                <c:pt idx="1">
                  <c:v>0.24181818181818182</c:v>
                </c:pt>
                <c:pt idx="2">
                  <c:v>0.45636363636363636</c:v>
                </c:pt>
                <c:pt idx="3">
                  <c:v>0.23727272727272727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C89-7A42-86DB-F947313B397B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Columna2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806A-AF45-97EE-ABE50863187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806A-AF45-97EE-ABE50863187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806A-AF45-97EE-ABE50863187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806A-AF45-97EE-ABE50863187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Hoja1!$A$2:$A$5</c:f>
              <c:strCache>
                <c:ptCount val="4"/>
                <c:pt idx="0">
                  <c:v>Canteranos</c:v>
                </c:pt>
                <c:pt idx="1">
                  <c:v>Desarrollo</c:v>
                </c:pt>
                <c:pt idx="2">
                  <c:v>Maduros</c:v>
                </c:pt>
                <c:pt idx="3">
                  <c:v>Veteranos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5</c:v>
                </c:pt>
                <c:pt idx="1">
                  <c:v>8</c:v>
                </c:pt>
                <c:pt idx="2">
                  <c:v>9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01-1A41-A5E5-90A3C0DE7B98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16FCA-B0FE-5748-8333-E5B60C06178E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3C8777-E632-1145-9E03-7C88A6277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00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C8777-E632-1145-9E03-7C88A62774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55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C8777-E632-1145-9E03-7C88A62774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26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5E0C-0672-0844-BEE1-D1E264710639}" type="datetimeFigureOut">
              <a:rPr lang="es-ES_tradnl" smtClean="0"/>
              <a:t>27/3/26</a:t>
            </a:fld>
            <a:endParaRPr lang="es-ES_trad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94FC9-11B2-D84B-A585-50AF4CCB6D50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18112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5E0C-0672-0844-BEE1-D1E264710639}" type="datetimeFigureOut">
              <a:rPr lang="es-ES_tradnl" smtClean="0"/>
              <a:t>27/3/26</a:t>
            </a:fld>
            <a:endParaRPr lang="es-ES_trad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94FC9-11B2-D84B-A585-50AF4CCB6D50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899163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5E0C-0672-0844-BEE1-D1E264710639}" type="datetimeFigureOut">
              <a:rPr lang="es-ES_tradnl" smtClean="0"/>
              <a:t>27/3/26</a:t>
            </a:fld>
            <a:endParaRPr lang="es-ES_trad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94FC9-11B2-D84B-A585-50AF4CCB6D50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185751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5E0C-0672-0844-BEE1-D1E264710639}" type="datetimeFigureOut">
              <a:rPr lang="es-ES_tradnl" smtClean="0"/>
              <a:t>27/3/26</a:t>
            </a:fld>
            <a:endParaRPr lang="es-ES_trad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94FC9-11B2-D84B-A585-50AF4CCB6D50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7124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5E0C-0672-0844-BEE1-D1E264710639}" type="datetimeFigureOut">
              <a:rPr lang="es-ES_tradnl" smtClean="0"/>
              <a:t>27/3/26</a:t>
            </a:fld>
            <a:endParaRPr lang="es-ES_tradn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94FC9-11B2-D84B-A585-50AF4CCB6D50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936014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5E0C-0672-0844-BEE1-D1E264710639}" type="datetimeFigureOut">
              <a:rPr lang="es-ES_tradnl" smtClean="0"/>
              <a:t>27/3/26</a:t>
            </a:fld>
            <a:endParaRPr lang="es-ES_trad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94FC9-11B2-D84B-A585-50AF4CCB6D50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063419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5E0C-0672-0844-BEE1-D1E264710639}" type="datetimeFigureOut">
              <a:rPr lang="es-ES_tradnl" smtClean="0"/>
              <a:t>27/3/26</a:t>
            </a:fld>
            <a:endParaRPr lang="es-ES_trad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94FC9-11B2-D84B-A585-50AF4CCB6D50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7744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5E0C-0672-0844-BEE1-D1E264710639}" type="datetimeFigureOut">
              <a:rPr lang="es-ES_tradnl" smtClean="0"/>
              <a:t>27/3/26</a:t>
            </a:fld>
            <a:endParaRPr lang="es-ES_trad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94FC9-11B2-D84B-A585-50AF4CCB6D50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74965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Arrastre la imagen al marcador de posición o haga clic en el icono para agregar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5E0C-0672-0844-BEE1-D1E264710639}" type="datetimeFigureOut">
              <a:rPr lang="es-ES_tradnl" smtClean="0"/>
              <a:t>27/3/26</a:t>
            </a:fld>
            <a:endParaRPr lang="es-ES_trad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94FC9-11B2-D84B-A585-50AF4CCB6D50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92586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5E0C-0672-0844-BEE1-D1E264710639}" type="datetimeFigureOut">
              <a:rPr lang="es-ES_tradnl" smtClean="0"/>
              <a:t>27/3/26</a:t>
            </a:fld>
            <a:endParaRPr lang="es-ES_trad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94FC9-11B2-D84B-A585-50AF4CCB6D50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164821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25E0C-0672-0844-BEE1-D1E264710639}" type="datetimeFigureOut">
              <a:rPr lang="es-ES_tradnl" smtClean="0"/>
              <a:t>27/3/26</a:t>
            </a:fld>
            <a:endParaRPr lang="es-ES_trad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94FC9-11B2-D84B-A585-50AF4CCB6D50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701604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25E0C-0672-0844-BEE1-D1E264710639}" type="datetimeFigureOut">
              <a:rPr lang="es-ES_tradnl" smtClean="0"/>
              <a:t>27/3/26</a:t>
            </a:fld>
            <a:endParaRPr lang="es-ES_trad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94FC9-11B2-D84B-A585-50AF4CCB6D50}" type="slidenum">
              <a:rPr lang="es-ES_tradnl" smtClean="0"/>
              <a:t>‹#›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862922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4">
            <a:extLst>
              <a:ext uri="{FF2B5EF4-FFF2-40B4-BE49-F238E27FC236}">
                <a16:creationId xmlns:a16="http://schemas.microsoft.com/office/drawing/2014/main" id="{2BA5540D-598E-A3CE-5B7D-2FD18C2C7F2D}"/>
              </a:ext>
            </a:extLst>
          </p:cNvPr>
          <p:cNvSpPr/>
          <p:nvPr/>
        </p:nvSpPr>
        <p:spPr>
          <a:xfrm>
            <a:off x="1657745" y="2394494"/>
            <a:ext cx="4096214" cy="14605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Canterano</a:t>
            </a:r>
            <a:r>
              <a:rPr lang="es-ES_tradnl" sz="140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</a:p>
          <a:p>
            <a:pPr algn="ctr"/>
            <a:r>
              <a:rPr lang="es-ES_tradnl" sz="140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Formados en las inferiores del club, o bien, llegaron antes de los 20 años. Está en una etapa de aprendizaje, tienen muy poca experiencia. Físicamente están en desarrollo.</a:t>
            </a:r>
          </a:p>
          <a:p>
            <a:pPr algn="ctr"/>
            <a:r>
              <a:rPr lang="es-ES_tradnl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Edad 17-22</a:t>
            </a:r>
          </a:p>
        </p:txBody>
      </p:sp>
      <p:sp>
        <p:nvSpPr>
          <p:cNvPr id="6" name="Rectángulo 20">
            <a:extLst>
              <a:ext uri="{FF2B5EF4-FFF2-40B4-BE49-F238E27FC236}">
                <a16:creationId xmlns:a16="http://schemas.microsoft.com/office/drawing/2014/main" id="{A43A058E-E7C0-7A17-DD74-AA510AC78819}"/>
              </a:ext>
            </a:extLst>
          </p:cNvPr>
          <p:cNvSpPr/>
          <p:nvPr/>
        </p:nvSpPr>
        <p:spPr>
          <a:xfrm>
            <a:off x="1657745" y="4297156"/>
            <a:ext cx="4096214" cy="14605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Desarrollo</a:t>
            </a:r>
            <a:r>
              <a:rPr lang="es-ES_tradnl" sz="140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</a:p>
          <a:p>
            <a:pPr algn="ctr"/>
            <a:r>
              <a:rPr lang="es-ES_tradnl" sz="140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Etapa en la que el futbolista aun no llega a explotar todas sus cualidades tanto físicas, mentales y técnicas.</a:t>
            </a:r>
          </a:p>
          <a:p>
            <a:pPr algn="ctr"/>
            <a:r>
              <a:rPr lang="es-ES_tradnl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Edad 21-25</a:t>
            </a:r>
          </a:p>
        </p:txBody>
      </p:sp>
      <p:sp>
        <p:nvSpPr>
          <p:cNvPr id="7" name="Rectángulo 21">
            <a:extLst>
              <a:ext uri="{FF2B5EF4-FFF2-40B4-BE49-F238E27FC236}">
                <a16:creationId xmlns:a16="http://schemas.microsoft.com/office/drawing/2014/main" id="{1DA24945-1E27-C626-2714-64D6471F5986}"/>
              </a:ext>
            </a:extLst>
          </p:cNvPr>
          <p:cNvSpPr/>
          <p:nvPr/>
        </p:nvSpPr>
        <p:spPr>
          <a:xfrm>
            <a:off x="6385931" y="2394494"/>
            <a:ext cx="4096213" cy="14605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Maduro</a:t>
            </a:r>
            <a:r>
              <a:rPr lang="es-ES_tradnl" sz="140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</a:p>
          <a:p>
            <a:pPr algn="ctr"/>
            <a:r>
              <a:rPr lang="es-ES_tradnl" sz="140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El jugador cuenta con basta experiencia, físicamente se encuentra en optimas condiciones.</a:t>
            </a:r>
          </a:p>
          <a:p>
            <a:pPr algn="ctr"/>
            <a:r>
              <a:rPr lang="es-ES_tradnl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Edad 26-30</a:t>
            </a:r>
          </a:p>
        </p:txBody>
      </p:sp>
      <p:sp>
        <p:nvSpPr>
          <p:cNvPr id="8" name="Rectángulo 22">
            <a:extLst>
              <a:ext uri="{FF2B5EF4-FFF2-40B4-BE49-F238E27FC236}">
                <a16:creationId xmlns:a16="http://schemas.microsoft.com/office/drawing/2014/main" id="{733087EA-D613-38A2-1BAB-C052473AAD4D}"/>
              </a:ext>
            </a:extLst>
          </p:cNvPr>
          <p:cNvSpPr/>
          <p:nvPr/>
        </p:nvSpPr>
        <p:spPr>
          <a:xfrm>
            <a:off x="6385930" y="4297156"/>
            <a:ext cx="4096213" cy="14605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Veterano</a:t>
            </a:r>
            <a:endParaRPr lang="es-ES_tradnl" sz="14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  <a:p>
            <a:pPr algn="ctr"/>
            <a:r>
              <a:rPr lang="es-ES_tradnl" sz="140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Etapa en la que los atributos físicos empiezan a verse afectados. Cuentan con una larga trayectoria, experiencia y son líderes.</a:t>
            </a:r>
          </a:p>
          <a:p>
            <a:pPr algn="ctr"/>
            <a:r>
              <a:rPr lang="es-ES_tradnl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Edad 31- en adelante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67862121-E790-E41D-D238-34B1EEBDD044}"/>
              </a:ext>
            </a:extLst>
          </p:cNvPr>
          <p:cNvSpPr txBox="1"/>
          <p:nvPr/>
        </p:nvSpPr>
        <p:spPr>
          <a:xfrm>
            <a:off x="303909" y="742101"/>
            <a:ext cx="11584182" cy="1600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lvl="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>
                <a:solidFill>
                  <a:prstClr val="black"/>
                </a:solidFill>
                <a:ea typeface="Calibri" charset="0"/>
                <a:cs typeface="Calibri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El </a:t>
            </a:r>
            <a:r>
              <a:rPr lang="en-US" dirty="0" err="1"/>
              <a:t>objetivo</a:t>
            </a:r>
            <a:r>
              <a:rPr lang="en-US" dirty="0"/>
              <a:t> de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archivo</a:t>
            </a:r>
            <a:r>
              <a:rPr lang="en-US" dirty="0"/>
              <a:t> es </a:t>
            </a:r>
            <a:r>
              <a:rPr lang="en-US" dirty="0" err="1"/>
              <a:t>tener</a:t>
            </a:r>
            <a:r>
              <a:rPr lang="en-US" dirty="0"/>
              <a:t> un control de la </a:t>
            </a:r>
            <a:r>
              <a:rPr lang="en-US" dirty="0" err="1"/>
              <a:t>plantilla</a:t>
            </a:r>
            <a:r>
              <a:rPr lang="en-US" dirty="0"/>
              <a:t> del 1er </a:t>
            </a:r>
            <a:r>
              <a:rPr lang="en-US" dirty="0" err="1"/>
              <a:t>equipo</a:t>
            </a:r>
            <a:r>
              <a:rPr lang="en-US" dirty="0"/>
              <a:t>. El </a:t>
            </a:r>
            <a:r>
              <a:rPr lang="en-US" dirty="0" err="1"/>
              <a:t>resultado</a:t>
            </a:r>
            <a:r>
              <a:rPr lang="en-US" dirty="0"/>
              <a:t> de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un balance entre </a:t>
            </a:r>
            <a:r>
              <a:rPr lang="en-US" dirty="0" err="1"/>
              <a:t>jugadores</a:t>
            </a:r>
            <a:r>
              <a:rPr lang="en-US" dirty="0"/>
              <a:t>, al </a:t>
            </a:r>
            <a:r>
              <a:rPr lang="en-US" dirty="0" err="1"/>
              <a:t>igual</a:t>
            </a:r>
            <a:r>
              <a:rPr lang="en-US" dirty="0"/>
              <a:t> que para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presente</a:t>
            </a:r>
            <a:r>
              <a:rPr lang="en-US" dirty="0"/>
              <a:t> las </a:t>
            </a:r>
            <a:r>
              <a:rPr lang="en-US" dirty="0" err="1"/>
              <a:t>necesidades</a:t>
            </a:r>
            <a:r>
              <a:rPr lang="en-US" dirty="0"/>
              <a:t> del </a:t>
            </a:r>
            <a:r>
              <a:rPr lang="en-US" dirty="0" err="1"/>
              <a:t>equipo</a:t>
            </a:r>
            <a:r>
              <a:rPr lang="en-US" dirty="0"/>
              <a:t>. Si se </a:t>
            </a:r>
            <a:r>
              <a:rPr lang="en-US" dirty="0" err="1"/>
              <a:t>va</a:t>
            </a:r>
            <a:r>
              <a:rPr lang="en-US" dirty="0"/>
              <a:t> un </a:t>
            </a:r>
            <a:r>
              <a:rPr lang="en-US" dirty="0" err="1"/>
              <a:t>jugador</a:t>
            </a:r>
            <a:r>
              <a:rPr lang="en-US" dirty="0"/>
              <a:t>, </a:t>
            </a:r>
            <a:r>
              <a:rPr lang="en-US" dirty="0" err="1"/>
              <a:t>poder</a:t>
            </a:r>
            <a:r>
              <a:rPr lang="en-US" dirty="0"/>
              <a:t> saber que </a:t>
            </a:r>
            <a:r>
              <a:rPr lang="en-US" dirty="0" err="1"/>
              <a:t>edad</a:t>
            </a:r>
            <a:r>
              <a:rPr lang="en-US" dirty="0"/>
              <a:t> </a:t>
            </a:r>
            <a:r>
              <a:rPr lang="en-US" dirty="0" err="1"/>
              <a:t>sería</a:t>
            </a:r>
            <a:r>
              <a:rPr lang="en-US" dirty="0"/>
              <a:t> la </a:t>
            </a:r>
            <a:r>
              <a:rPr lang="en-US" dirty="0" err="1"/>
              <a:t>óptima</a:t>
            </a:r>
            <a:r>
              <a:rPr lang="en-US" dirty="0"/>
              <a:t> del </a:t>
            </a:r>
            <a:r>
              <a:rPr lang="en-US" dirty="0" err="1"/>
              <a:t>próximo</a:t>
            </a:r>
            <a:r>
              <a:rPr lang="en-US" dirty="0"/>
              <a:t> </a:t>
            </a:r>
            <a:r>
              <a:rPr lang="en-US" dirty="0" err="1"/>
              <a:t>fichaje</a:t>
            </a:r>
            <a:r>
              <a:rPr lang="en-US" dirty="0"/>
              <a:t>. </a:t>
            </a:r>
            <a:r>
              <a:rPr lang="en-US" dirty="0" err="1"/>
              <a:t>Sí</a:t>
            </a:r>
            <a:r>
              <a:rPr lang="en-US" dirty="0"/>
              <a:t> un </a:t>
            </a:r>
            <a:r>
              <a:rPr lang="en-US" dirty="0" err="1"/>
              <a:t>jugador</a:t>
            </a:r>
            <a:r>
              <a:rPr lang="en-US" dirty="0"/>
              <a:t> </a:t>
            </a:r>
            <a:r>
              <a:rPr lang="en-US" dirty="0" err="1"/>
              <a:t>dejó</a:t>
            </a:r>
            <a:r>
              <a:rPr lang="en-US" dirty="0"/>
              <a:t> de ser maduro para pasar a ser </a:t>
            </a:r>
            <a:r>
              <a:rPr lang="en-US" dirty="0" err="1"/>
              <a:t>veterano</a:t>
            </a:r>
            <a:r>
              <a:rPr lang="en-US" dirty="0"/>
              <a:t>, </a:t>
            </a:r>
            <a:r>
              <a:rPr lang="en-US" dirty="0" err="1"/>
              <a:t>tenerlo</a:t>
            </a:r>
            <a:r>
              <a:rPr lang="en-US" dirty="0"/>
              <a:t> </a:t>
            </a:r>
            <a:r>
              <a:rPr lang="en-US" dirty="0" err="1"/>
              <a:t>presente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Adjunto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tabla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desglose</a:t>
            </a:r>
            <a:r>
              <a:rPr lang="en-US" dirty="0"/>
              <a:t> de </a:t>
            </a:r>
            <a:r>
              <a:rPr lang="en-US" dirty="0" err="1"/>
              <a:t>parámetros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52">
            <a:extLst>
              <a:ext uri="{FF2B5EF4-FFF2-40B4-BE49-F238E27FC236}">
                <a16:creationId xmlns:a16="http://schemas.microsoft.com/office/drawing/2014/main" id="{FFCF3251-8EF7-898A-010D-1C8EA7DCD991}"/>
              </a:ext>
            </a:extLst>
          </p:cNvPr>
          <p:cNvSpPr txBox="1"/>
          <p:nvPr/>
        </p:nvSpPr>
        <p:spPr>
          <a:xfrm>
            <a:off x="3798028" y="140128"/>
            <a:ext cx="4012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Plan de </a:t>
            </a:r>
            <a:r>
              <a:rPr lang="en-US" sz="2000" b="1" dirty="0" err="1"/>
              <a:t>sucesión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08823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AEA9991-95B5-FFD6-671E-428D68495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932" y="691714"/>
            <a:ext cx="10515600" cy="4351338"/>
          </a:xfrm>
        </p:spPr>
        <p:txBody>
          <a:bodyPr>
            <a:normAutofit/>
          </a:bodyPr>
          <a:lstStyle/>
          <a:p>
            <a:pPr lvl="0" algn="just"/>
            <a:r>
              <a:rPr lang="es-ES_tradnl" sz="1400" dirty="0">
                <a:solidFill>
                  <a:prstClr val="black"/>
                </a:solidFill>
                <a:ea typeface="Calibri" charset="0"/>
                <a:cs typeface="Calibri" charset="0"/>
              </a:rPr>
              <a:t>Posteriormente se analizó el once titular de cien equipos campeones y exitosos de los últimos seis años alrededor del mundo con el objetivo de encontrar como estaban balanceados y cuál es la edad ideal en cada una de las posiciones. </a:t>
            </a:r>
          </a:p>
          <a:p>
            <a:pPr lvl="0" algn="just"/>
            <a:endParaRPr lang="es-ES_tradnl" sz="1400" dirty="0">
              <a:solidFill>
                <a:prstClr val="black"/>
              </a:solidFill>
              <a:ea typeface="Calibri" charset="0"/>
              <a:cs typeface="Calibri" charset="0"/>
            </a:endParaRPr>
          </a:p>
          <a:p>
            <a:pPr lvl="0" algn="just"/>
            <a:r>
              <a:rPr lang="es-ES_tradnl" sz="1400" dirty="0">
                <a:solidFill>
                  <a:prstClr val="black"/>
                </a:solidFill>
                <a:ea typeface="Calibri" charset="0"/>
                <a:cs typeface="Calibri" charset="0"/>
              </a:rPr>
              <a:t>Se tomaron en cuenta las siguientes ligas: México, Estados Unidos, Brasil, Argentina, Colombia, Chile, Perú, Paraguay, Ecuador, Uruguay, Costa Rica, Alemania, España, Portugal, Francia, Inglaterra, Holanda, Italia, Turquía, Rusia, Ucrania, Bélgica, Suiza, Japón, Corea del Sur, China y Australia, con el objetivo de encontrar como estaban balanceados y cuál es la edad ideal por posición</a:t>
            </a:r>
          </a:p>
          <a:p>
            <a:endParaRPr lang="es-MX" sz="1400" dirty="0"/>
          </a:p>
        </p:txBody>
      </p:sp>
      <p:graphicFrame>
        <p:nvGraphicFramePr>
          <p:cNvPr id="7" name="Gráfico 4">
            <a:extLst>
              <a:ext uri="{FF2B5EF4-FFF2-40B4-BE49-F238E27FC236}">
                <a16:creationId xmlns:a16="http://schemas.microsoft.com/office/drawing/2014/main" id="{521FB661-C7BD-4E97-36A0-056457D703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6364583"/>
              </p:ext>
            </p:extLst>
          </p:nvPr>
        </p:nvGraphicFramePr>
        <p:xfrm>
          <a:off x="3379347" y="2473984"/>
          <a:ext cx="5977595" cy="38391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39953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49D6B676-D063-61D3-9AD4-10E2E780F462}"/>
              </a:ext>
            </a:extLst>
          </p:cNvPr>
          <p:cNvSpPr/>
          <p:nvPr/>
        </p:nvSpPr>
        <p:spPr>
          <a:xfrm>
            <a:off x="194057" y="6360699"/>
            <a:ext cx="6506329" cy="497301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" name="Rectángulo 7"/>
          <p:cNvSpPr/>
          <p:nvPr/>
        </p:nvSpPr>
        <p:spPr>
          <a:xfrm>
            <a:off x="702680" y="6414727"/>
            <a:ext cx="266218" cy="10417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dirty="0"/>
          </a:p>
        </p:txBody>
      </p:sp>
      <p:sp>
        <p:nvSpPr>
          <p:cNvPr id="9" name="Rectángulo 8"/>
          <p:cNvSpPr/>
          <p:nvPr/>
        </p:nvSpPr>
        <p:spPr>
          <a:xfrm>
            <a:off x="702680" y="6571791"/>
            <a:ext cx="266218" cy="104172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600" dirty="0"/>
          </a:p>
        </p:txBody>
      </p:sp>
      <p:sp>
        <p:nvSpPr>
          <p:cNvPr id="10" name="Rectángulo 9"/>
          <p:cNvSpPr/>
          <p:nvPr/>
        </p:nvSpPr>
        <p:spPr>
          <a:xfrm>
            <a:off x="702680" y="6731797"/>
            <a:ext cx="266218" cy="10417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600" dirty="0"/>
          </a:p>
        </p:txBody>
      </p:sp>
      <p:sp>
        <p:nvSpPr>
          <p:cNvPr id="12" name="CuadroTexto 11"/>
          <p:cNvSpPr txBox="1"/>
          <p:nvPr/>
        </p:nvSpPr>
        <p:spPr>
          <a:xfrm>
            <a:off x="994298" y="6368782"/>
            <a:ext cx="2784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00" dirty="0"/>
              <a:t>Vencimiento de contrato de 0-12 meses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994298" y="6523487"/>
            <a:ext cx="23149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00" dirty="0"/>
              <a:t>Vencimiento de contrato entre 1-2 años.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994298" y="6672804"/>
            <a:ext cx="24769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00" dirty="0"/>
              <a:t>Vencimiento de contrato en </a:t>
            </a:r>
            <a:r>
              <a:rPr lang="es-ES" sz="900" dirty="0"/>
              <a:t>más de 2 años</a:t>
            </a:r>
            <a:r>
              <a:rPr lang="es-ES_tradnl" sz="900" dirty="0"/>
              <a:t>.</a:t>
            </a:r>
          </a:p>
        </p:txBody>
      </p:sp>
      <p:sp>
        <p:nvSpPr>
          <p:cNvPr id="80" name="Rectángulo 3">
            <a:extLst>
              <a:ext uri="{FF2B5EF4-FFF2-40B4-BE49-F238E27FC236}">
                <a16:creationId xmlns:a16="http://schemas.microsoft.com/office/drawing/2014/main" id="{787BB8AA-ED7C-344B-A707-B38E1CB8B54A}"/>
              </a:ext>
            </a:extLst>
          </p:cNvPr>
          <p:cNvSpPr/>
          <p:nvPr/>
        </p:nvSpPr>
        <p:spPr>
          <a:xfrm>
            <a:off x="172461" y="703307"/>
            <a:ext cx="821837" cy="1967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 dirty="0">
                <a:solidFill>
                  <a:schemeClr val="bg1"/>
                </a:solidFill>
              </a:rPr>
              <a:t>Portero</a:t>
            </a:r>
          </a:p>
        </p:txBody>
      </p:sp>
      <p:sp>
        <p:nvSpPr>
          <p:cNvPr id="81" name="Rectángulo 10">
            <a:extLst>
              <a:ext uri="{FF2B5EF4-FFF2-40B4-BE49-F238E27FC236}">
                <a16:creationId xmlns:a16="http://schemas.microsoft.com/office/drawing/2014/main" id="{BA6F0847-2995-5848-8942-A87817BCFC7A}"/>
              </a:ext>
            </a:extLst>
          </p:cNvPr>
          <p:cNvSpPr/>
          <p:nvPr/>
        </p:nvSpPr>
        <p:spPr>
          <a:xfrm>
            <a:off x="172461" y="2275227"/>
            <a:ext cx="821837" cy="19672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 dirty="0">
                <a:solidFill>
                  <a:schemeClr val="bg1"/>
                </a:solidFill>
              </a:rPr>
              <a:t>Central D</a:t>
            </a:r>
          </a:p>
        </p:txBody>
      </p:sp>
      <p:sp>
        <p:nvSpPr>
          <p:cNvPr id="82" name="Rectángulo 11">
            <a:extLst>
              <a:ext uri="{FF2B5EF4-FFF2-40B4-BE49-F238E27FC236}">
                <a16:creationId xmlns:a16="http://schemas.microsoft.com/office/drawing/2014/main" id="{FF3A5193-5FEB-2742-BE4D-17D02B14435B}"/>
              </a:ext>
            </a:extLst>
          </p:cNvPr>
          <p:cNvSpPr/>
          <p:nvPr/>
        </p:nvSpPr>
        <p:spPr>
          <a:xfrm>
            <a:off x="172461" y="2672747"/>
            <a:ext cx="821837" cy="1899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 dirty="0">
                <a:solidFill>
                  <a:schemeClr val="bg1"/>
                </a:solidFill>
              </a:rPr>
              <a:t>Central Z</a:t>
            </a:r>
          </a:p>
        </p:txBody>
      </p:sp>
      <p:sp>
        <p:nvSpPr>
          <p:cNvPr id="83" name="Rectángulo 12">
            <a:extLst>
              <a:ext uri="{FF2B5EF4-FFF2-40B4-BE49-F238E27FC236}">
                <a16:creationId xmlns:a16="http://schemas.microsoft.com/office/drawing/2014/main" id="{28C55DB6-37D0-6143-B45B-942C5ED9A5BC}"/>
              </a:ext>
            </a:extLst>
          </p:cNvPr>
          <p:cNvSpPr/>
          <p:nvPr/>
        </p:nvSpPr>
        <p:spPr>
          <a:xfrm>
            <a:off x="172461" y="3255913"/>
            <a:ext cx="821837" cy="28926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 dirty="0">
                <a:solidFill>
                  <a:schemeClr val="bg1"/>
                </a:solidFill>
              </a:rPr>
              <a:t>Contención</a:t>
            </a:r>
          </a:p>
        </p:txBody>
      </p:sp>
      <p:sp>
        <p:nvSpPr>
          <p:cNvPr id="84" name="Rectángulo 13">
            <a:extLst>
              <a:ext uri="{FF2B5EF4-FFF2-40B4-BE49-F238E27FC236}">
                <a16:creationId xmlns:a16="http://schemas.microsoft.com/office/drawing/2014/main" id="{432C414B-E979-ED4D-B429-357F46BA6F12}"/>
              </a:ext>
            </a:extLst>
          </p:cNvPr>
          <p:cNvSpPr/>
          <p:nvPr/>
        </p:nvSpPr>
        <p:spPr>
          <a:xfrm>
            <a:off x="172461" y="4796630"/>
            <a:ext cx="821837" cy="17932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 dirty="0">
                <a:solidFill>
                  <a:schemeClr val="bg1"/>
                </a:solidFill>
              </a:rPr>
              <a:t>Extremo D</a:t>
            </a:r>
          </a:p>
        </p:txBody>
      </p:sp>
      <p:sp>
        <p:nvSpPr>
          <p:cNvPr id="86" name="Rectángulo 15">
            <a:extLst>
              <a:ext uri="{FF2B5EF4-FFF2-40B4-BE49-F238E27FC236}">
                <a16:creationId xmlns:a16="http://schemas.microsoft.com/office/drawing/2014/main" id="{55098322-5779-7548-A9AB-ECB546912B4A}"/>
              </a:ext>
            </a:extLst>
          </p:cNvPr>
          <p:cNvSpPr/>
          <p:nvPr/>
        </p:nvSpPr>
        <p:spPr>
          <a:xfrm>
            <a:off x="172461" y="1343654"/>
            <a:ext cx="821837" cy="17300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 dirty="0">
                <a:solidFill>
                  <a:schemeClr val="bg1"/>
                </a:solidFill>
              </a:rPr>
              <a:t>Lateral D</a:t>
            </a:r>
          </a:p>
        </p:txBody>
      </p:sp>
      <p:sp>
        <p:nvSpPr>
          <p:cNvPr id="88" name="Rectángulo 17">
            <a:extLst>
              <a:ext uri="{FF2B5EF4-FFF2-40B4-BE49-F238E27FC236}">
                <a16:creationId xmlns:a16="http://schemas.microsoft.com/office/drawing/2014/main" id="{27CE0FE8-B4A4-4E4F-A23C-5755701FEDB5}"/>
              </a:ext>
            </a:extLst>
          </p:cNvPr>
          <p:cNvSpPr/>
          <p:nvPr/>
        </p:nvSpPr>
        <p:spPr>
          <a:xfrm>
            <a:off x="172461" y="3986845"/>
            <a:ext cx="821837" cy="29622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 dirty="0">
                <a:solidFill>
                  <a:schemeClr val="bg1"/>
                </a:solidFill>
              </a:rPr>
              <a:t>Interior</a:t>
            </a:r>
          </a:p>
        </p:txBody>
      </p:sp>
      <p:sp>
        <p:nvSpPr>
          <p:cNvPr id="89" name="Rectángulo 18">
            <a:extLst>
              <a:ext uri="{FF2B5EF4-FFF2-40B4-BE49-F238E27FC236}">
                <a16:creationId xmlns:a16="http://schemas.microsoft.com/office/drawing/2014/main" id="{081E1736-994F-D942-A3F3-272612B4E9D3}"/>
              </a:ext>
            </a:extLst>
          </p:cNvPr>
          <p:cNvSpPr/>
          <p:nvPr/>
        </p:nvSpPr>
        <p:spPr>
          <a:xfrm>
            <a:off x="172461" y="5679105"/>
            <a:ext cx="821837" cy="1899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 dirty="0">
                <a:solidFill>
                  <a:schemeClr val="bg1"/>
                </a:solidFill>
              </a:rPr>
              <a:t>Delantero </a:t>
            </a:r>
          </a:p>
        </p:txBody>
      </p:sp>
      <p:sp>
        <p:nvSpPr>
          <p:cNvPr id="90" name="Rectángulo 19">
            <a:extLst>
              <a:ext uri="{FF2B5EF4-FFF2-40B4-BE49-F238E27FC236}">
                <a16:creationId xmlns:a16="http://schemas.microsoft.com/office/drawing/2014/main" id="{752CE98B-E3D8-5344-BD1C-4E87A06C68B3}"/>
              </a:ext>
            </a:extLst>
          </p:cNvPr>
          <p:cNvSpPr/>
          <p:nvPr/>
        </p:nvSpPr>
        <p:spPr>
          <a:xfrm>
            <a:off x="194057" y="1736889"/>
            <a:ext cx="821837" cy="1708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 dirty="0">
                <a:solidFill>
                  <a:schemeClr val="bg1"/>
                </a:solidFill>
              </a:rPr>
              <a:t>Lateral Z</a:t>
            </a:r>
          </a:p>
        </p:txBody>
      </p:sp>
      <p:sp>
        <p:nvSpPr>
          <p:cNvPr id="24" name="Rectángulo 13">
            <a:extLst>
              <a:ext uri="{FF2B5EF4-FFF2-40B4-BE49-F238E27FC236}">
                <a16:creationId xmlns:a16="http://schemas.microsoft.com/office/drawing/2014/main" id="{7555D023-9A6F-CC47-9ED9-72D19DD4A8C5}"/>
              </a:ext>
            </a:extLst>
          </p:cNvPr>
          <p:cNvSpPr/>
          <p:nvPr/>
        </p:nvSpPr>
        <p:spPr>
          <a:xfrm>
            <a:off x="156480" y="5100911"/>
            <a:ext cx="821837" cy="17932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 dirty="0">
                <a:solidFill>
                  <a:schemeClr val="bg1"/>
                </a:solidFill>
              </a:rPr>
              <a:t>Extremo Z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B47F0E8-DE22-824A-B382-7C5A7EC4F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667" b="90167" l="10000" r="90000">
                        <a14:foregroundMark x1="48333" y1="18833" x2="48333" y2="18833"/>
                        <a14:foregroundMark x1="42444" y1="11667" x2="49222" y2="3667"/>
                        <a14:foregroundMark x1="49222" y1="3667" x2="53333" y2="11000"/>
                        <a14:foregroundMark x1="22000" y1="90167" x2="22000" y2="901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99298" y="6371369"/>
            <a:ext cx="343151" cy="228767"/>
          </a:xfrm>
          <a:prstGeom prst="rect">
            <a:avLst/>
          </a:prstGeom>
        </p:spPr>
      </p:pic>
      <p:sp>
        <p:nvSpPr>
          <p:cNvPr id="21" name="CuadroTexto 11">
            <a:extLst>
              <a:ext uri="{FF2B5EF4-FFF2-40B4-BE49-F238E27FC236}">
                <a16:creationId xmlns:a16="http://schemas.microsoft.com/office/drawing/2014/main" id="{0B615446-D376-2541-850C-E3DABB3305AB}"/>
              </a:ext>
            </a:extLst>
          </p:cNvPr>
          <p:cNvSpPr txBox="1"/>
          <p:nvPr/>
        </p:nvSpPr>
        <p:spPr>
          <a:xfrm>
            <a:off x="4360257" y="6420597"/>
            <a:ext cx="2784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00" dirty="0"/>
              <a:t>Prestamos.</a:t>
            </a:r>
          </a:p>
        </p:txBody>
      </p:sp>
      <p:sp>
        <p:nvSpPr>
          <p:cNvPr id="29" name="Rectángulo 18">
            <a:extLst>
              <a:ext uri="{FF2B5EF4-FFF2-40B4-BE49-F238E27FC236}">
                <a16:creationId xmlns:a16="http://schemas.microsoft.com/office/drawing/2014/main" id="{CCF2E4BE-8591-404C-9844-439AD43D4BE5}"/>
              </a:ext>
            </a:extLst>
          </p:cNvPr>
          <p:cNvSpPr/>
          <p:nvPr/>
        </p:nvSpPr>
        <p:spPr>
          <a:xfrm>
            <a:off x="172461" y="5984206"/>
            <a:ext cx="896871" cy="1899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050" b="1" dirty="0">
                <a:solidFill>
                  <a:schemeClr val="bg1"/>
                </a:solidFill>
              </a:rPr>
              <a:t>2º Delantero</a:t>
            </a:r>
          </a:p>
        </p:txBody>
      </p:sp>
      <p:sp>
        <p:nvSpPr>
          <p:cNvPr id="23" name="CuadroTexto 11">
            <a:extLst>
              <a:ext uri="{FF2B5EF4-FFF2-40B4-BE49-F238E27FC236}">
                <a16:creationId xmlns:a16="http://schemas.microsoft.com/office/drawing/2014/main" id="{749D0E85-4DA2-6DB8-E60F-BD7C1C7031B5}"/>
              </a:ext>
            </a:extLst>
          </p:cNvPr>
          <p:cNvSpPr txBox="1"/>
          <p:nvPr/>
        </p:nvSpPr>
        <p:spPr>
          <a:xfrm>
            <a:off x="4360257" y="6615562"/>
            <a:ext cx="2784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00" dirty="0"/>
              <a:t>Cantera</a:t>
            </a:r>
          </a:p>
        </p:txBody>
      </p:sp>
      <p:sp>
        <p:nvSpPr>
          <p:cNvPr id="26" name="CuadroTexto 11">
            <a:extLst>
              <a:ext uri="{FF2B5EF4-FFF2-40B4-BE49-F238E27FC236}">
                <a16:creationId xmlns:a16="http://schemas.microsoft.com/office/drawing/2014/main" id="{674CFD12-3342-CEAF-B57D-FE6A7602DACB}"/>
              </a:ext>
            </a:extLst>
          </p:cNvPr>
          <p:cNvSpPr txBox="1"/>
          <p:nvPr/>
        </p:nvSpPr>
        <p:spPr>
          <a:xfrm>
            <a:off x="5608314" y="6416009"/>
            <a:ext cx="729856" cy="228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00" dirty="0"/>
              <a:t>Refuerzos</a:t>
            </a:r>
          </a:p>
        </p:txBody>
      </p:sp>
      <p:sp>
        <p:nvSpPr>
          <p:cNvPr id="27" name="Rayo 26">
            <a:extLst>
              <a:ext uri="{FF2B5EF4-FFF2-40B4-BE49-F238E27FC236}">
                <a16:creationId xmlns:a16="http://schemas.microsoft.com/office/drawing/2014/main" id="{769FCD2E-DB1C-8417-33EC-A61044026CEE}"/>
              </a:ext>
            </a:extLst>
          </p:cNvPr>
          <p:cNvSpPr/>
          <p:nvPr/>
        </p:nvSpPr>
        <p:spPr>
          <a:xfrm>
            <a:off x="5390621" y="6470368"/>
            <a:ext cx="230283" cy="184166"/>
          </a:xfrm>
          <a:prstGeom prst="lightningBol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0" name="Gráfico 29" descr="Dinosaur Egg con relleno sólido">
            <a:extLst>
              <a:ext uri="{FF2B5EF4-FFF2-40B4-BE49-F238E27FC236}">
                <a16:creationId xmlns:a16="http://schemas.microsoft.com/office/drawing/2014/main" id="{FD4240DE-FCD0-BE1C-1F80-2A513A6B02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2974" y="6612140"/>
            <a:ext cx="228865" cy="228865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AB76EA-F21E-801B-A395-687167C693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332" y="23749"/>
            <a:ext cx="11122668" cy="629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921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089430" y="63249"/>
            <a:ext cx="932513" cy="24350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Canterano</a:t>
            </a:r>
          </a:p>
        </p:txBody>
      </p:sp>
      <p:sp>
        <p:nvSpPr>
          <p:cNvPr id="7" name="Rectángulo 6"/>
          <p:cNvSpPr/>
          <p:nvPr/>
        </p:nvSpPr>
        <p:spPr>
          <a:xfrm>
            <a:off x="3816156" y="62025"/>
            <a:ext cx="1086583" cy="21897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En desarrollo</a:t>
            </a:r>
          </a:p>
        </p:txBody>
      </p:sp>
      <p:sp>
        <p:nvSpPr>
          <p:cNvPr id="8" name="Rectángulo 7"/>
          <p:cNvSpPr/>
          <p:nvPr/>
        </p:nvSpPr>
        <p:spPr>
          <a:xfrm>
            <a:off x="7019239" y="62025"/>
            <a:ext cx="950400" cy="219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Maduro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0390841" y="62798"/>
            <a:ext cx="950400" cy="219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Veterano</a:t>
            </a:r>
          </a:p>
        </p:txBody>
      </p:sp>
      <p:cxnSp>
        <p:nvCxnSpPr>
          <p:cNvPr id="41" name="Conector recto 40"/>
          <p:cNvCxnSpPr/>
          <p:nvPr/>
        </p:nvCxnSpPr>
        <p:spPr>
          <a:xfrm>
            <a:off x="2989294" y="9162"/>
            <a:ext cx="0" cy="68580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/>
          <p:cNvCxnSpPr/>
          <p:nvPr/>
        </p:nvCxnSpPr>
        <p:spPr>
          <a:xfrm>
            <a:off x="5749910" y="0"/>
            <a:ext cx="0" cy="68580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/>
          <p:cNvCxnSpPr/>
          <p:nvPr/>
        </p:nvCxnSpPr>
        <p:spPr>
          <a:xfrm>
            <a:off x="9554062" y="0"/>
            <a:ext cx="0" cy="68580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9608013" y="395353"/>
          <a:ext cx="2524712" cy="152400"/>
        </p:xfrm>
        <a:graphic>
          <a:graphicData uri="http://schemas.openxmlformats.org/drawingml/2006/table">
            <a:tbl>
              <a:tblPr/>
              <a:tblGrid>
                <a:gridCol w="631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1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a 9"/>
          <p:cNvGraphicFramePr>
            <a:graphicFrameLocks noGrp="1"/>
          </p:cNvGraphicFramePr>
          <p:nvPr/>
        </p:nvGraphicFramePr>
        <p:xfrm>
          <a:off x="5788853" y="393478"/>
          <a:ext cx="3732894" cy="152400"/>
        </p:xfrm>
        <a:graphic>
          <a:graphicData uri="http://schemas.openxmlformats.org/drawingml/2006/table">
            <a:tbl>
              <a:tblPr/>
              <a:tblGrid>
                <a:gridCol w="622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1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21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21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a 31"/>
          <p:cNvGraphicFramePr>
            <a:graphicFrameLocks noGrp="1"/>
          </p:cNvGraphicFramePr>
          <p:nvPr/>
        </p:nvGraphicFramePr>
        <p:xfrm>
          <a:off x="9608021" y="1111781"/>
          <a:ext cx="2524704" cy="152400"/>
        </p:xfrm>
        <a:graphic>
          <a:graphicData uri="http://schemas.openxmlformats.org/drawingml/2006/table">
            <a:tbl>
              <a:tblPr/>
              <a:tblGrid>
                <a:gridCol w="420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7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07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" name="Tab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322043"/>
              </p:ext>
            </p:extLst>
          </p:nvPr>
        </p:nvGraphicFramePr>
        <p:xfrm>
          <a:off x="9608017" y="3249785"/>
          <a:ext cx="2517768" cy="152400"/>
        </p:xfrm>
        <a:graphic>
          <a:graphicData uri="http://schemas.openxmlformats.org/drawingml/2006/table">
            <a:tbl>
              <a:tblPr/>
              <a:tblGrid>
                <a:gridCol w="419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6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6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Tabla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905659"/>
              </p:ext>
            </p:extLst>
          </p:nvPr>
        </p:nvGraphicFramePr>
        <p:xfrm>
          <a:off x="9574243" y="4847197"/>
          <a:ext cx="2533362" cy="152400"/>
        </p:xfrm>
        <a:graphic>
          <a:graphicData uri="http://schemas.openxmlformats.org/drawingml/2006/table">
            <a:tbl>
              <a:tblPr/>
              <a:tblGrid>
                <a:gridCol w="422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2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22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22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a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028137"/>
              </p:ext>
            </p:extLst>
          </p:nvPr>
        </p:nvGraphicFramePr>
        <p:xfrm>
          <a:off x="9583538" y="2199070"/>
          <a:ext cx="2542248" cy="152400"/>
        </p:xfrm>
        <a:graphic>
          <a:graphicData uri="http://schemas.openxmlformats.org/drawingml/2006/table">
            <a:tbl>
              <a:tblPr/>
              <a:tblGrid>
                <a:gridCol w="423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3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37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Tabla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800780"/>
              </p:ext>
            </p:extLst>
          </p:nvPr>
        </p:nvGraphicFramePr>
        <p:xfrm>
          <a:off x="9595317" y="5845689"/>
          <a:ext cx="2530560" cy="152400"/>
        </p:xfrm>
        <a:graphic>
          <a:graphicData uri="http://schemas.openxmlformats.org/drawingml/2006/table">
            <a:tbl>
              <a:tblPr/>
              <a:tblGrid>
                <a:gridCol w="496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14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6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Tabla 43"/>
          <p:cNvGraphicFramePr>
            <a:graphicFrameLocks noGrp="1"/>
          </p:cNvGraphicFramePr>
          <p:nvPr/>
        </p:nvGraphicFramePr>
        <p:xfrm>
          <a:off x="5801172" y="1120140"/>
          <a:ext cx="3710665" cy="152400"/>
        </p:xfrm>
        <a:graphic>
          <a:graphicData uri="http://schemas.openxmlformats.org/drawingml/2006/table">
            <a:tbl>
              <a:tblPr/>
              <a:tblGrid>
                <a:gridCol w="649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1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069"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Tabla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296902"/>
              </p:ext>
            </p:extLst>
          </p:nvPr>
        </p:nvGraphicFramePr>
        <p:xfrm>
          <a:off x="5789079" y="3256366"/>
          <a:ext cx="3720575" cy="152400"/>
        </p:xfrm>
        <a:graphic>
          <a:graphicData uri="http://schemas.openxmlformats.org/drawingml/2006/table">
            <a:tbl>
              <a:tblPr/>
              <a:tblGrid>
                <a:gridCol w="509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41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Tabla 76"/>
          <p:cNvGraphicFramePr>
            <a:graphicFrameLocks noGrp="1"/>
          </p:cNvGraphicFramePr>
          <p:nvPr/>
        </p:nvGraphicFramePr>
        <p:xfrm>
          <a:off x="3036981" y="397511"/>
          <a:ext cx="2680614" cy="152400"/>
        </p:xfrm>
        <a:graphic>
          <a:graphicData uri="http://schemas.openxmlformats.org/drawingml/2006/table">
            <a:tbl>
              <a:tblPr/>
              <a:tblGrid>
                <a:gridCol w="446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6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6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6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" name="Tabla 77"/>
          <p:cNvGraphicFramePr>
            <a:graphicFrameLocks noGrp="1"/>
          </p:cNvGraphicFramePr>
          <p:nvPr/>
        </p:nvGraphicFramePr>
        <p:xfrm>
          <a:off x="430784" y="397511"/>
          <a:ext cx="2508600" cy="152400"/>
        </p:xfrm>
        <a:graphic>
          <a:graphicData uri="http://schemas.openxmlformats.org/drawingml/2006/table">
            <a:tbl>
              <a:tblPr/>
              <a:tblGrid>
                <a:gridCol w="255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" name="Tabla 78"/>
          <p:cNvGraphicFramePr>
            <a:graphicFrameLocks noGrp="1"/>
          </p:cNvGraphicFramePr>
          <p:nvPr/>
        </p:nvGraphicFramePr>
        <p:xfrm>
          <a:off x="430781" y="1125870"/>
          <a:ext cx="2508600" cy="152400"/>
        </p:xfrm>
        <a:graphic>
          <a:graphicData uri="http://schemas.openxmlformats.org/drawingml/2006/table">
            <a:tbl>
              <a:tblPr/>
              <a:tblGrid>
                <a:gridCol w="305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28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" name="Tabla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285459"/>
              </p:ext>
            </p:extLst>
          </p:nvPr>
        </p:nvGraphicFramePr>
        <p:xfrm>
          <a:off x="430781" y="2205508"/>
          <a:ext cx="2515120" cy="152400"/>
        </p:xfrm>
        <a:graphic>
          <a:graphicData uri="http://schemas.openxmlformats.org/drawingml/2006/table">
            <a:tbl>
              <a:tblPr/>
              <a:tblGrid>
                <a:gridCol w="280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70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441"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1" name="Tabla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162112"/>
              </p:ext>
            </p:extLst>
          </p:nvPr>
        </p:nvGraphicFramePr>
        <p:xfrm>
          <a:off x="430783" y="3256366"/>
          <a:ext cx="2517940" cy="152400"/>
        </p:xfrm>
        <a:graphic>
          <a:graphicData uri="http://schemas.openxmlformats.org/drawingml/2006/table">
            <a:tbl>
              <a:tblPr/>
              <a:tblGrid>
                <a:gridCol w="281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7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16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3" name="Tabla 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407568"/>
              </p:ext>
            </p:extLst>
          </p:nvPr>
        </p:nvGraphicFramePr>
        <p:xfrm>
          <a:off x="424347" y="5843999"/>
          <a:ext cx="2507465" cy="160972"/>
        </p:xfrm>
        <a:graphic>
          <a:graphicData uri="http://schemas.openxmlformats.org/drawingml/2006/table">
            <a:tbl>
              <a:tblPr/>
              <a:tblGrid>
                <a:gridCol w="363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0972"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5" name="Tabla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462199"/>
              </p:ext>
            </p:extLst>
          </p:nvPr>
        </p:nvGraphicFramePr>
        <p:xfrm>
          <a:off x="3036979" y="2207311"/>
          <a:ext cx="2661032" cy="152400"/>
        </p:xfrm>
        <a:graphic>
          <a:graphicData uri="http://schemas.openxmlformats.org/drawingml/2006/table">
            <a:tbl>
              <a:tblPr/>
              <a:tblGrid>
                <a:gridCol w="468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7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4" name="Tabla 93"/>
          <p:cNvGraphicFramePr>
            <a:graphicFrameLocks noGrp="1"/>
          </p:cNvGraphicFramePr>
          <p:nvPr/>
        </p:nvGraphicFramePr>
        <p:xfrm>
          <a:off x="3036979" y="1119293"/>
          <a:ext cx="2665476" cy="152400"/>
        </p:xfrm>
        <a:graphic>
          <a:graphicData uri="http://schemas.openxmlformats.org/drawingml/2006/table">
            <a:tbl>
              <a:tblPr/>
              <a:tblGrid>
                <a:gridCol w="888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5" name="Tabla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908121"/>
              </p:ext>
            </p:extLst>
          </p:nvPr>
        </p:nvGraphicFramePr>
        <p:xfrm>
          <a:off x="5788851" y="2199070"/>
          <a:ext cx="3722987" cy="152400"/>
        </p:xfrm>
        <a:graphic>
          <a:graphicData uri="http://schemas.openxmlformats.org/drawingml/2006/table">
            <a:tbl>
              <a:tblPr/>
              <a:tblGrid>
                <a:gridCol w="728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9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7" name="Tabla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855118"/>
              </p:ext>
            </p:extLst>
          </p:nvPr>
        </p:nvGraphicFramePr>
        <p:xfrm>
          <a:off x="416993" y="4858756"/>
          <a:ext cx="2510845" cy="152400"/>
        </p:xfrm>
        <a:graphic>
          <a:graphicData uri="http://schemas.openxmlformats.org/drawingml/2006/table">
            <a:tbl>
              <a:tblPr/>
              <a:tblGrid>
                <a:gridCol w="272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9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8419"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8" name="Tabla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623155"/>
              </p:ext>
            </p:extLst>
          </p:nvPr>
        </p:nvGraphicFramePr>
        <p:xfrm>
          <a:off x="5786667" y="5843788"/>
          <a:ext cx="3722987" cy="152400"/>
        </p:xfrm>
        <a:graphic>
          <a:graphicData uri="http://schemas.openxmlformats.org/drawingml/2006/table">
            <a:tbl>
              <a:tblPr/>
              <a:tblGrid>
                <a:gridCol w="598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8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0" name="Tabla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002050"/>
              </p:ext>
            </p:extLst>
          </p:nvPr>
        </p:nvGraphicFramePr>
        <p:xfrm>
          <a:off x="3041895" y="5846833"/>
          <a:ext cx="2661032" cy="152400"/>
        </p:xfrm>
        <a:graphic>
          <a:graphicData uri="http://schemas.openxmlformats.org/drawingml/2006/table">
            <a:tbl>
              <a:tblPr/>
              <a:tblGrid>
                <a:gridCol w="463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5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6" name="Tabla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288851"/>
              </p:ext>
            </p:extLst>
          </p:nvPr>
        </p:nvGraphicFramePr>
        <p:xfrm>
          <a:off x="3033020" y="3256405"/>
          <a:ext cx="2665476" cy="152400"/>
        </p:xfrm>
        <a:graphic>
          <a:graphicData uri="http://schemas.openxmlformats.org/drawingml/2006/table">
            <a:tbl>
              <a:tblPr/>
              <a:tblGrid>
                <a:gridCol w="529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6" name="Tabla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77227"/>
              </p:ext>
            </p:extLst>
          </p:nvPr>
        </p:nvGraphicFramePr>
        <p:xfrm>
          <a:off x="2996173" y="4861206"/>
          <a:ext cx="2665476" cy="152400"/>
        </p:xfrm>
        <a:graphic>
          <a:graphicData uri="http://schemas.openxmlformats.org/drawingml/2006/table">
            <a:tbl>
              <a:tblPr/>
              <a:tblGrid>
                <a:gridCol w="709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9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7" name="Tabla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575877"/>
              </p:ext>
            </p:extLst>
          </p:nvPr>
        </p:nvGraphicFramePr>
        <p:xfrm>
          <a:off x="5776721" y="4851200"/>
          <a:ext cx="3711255" cy="152400"/>
        </p:xfrm>
        <a:graphic>
          <a:graphicData uri="http://schemas.openxmlformats.org/drawingml/2006/table">
            <a:tbl>
              <a:tblPr/>
              <a:tblGrid>
                <a:gridCol w="578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2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2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2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" name="Rectángulo 20">
            <a:extLst>
              <a:ext uri="{FF2B5EF4-FFF2-40B4-BE49-F238E27FC236}">
                <a16:creationId xmlns:a16="http://schemas.microsoft.com/office/drawing/2014/main" id="{05E822F5-3E4F-0540-840A-408D1369B75C}"/>
              </a:ext>
            </a:extLst>
          </p:cNvPr>
          <p:cNvSpPr/>
          <p:nvPr/>
        </p:nvSpPr>
        <p:spPr>
          <a:xfrm>
            <a:off x="4800977" y="578117"/>
            <a:ext cx="1722638" cy="24342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(26) Antonio Sánchez (XXX)</a:t>
            </a:r>
          </a:p>
        </p:txBody>
      </p:sp>
      <p:sp>
        <p:nvSpPr>
          <p:cNvPr id="86" name="Rectángulo 20">
            <a:extLst>
              <a:ext uri="{FF2B5EF4-FFF2-40B4-BE49-F238E27FC236}">
                <a16:creationId xmlns:a16="http://schemas.microsoft.com/office/drawing/2014/main" id="{F2814E58-08B7-94B8-491B-95320C7E6119}"/>
              </a:ext>
            </a:extLst>
          </p:cNvPr>
          <p:cNvSpPr/>
          <p:nvPr/>
        </p:nvSpPr>
        <p:spPr>
          <a:xfrm>
            <a:off x="3900508" y="857813"/>
            <a:ext cx="1722637" cy="19886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(25) César Ramos (XXX)</a:t>
            </a:r>
          </a:p>
        </p:txBody>
      </p:sp>
      <p:sp>
        <p:nvSpPr>
          <p:cNvPr id="89" name="Rectángulo 20">
            <a:extLst>
              <a:ext uri="{FF2B5EF4-FFF2-40B4-BE49-F238E27FC236}">
                <a16:creationId xmlns:a16="http://schemas.microsoft.com/office/drawing/2014/main" id="{94E1E606-3D58-64A2-0ADB-26185459C7B4}"/>
              </a:ext>
            </a:extLst>
          </p:cNvPr>
          <p:cNvSpPr/>
          <p:nvPr/>
        </p:nvSpPr>
        <p:spPr>
          <a:xfrm>
            <a:off x="10583468" y="685849"/>
            <a:ext cx="1584925" cy="22474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(37) Camilo Vargas (XXX)</a:t>
            </a:r>
          </a:p>
        </p:txBody>
      </p:sp>
      <p:sp>
        <p:nvSpPr>
          <p:cNvPr id="103" name="Rectángulo 20">
            <a:extLst>
              <a:ext uri="{FF2B5EF4-FFF2-40B4-BE49-F238E27FC236}">
                <a16:creationId xmlns:a16="http://schemas.microsoft.com/office/drawing/2014/main" id="{181A6E35-DECF-1F10-A0FF-0183863F0C0E}"/>
              </a:ext>
            </a:extLst>
          </p:cNvPr>
          <p:cNvSpPr/>
          <p:nvPr/>
        </p:nvSpPr>
        <p:spPr>
          <a:xfrm>
            <a:off x="7291174" y="1830488"/>
            <a:ext cx="1675432" cy="18816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(27) Rivaldo Lozano  (XXX)</a:t>
            </a:r>
          </a:p>
        </p:txBody>
      </p:sp>
      <p:sp>
        <p:nvSpPr>
          <p:cNvPr id="108" name="Rectángulo 20">
            <a:extLst>
              <a:ext uri="{FF2B5EF4-FFF2-40B4-BE49-F238E27FC236}">
                <a16:creationId xmlns:a16="http://schemas.microsoft.com/office/drawing/2014/main" id="{A015FFC6-2F44-3A6B-8BB7-E03AAB597ED0}"/>
              </a:ext>
            </a:extLst>
          </p:cNvPr>
          <p:cNvSpPr/>
          <p:nvPr/>
        </p:nvSpPr>
        <p:spPr>
          <a:xfrm>
            <a:off x="9587181" y="1321862"/>
            <a:ext cx="1754060" cy="22007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(30) Gustavo Ferrareis  (XX)</a:t>
            </a:r>
          </a:p>
        </p:txBody>
      </p:sp>
      <p:sp>
        <p:nvSpPr>
          <p:cNvPr id="110" name="Rectángulo 20">
            <a:extLst>
              <a:ext uri="{FF2B5EF4-FFF2-40B4-BE49-F238E27FC236}">
                <a16:creationId xmlns:a16="http://schemas.microsoft.com/office/drawing/2014/main" id="{F3CD643A-AB7D-2FC9-B57C-6B7BA7702B3B}"/>
              </a:ext>
            </a:extLst>
          </p:cNvPr>
          <p:cNvSpPr/>
          <p:nvPr/>
        </p:nvSpPr>
        <p:spPr>
          <a:xfrm>
            <a:off x="7334334" y="2635502"/>
            <a:ext cx="1649049" cy="21460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(28) Rodrigo Schlegel (XX)</a:t>
            </a:r>
          </a:p>
        </p:txBody>
      </p:sp>
      <p:sp>
        <p:nvSpPr>
          <p:cNvPr id="125" name="Rectángulo 20">
            <a:extLst>
              <a:ext uri="{FF2B5EF4-FFF2-40B4-BE49-F238E27FC236}">
                <a16:creationId xmlns:a16="http://schemas.microsoft.com/office/drawing/2014/main" id="{83467F0D-C648-6D81-4675-3EFF6A6D4D11}"/>
              </a:ext>
            </a:extLst>
          </p:cNvPr>
          <p:cNvSpPr/>
          <p:nvPr/>
        </p:nvSpPr>
        <p:spPr>
          <a:xfrm>
            <a:off x="8352007" y="2403552"/>
            <a:ext cx="1458036" cy="21460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(29) </a:t>
            </a:r>
            <a:r>
              <a:rPr lang="es-ES_tradnl" sz="1000" dirty="0" err="1">
                <a:solidFill>
                  <a:schemeClr val="tx1"/>
                </a:solidFill>
              </a:rPr>
              <a:t>Gaddi</a:t>
            </a:r>
            <a:r>
              <a:rPr lang="es-ES_tradnl" sz="1000" dirty="0">
                <a:solidFill>
                  <a:schemeClr val="tx1"/>
                </a:solidFill>
              </a:rPr>
              <a:t> Aguirre (XXX)</a:t>
            </a:r>
          </a:p>
        </p:txBody>
      </p:sp>
      <p:sp>
        <p:nvSpPr>
          <p:cNvPr id="126" name="Rectángulo 20">
            <a:extLst>
              <a:ext uri="{FF2B5EF4-FFF2-40B4-BE49-F238E27FC236}">
                <a16:creationId xmlns:a16="http://schemas.microsoft.com/office/drawing/2014/main" id="{86ABD6E5-81C1-3257-2EFC-CC327EA52D78}"/>
              </a:ext>
            </a:extLst>
          </p:cNvPr>
          <p:cNvSpPr/>
          <p:nvPr/>
        </p:nvSpPr>
        <p:spPr>
          <a:xfrm>
            <a:off x="4864860" y="1842117"/>
            <a:ext cx="1725548" cy="19807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(24) Jorge Rodríguez (XXX)</a:t>
            </a:r>
          </a:p>
        </p:txBody>
      </p:sp>
      <p:sp>
        <p:nvSpPr>
          <p:cNvPr id="127" name="Rectángulo 20">
            <a:extLst>
              <a:ext uri="{FF2B5EF4-FFF2-40B4-BE49-F238E27FC236}">
                <a16:creationId xmlns:a16="http://schemas.microsoft.com/office/drawing/2014/main" id="{E9B3CAC3-51B6-2625-4458-5C301FAF8803}"/>
              </a:ext>
            </a:extLst>
          </p:cNvPr>
          <p:cNvSpPr/>
          <p:nvPr/>
        </p:nvSpPr>
        <p:spPr>
          <a:xfrm>
            <a:off x="10452410" y="2661318"/>
            <a:ext cx="1480629" cy="26294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(29) Manuel </a:t>
            </a:r>
            <a:r>
              <a:rPr lang="es-ES_tradnl" sz="1000" dirty="0" err="1">
                <a:solidFill>
                  <a:schemeClr val="tx1"/>
                </a:solidFill>
              </a:rPr>
              <a:t>Capasso</a:t>
            </a:r>
            <a:r>
              <a:rPr lang="es-ES_tradnl" sz="1000" dirty="0">
                <a:solidFill>
                  <a:schemeClr val="tx1"/>
                </a:solidFill>
              </a:rPr>
              <a:t> (X)</a:t>
            </a:r>
          </a:p>
        </p:txBody>
      </p:sp>
      <p:sp>
        <p:nvSpPr>
          <p:cNvPr id="131" name="Rectángulo 20">
            <a:extLst>
              <a:ext uri="{FF2B5EF4-FFF2-40B4-BE49-F238E27FC236}">
                <a16:creationId xmlns:a16="http://schemas.microsoft.com/office/drawing/2014/main" id="{B48A0B58-8A68-6BE4-460B-72691995E080}"/>
              </a:ext>
            </a:extLst>
          </p:cNvPr>
          <p:cNvSpPr/>
          <p:nvPr/>
        </p:nvSpPr>
        <p:spPr>
          <a:xfrm>
            <a:off x="6446785" y="1299407"/>
            <a:ext cx="1372152" cy="21703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(26) XXX (XXX)</a:t>
            </a:r>
          </a:p>
        </p:txBody>
      </p:sp>
      <p:sp>
        <p:nvSpPr>
          <p:cNvPr id="132" name="Rectángulo 20">
            <a:extLst>
              <a:ext uri="{FF2B5EF4-FFF2-40B4-BE49-F238E27FC236}">
                <a16:creationId xmlns:a16="http://schemas.microsoft.com/office/drawing/2014/main" id="{BF7FCF50-3782-8F32-BE79-1FC56346EF4A}"/>
              </a:ext>
            </a:extLst>
          </p:cNvPr>
          <p:cNvSpPr/>
          <p:nvPr/>
        </p:nvSpPr>
        <p:spPr>
          <a:xfrm>
            <a:off x="7132861" y="3008434"/>
            <a:ext cx="1669909" cy="20389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(28) </a:t>
            </a:r>
            <a:r>
              <a:rPr lang="es-ES_tradnl" sz="1000" dirty="0" err="1">
                <a:solidFill>
                  <a:schemeClr val="tx1"/>
                </a:solidFill>
              </a:rPr>
              <a:t>Adrían</a:t>
            </a:r>
            <a:r>
              <a:rPr lang="es-ES_tradnl" sz="1000" dirty="0">
                <a:solidFill>
                  <a:schemeClr val="tx1"/>
                </a:solidFill>
              </a:rPr>
              <a:t> Mora (XX)</a:t>
            </a:r>
          </a:p>
        </p:txBody>
      </p:sp>
      <p:sp>
        <p:nvSpPr>
          <p:cNvPr id="134" name="Rectángulo 20">
            <a:extLst>
              <a:ext uri="{FF2B5EF4-FFF2-40B4-BE49-F238E27FC236}">
                <a16:creationId xmlns:a16="http://schemas.microsoft.com/office/drawing/2014/main" id="{63E7A9B7-8759-734E-8228-9DA6F43A899B}"/>
              </a:ext>
            </a:extLst>
          </p:cNvPr>
          <p:cNvSpPr/>
          <p:nvPr/>
        </p:nvSpPr>
        <p:spPr>
          <a:xfrm>
            <a:off x="9857021" y="2395193"/>
            <a:ext cx="1372152" cy="24086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(31) Roberto Pier (XX)</a:t>
            </a:r>
          </a:p>
        </p:txBody>
      </p:sp>
      <p:graphicFrame>
        <p:nvGraphicFramePr>
          <p:cNvPr id="135" name="Tabla 134">
            <a:extLst>
              <a:ext uri="{FF2B5EF4-FFF2-40B4-BE49-F238E27FC236}">
                <a16:creationId xmlns:a16="http://schemas.microsoft.com/office/drawing/2014/main" id="{DCB2372F-1595-676D-85DB-5DF0A50A0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118911"/>
              </p:ext>
            </p:extLst>
          </p:nvPr>
        </p:nvGraphicFramePr>
        <p:xfrm>
          <a:off x="9608013" y="4007067"/>
          <a:ext cx="2517768" cy="152400"/>
        </p:xfrm>
        <a:graphic>
          <a:graphicData uri="http://schemas.openxmlformats.org/drawingml/2006/table">
            <a:tbl>
              <a:tblPr/>
              <a:tblGrid>
                <a:gridCol w="419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6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6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7" name="Tabla 136">
            <a:extLst>
              <a:ext uri="{FF2B5EF4-FFF2-40B4-BE49-F238E27FC236}">
                <a16:creationId xmlns:a16="http://schemas.microsoft.com/office/drawing/2014/main" id="{5F2D4C6A-43C0-5798-5071-6EE7E4B58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993136"/>
              </p:ext>
            </p:extLst>
          </p:nvPr>
        </p:nvGraphicFramePr>
        <p:xfrm>
          <a:off x="430779" y="4013648"/>
          <a:ext cx="2517940" cy="152400"/>
        </p:xfrm>
        <a:graphic>
          <a:graphicData uri="http://schemas.openxmlformats.org/drawingml/2006/table">
            <a:tbl>
              <a:tblPr/>
              <a:tblGrid>
                <a:gridCol w="281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7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16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8" name="Tabla 137">
            <a:extLst>
              <a:ext uri="{FF2B5EF4-FFF2-40B4-BE49-F238E27FC236}">
                <a16:creationId xmlns:a16="http://schemas.microsoft.com/office/drawing/2014/main" id="{949EB612-7A80-8850-88D9-380A606CC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511407"/>
              </p:ext>
            </p:extLst>
          </p:nvPr>
        </p:nvGraphicFramePr>
        <p:xfrm>
          <a:off x="3033016" y="4013687"/>
          <a:ext cx="2665476" cy="152400"/>
        </p:xfrm>
        <a:graphic>
          <a:graphicData uri="http://schemas.openxmlformats.org/drawingml/2006/table">
            <a:tbl>
              <a:tblPr/>
              <a:tblGrid>
                <a:gridCol w="529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9" name="Rectángulo 20">
            <a:extLst>
              <a:ext uri="{FF2B5EF4-FFF2-40B4-BE49-F238E27FC236}">
                <a16:creationId xmlns:a16="http://schemas.microsoft.com/office/drawing/2014/main" id="{A8135C91-1A44-6340-052F-7FACC79A850A}"/>
              </a:ext>
            </a:extLst>
          </p:cNvPr>
          <p:cNvSpPr/>
          <p:nvPr/>
        </p:nvSpPr>
        <p:spPr>
          <a:xfrm>
            <a:off x="3968187" y="3453597"/>
            <a:ext cx="1487995" cy="26734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(23) Paulo </a:t>
            </a:r>
            <a:r>
              <a:rPr lang="es-ES_tradnl" sz="1000" dirty="0" err="1">
                <a:solidFill>
                  <a:schemeClr val="tx1"/>
                </a:solidFill>
              </a:rPr>
              <a:t>Ramirez</a:t>
            </a:r>
            <a:r>
              <a:rPr lang="es-ES_tradnl" sz="1000" dirty="0">
                <a:solidFill>
                  <a:schemeClr val="tx1"/>
                </a:solidFill>
              </a:rPr>
              <a:t> (XXX)</a:t>
            </a:r>
          </a:p>
        </p:txBody>
      </p:sp>
      <p:sp>
        <p:nvSpPr>
          <p:cNvPr id="140" name="Rectángulo 20">
            <a:extLst>
              <a:ext uri="{FF2B5EF4-FFF2-40B4-BE49-F238E27FC236}">
                <a16:creationId xmlns:a16="http://schemas.microsoft.com/office/drawing/2014/main" id="{2EF12976-1D23-4E1B-5D29-1DC8B9D72095}"/>
              </a:ext>
            </a:extLst>
          </p:cNvPr>
          <p:cNvSpPr/>
          <p:nvPr/>
        </p:nvSpPr>
        <p:spPr>
          <a:xfrm>
            <a:off x="4573718" y="4266091"/>
            <a:ext cx="1488244" cy="208981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(24) Abraham Bass (XX)</a:t>
            </a:r>
          </a:p>
        </p:txBody>
      </p:sp>
      <p:sp>
        <p:nvSpPr>
          <p:cNvPr id="141" name="Rectángulo 20">
            <a:extLst>
              <a:ext uri="{FF2B5EF4-FFF2-40B4-BE49-F238E27FC236}">
                <a16:creationId xmlns:a16="http://schemas.microsoft.com/office/drawing/2014/main" id="{94063154-ED13-F222-F817-5B67D7914B96}"/>
              </a:ext>
            </a:extLst>
          </p:cNvPr>
          <p:cNvSpPr/>
          <p:nvPr/>
        </p:nvSpPr>
        <p:spPr>
          <a:xfrm>
            <a:off x="6355383" y="5037855"/>
            <a:ext cx="1372152" cy="374688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(26) Diego González (AP24)</a:t>
            </a:r>
          </a:p>
        </p:txBody>
      </p:sp>
      <p:sp>
        <p:nvSpPr>
          <p:cNvPr id="142" name="Rectángulo 20">
            <a:extLst>
              <a:ext uri="{FF2B5EF4-FFF2-40B4-BE49-F238E27FC236}">
                <a16:creationId xmlns:a16="http://schemas.microsoft.com/office/drawing/2014/main" id="{EBFA90EF-8DF5-1511-5758-FD2EA4C7DE96}"/>
              </a:ext>
            </a:extLst>
          </p:cNvPr>
          <p:cNvSpPr/>
          <p:nvPr/>
        </p:nvSpPr>
        <p:spPr>
          <a:xfrm>
            <a:off x="10812501" y="3483756"/>
            <a:ext cx="1372152" cy="22474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(33) Aldo Rocha (XX)</a:t>
            </a:r>
          </a:p>
        </p:txBody>
      </p:sp>
      <p:sp>
        <p:nvSpPr>
          <p:cNvPr id="146" name="Rectángulo 20">
            <a:extLst>
              <a:ext uri="{FF2B5EF4-FFF2-40B4-BE49-F238E27FC236}">
                <a16:creationId xmlns:a16="http://schemas.microsoft.com/office/drawing/2014/main" id="{514E5470-D9F0-D300-63C9-52AE6DE55270}"/>
              </a:ext>
            </a:extLst>
          </p:cNvPr>
          <p:cNvSpPr/>
          <p:nvPr/>
        </p:nvSpPr>
        <p:spPr>
          <a:xfrm>
            <a:off x="2296451" y="3461524"/>
            <a:ext cx="1490888" cy="19827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(22) </a:t>
            </a:r>
            <a:r>
              <a:rPr lang="es-ES_tradnl" sz="1000" dirty="0" err="1">
                <a:solidFill>
                  <a:schemeClr val="tx1"/>
                </a:solidFill>
              </a:rPr>
              <a:t>Victor</a:t>
            </a:r>
            <a:r>
              <a:rPr lang="es-ES_tradnl" sz="1000" dirty="0">
                <a:solidFill>
                  <a:schemeClr val="tx1"/>
                </a:solidFill>
              </a:rPr>
              <a:t> Ríos (</a:t>
            </a:r>
            <a:r>
              <a:rPr lang="es-ES_tradnl" sz="1000" dirty="0" err="1">
                <a:solidFill>
                  <a:schemeClr val="tx1"/>
                </a:solidFill>
              </a:rPr>
              <a:t>xxxx</a:t>
            </a:r>
            <a:r>
              <a:rPr lang="es-ES_tradnl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8" name="Rectángulo 20">
            <a:extLst>
              <a:ext uri="{FF2B5EF4-FFF2-40B4-BE49-F238E27FC236}">
                <a16:creationId xmlns:a16="http://schemas.microsoft.com/office/drawing/2014/main" id="{794AE60F-2F06-C270-BCDB-8BEE5669567A}"/>
              </a:ext>
            </a:extLst>
          </p:cNvPr>
          <p:cNvSpPr/>
          <p:nvPr/>
        </p:nvSpPr>
        <p:spPr>
          <a:xfrm>
            <a:off x="7628153" y="6335390"/>
            <a:ext cx="1689733" cy="209370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(28) German Rodríguez   (XX)</a:t>
            </a:r>
          </a:p>
        </p:txBody>
      </p:sp>
      <p:sp>
        <p:nvSpPr>
          <p:cNvPr id="149" name="Rectángulo 20">
            <a:extLst>
              <a:ext uri="{FF2B5EF4-FFF2-40B4-BE49-F238E27FC236}">
                <a16:creationId xmlns:a16="http://schemas.microsoft.com/office/drawing/2014/main" id="{4079AE1C-1B44-EB2F-5269-526011857E07}"/>
              </a:ext>
            </a:extLst>
          </p:cNvPr>
          <p:cNvSpPr/>
          <p:nvPr/>
        </p:nvSpPr>
        <p:spPr>
          <a:xfrm>
            <a:off x="8802770" y="3469264"/>
            <a:ext cx="1592340" cy="185600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(29) Edgar </a:t>
            </a:r>
            <a:r>
              <a:rPr lang="es-ES_tradnl" sz="1000" dirty="0" err="1">
                <a:solidFill>
                  <a:schemeClr val="tx1"/>
                </a:solidFill>
              </a:rPr>
              <a:t>Zaldivar</a:t>
            </a:r>
            <a:r>
              <a:rPr lang="es-ES_tradnl" sz="1000" dirty="0">
                <a:solidFill>
                  <a:schemeClr val="tx1"/>
                </a:solidFill>
              </a:rPr>
              <a:t> (XX)</a:t>
            </a:r>
          </a:p>
        </p:txBody>
      </p:sp>
      <p:graphicFrame>
        <p:nvGraphicFramePr>
          <p:cNvPr id="150" name="Tabla 149">
            <a:extLst>
              <a:ext uri="{FF2B5EF4-FFF2-40B4-BE49-F238E27FC236}">
                <a16:creationId xmlns:a16="http://schemas.microsoft.com/office/drawing/2014/main" id="{E719F7D0-8FC0-AC59-127A-9641E143F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108396"/>
              </p:ext>
            </p:extLst>
          </p:nvPr>
        </p:nvGraphicFramePr>
        <p:xfrm>
          <a:off x="5786667" y="4011012"/>
          <a:ext cx="3720575" cy="152400"/>
        </p:xfrm>
        <a:graphic>
          <a:graphicData uri="http://schemas.openxmlformats.org/drawingml/2006/table">
            <a:tbl>
              <a:tblPr/>
              <a:tblGrid>
                <a:gridCol w="509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41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1" name="Rectángulo 20">
            <a:extLst>
              <a:ext uri="{FF2B5EF4-FFF2-40B4-BE49-F238E27FC236}">
                <a16:creationId xmlns:a16="http://schemas.microsoft.com/office/drawing/2014/main" id="{B85FAFE5-78F5-8E04-A047-D00E5F2E9713}"/>
              </a:ext>
            </a:extLst>
          </p:cNvPr>
          <p:cNvSpPr/>
          <p:nvPr/>
        </p:nvSpPr>
        <p:spPr>
          <a:xfrm>
            <a:off x="8333007" y="5106642"/>
            <a:ext cx="1372152" cy="272940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(29) Mateo García (XX)</a:t>
            </a:r>
          </a:p>
        </p:txBody>
      </p:sp>
      <p:sp>
        <p:nvSpPr>
          <p:cNvPr id="152" name="Rectángulo 20">
            <a:extLst>
              <a:ext uri="{FF2B5EF4-FFF2-40B4-BE49-F238E27FC236}">
                <a16:creationId xmlns:a16="http://schemas.microsoft.com/office/drawing/2014/main" id="{F32B7EEF-5A84-7648-3A9A-76C633C40D2A}"/>
              </a:ext>
            </a:extLst>
          </p:cNvPr>
          <p:cNvSpPr/>
          <p:nvPr/>
        </p:nvSpPr>
        <p:spPr>
          <a:xfrm>
            <a:off x="10452409" y="4288055"/>
            <a:ext cx="1655191" cy="246416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(31) Alfonso González (XX)</a:t>
            </a:r>
          </a:p>
        </p:txBody>
      </p:sp>
      <p:sp>
        <p:nvSpPr>
          <p:cNvPr id="154" name="Rectángulo 20">
            <a:extLst>
              <a:ext uri="{FF2B5EF4-FFF2-40B4-BE49-F238E27FC236}">
                <a16:creationId xmlns:a16="http://schemas.microsoft.com/office/drawing/2014/main" id="{047CED57-32E8-45BE-6BCA-CCF31E8C6147}"/>
              </a:ext>
            </a:extLst>
          </p:cNvPr>
          <p:cNvSpPr/>
          <p:nvPr/>
        </p:nvSpPr>
        <p:spPr>
          <a:xfrm>
            <a:off x="6244517" y="6082759"/>
            <a:ext cx="1689733" cy="209370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(27) Eduardo Aguirre (XX)</a:t>
            </a:r>
          </a:p>
        </p:txBody>
      </p:sp>
      <p:sp>
        <p:nvSpPr>
          <p:cNvPr id="2" name="Rectángulo 20">
            <a:extLst>
              <a:ext uri="{FF2B5EF4-FFF2-40B4-BE49-F238E27FC236}">
                <a16:creationId xmlns:a16="http://schemas.microsoft.com/office/drawing/2014/main" id="{11A7A41D-0CCB-D3FA-C1E5-526BAD935E31}"/>
              </a:ext>
            </a:extLst>
          </p:cNvPr>
          <p:cNvSpPr/>
          <p:nvPr/>
        </p:nvSpPr>
        <p:spPr>
          <a:xfrm>
            <a:off x="1111052" y="5532042"/>
            <a:ext cx="1725548" cy="19807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92D050"/>
              </a:buClr>
            </a:pPr>
            <a:r>
              <a:rPr lang="es-ES_tradnl" sz="1000" dirty="0">
                <a:solidFill>
                  <a:schemeClr val="tx1"/>
                </a:solidFill>
              </a:rPr>
              <a:t>(21) Sergio Hernández (XXXX)</a:t>
            </a:r>
          </a:p>
        </p:txBody>
      </p:sp>
    </p:spTree>
    <p:extLst>
      <p:ext uri="{BB962C8B-B14F-4D97-AF65-F5344CB8AC3E}">
        <p14:creationId xmlns:p14="http://schemas.microsoft.com/office/powerpoint/2010/main" val="991672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1FCB2-F850-F72A-2D9E-BF805285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Plantel Apertura 2022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3D1B1AA1-EFDB-E238-BCB9-A882FED035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5888086"/>
              </p:ext>
            </p:extLst>
          </p:nvPr>
        </p:nvGraphicFramePr>
        <p:xfrm>
          <a:off x="7113739" y="1474896"/>
          <a:ext cx="46355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3E1195B-9446-C951-81BF-F048391E00DA}"/>
              </a:ext>
            </a:extLst>
          </p:cNvPr>
          <p:cNvSpPr txBox="1">
            <a:spLocks/>
          </p:cNvSpPr>
          <p:nvPr/>
        </p:nvSpPr>
        <p:spPr>
          <a:xfrm>
            <a:off x="442761" y="2141537"/>
            <a:ext cx="66709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_tradnl" sz="1400" dirty="0">
                <a:solidFill>
                  <a:prstClr val="black"/>
                </a:solidFill>
                <a:ea typeface="Calibri" charset="0"/>
                <a:cs typeface="Calibri" charset="0"/>
              </a:rPr>
              <a:t>6 Jugadores a préstamo</a:t>
            </a:r>
          </a:p>
          <a:p>
            <a:pPr algn="just"/>
            <a:r>
              <a:rPr lang="es-ES_tradnl" sz="1400" dirty="0">
                <a:solidFill>
                  <a:prstClr val="black"/>
                </a:solidFill>
                <a:ea typeface="Calibri" charset="0"/>
                <a:cs typeface="Calibri" charset="0"/>
              </a:rPr>
              <a:t>3 Jugadores de FB</a:t>
            </a:r>
          </a:p>
          <a:p>
            <a:pPr algn="just"/>
            <a:r>
              <a:rPr lang="es-ES_tradnl" sz="1400" dirty="0">
                <a:solidFill>
                  <a:prstClr val="black"/>
                </a:solidFill>
                <a:ea typeface="Calibri" charset="0"/>
                <a:cs typeface="Calibri" charset="0"/>
              </a:rPr>
              <a:t>4 Refuerzos que se incorporan</a:t>
            </a:r>
          </a:p>
          <a:p>
            <a:pPr algn="just"/>
            <a:r>
              <a:rPr lang="es-ES_tradnl" sz="1400" dirty="0">
                <a:solidFill>
                  <a:prstClr val="black"/>
                </a:solidFill>
                <a:ea typeface="Calibri" charset="0"/>
                <a:cs typeface="Calibri" charset="0"/>
              </a:rPr>
              <a:t>8 Jugadores no formados en México</a:t>
            </a:r>
          </a:p>
          <a:p>
            <a:pPr algn="just"/>
            <a:endParaRPr lang="es-ES_tradnl" sz="1400" dirty="0">
              <a:solidFill>
                <a:prstClr val="black"/>
              </a:solidFill>
              <a:ea typeface="Calibri" charset="0"/>
              <a:cs typeface="Calibri" charset="0"/>
            </a:endParaRPr>
          </a:p>
          <a:p>
            <a:pPr algn="just"/>
            <a:endParaRPr lang="es-ES_tradnl" sz="1400" dirty="0">
              <a:solidFill>
                <a:prstClr val="black"/>
              </a:solidFill>
              <a:ea typeface="Calibri" charset="0"/>
              <a:cs typeface="Calibri" charset="0"/>
            </a:endParaRPr>
          </a:p>
          <a:p>
            <a:pPr marL="0" indent="0" algn="just">
              <a:buNone/>
            </a:pPr>
            <a:r>
              <a:rPr lang="es-ES_tradnl" sz="1400" dirty="0">
                <a:solidFill>
                  <a:prstClr val="black"/>
                </a:solidFill>
                <a:ea typeface="Calibri" charset="0"/>
                <a:cs typeface="Calibri" charset="0"/>
              </a:rPr>
              <a:t>Notas:</a:t>
            </a:r>
          </a:p>
          <a:p>
            <a:pPr marL="0" indent="0" algn="just">
              <a:buNone/>
            </a:pPr>
            <a:r>
              <a:rPr lang="es-ES_tradnl" sz="1400" dirty="0">
                <a:solidFill>
                  <a:prstClr val="black"/>
                </a:solidFill>
                <a:ea typeface="Calibri" charset="0"/>
                <a:cs typeface="Calibri" charset="0"/>
              </a:rPr>
              <a:t>Vidrio con extensión de contrato por un año si participa en 75% de partidos CL22-AP22</a:t>
            </a:r>
          </a:p>
          <a:p>
            <a:pPr marL="0" indent="0" algn="just">
              <a:buNone/>
            </a:pPr>
            <a:r>
              <a:rPr lang="es-ES_tradnl" sz="1400" dirty="0">
                <a:solidFill>
                  <a:prstClr val="black"/>
                </a:solidFill>
                <a:ea typeface="Calibri" charset="0"/>
                <a:cs typeface="Calibri" charset="0"/>
              </a:rPr>
              <a:t>Alanís con extensión de contrato por un año si participa en 70% de partidos AP22-CL23</a:t>
            </a:r>
          </a:p>
          <a:p>
            <a:pPr marL="0" indent="0" algn="just">
              <a:buNone/>
            </a:pPr>
            <a:r>
              <a:rPr lang="es-ES_tradnl" sz="1400" dirty="0">
                <a:solidFill>
                  <a:prstClr val="black"/>
                </a:solidFill>
                <a:ea typeface="Calibri" charset="0"/>
                <a:cs typeface="Calibri" charset="0"/>
              </a:rPr>
              <a:t>Vence préstamo de Benedetti al finalizar torneo, se tiene opción de compra</a:t>
            </a:r>
          </a:p>
          <a:p>
            <a:pPr marL="0" indent="0" algn="just">
              <a:buNone/>
            </a:pPr>
            <a:r>
              <a:rPr lang="es-ES_tradnl" sz="1400" dirty="0">
                <a:solidFill>
                  <a:prstClr val="black"/>
                </a:solidFill>
                <a:ea typeface="Calibri" charset="0"/>
                <a:cs typeface="Calibri" charset="0"/>
              </a:rPr>
              <a:t>Derecho de primera opción en el caso de Marco Fabian y Nogueira</a:t>
            </a:r>
          </a:p>
        </p:txBody>
      </p:sp>
    </p:spTree>
    <p:extLst>
      <p:ext uri="{BB962C8B-B14F-4D97-AF65-F5344CB8AC3E}">
        <p14:creationId xmlns:p14="http://schemas.microsoft.com/office/powerpoint/2010/main" val="3666892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82877</TotalTime>
  <Words>764</Words>
  <Application>Microsoft Macintosh PowerPoint</Application>
  <PresentationFormat>Widescreen</PresentationFormat>
  <Paragraphs>214</Paragraphs>
  <Slides>5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Plantel Apertura 2022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Luis Fernando Espejo</cp:lastModifiedBy>
  <cp:revision>339</cp:revision>
  <cp:lastPrinted>2021-02-10T18:41:10Z</cp:lastPrinted>
  <dcterms:created xsi:type="dcterms:W3CDTF">2017-06-27T03:08:22Z</dcterms:created>
  <dcterms:modified xsi:type="dcterms:W3CDTF">2026-03-27T13:57:27Z</dcterms:modified>
</cp:coreProperties>
</file>